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9" r:id="rId1"/>
  </p:sldMasterIdLst>
  <p:notesMasterIdLst>
    <p:notesMasterId r:id="rId34"/>
  </p:notesMasterIdLst>
  <p:sldIdLst>
    <p:sldId id="256" r:id="rId2"/>
    <p:sldId id="257" r:id="rId3"/>
    <p:sldId id="258" r:id="rId4"/>
    <p:sldId id="259" r:id="rId5"/>
    <p:sldId id="260" r:id="rId6"/>
    <p:sldId id="261" r:id="rId7"/>
    <p:sldId id="264" r:id="rId8"/>
    <p:sldId id="265" r:id="rId9"/>
    <p:sldId id="267" r:id="rId10"/>
    <p:sldId id="278" r:id="rId11"/>
    <p:sldId id="268" r:id="rId12"/>
    <p:sldId id="269" r:id="rId13"/>
    <p:sldId id="270" r:id="rId14"/>
    <p:sldId id="280" r:id="rId15"/>
    <p:sldId id="281" r:id="rId16"/>
    <p:sldId id="282" r:id="rId17"/>
    <p:sldId id="283" r:id="rId18"/>
    <p:sldId id="271" r:id="rId19"/>
    <p:sldId id="272" r:id="rId20"/>
    <p:sldId id="273" r:id="rId21"/>
    <p:sldId id="274" r:id="rId22"/>
    <p:sldId id="275" r:id="rId23"/>
    <p:sldId id="276" r:id="rId24"/>
    <p:sldId id="277" r:id="rId25"/>
    <p:sldId id="279" r:id="rId26"/>
    <p:sldId id="284" r:id="rId27"/>
    <p:sldId id="285" r:id="rId28"/>
    <p:sldId id="286" r:id="rId29"/>
    <p:sldId id="287" r:id="rId30"/>
    <p:sldId id="288" r:id="rId31"/>
    <p:sldId id="289" r:id="rId32"/>
    <p:sldId id="290" r:id="rId33"/>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3" d="100"/>
          <a:sy n="83" d="100"/>
        </p:scale>
        <p:origin x="61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52016" y="0"/>
            <a:ext cx="2945659" cy="498056"/>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74" y="0"/>
            <a:ext cx="2945659" cy="498056"/>
          </a:xfrm>
          <a:prstGeom prst="rect">
            <a:avLst/>
          </a:prstGeom>
        </p:spPr>
        <p:txBody>
          <a:bodyPr vert="horz" lIns="91440" tIns="45720" rIns="91440" bIns="45720" rtlCol="1"/>
          <a:lstStyle>
            <a:lvl1pPr algn="l">
              <a:defRPr sz="1200"/>
            </a:lvl1pPr>
          </a:lstStyle>
          <a:p>
            <a:fld id="{13137DDA-D0C4-44FF-809F-65B31DE9C329}" type="datetimeFigureOut">
              <a:rPr lang="he-IL" smtClean="0"/>
              <a:t>ב'/טבת/תשפ"ו</a:t>
            </a:fld>
            <a:endParaRPr lang="he-IL"/>
          </a:p>
        </p:txBody>
      </p:sp>
      <p:sp>
        <p:nvSpPr>
          <p:cNvPr id="4" name="מציין מיקום של תמונת שקופית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79768" y="4777194"/>
            <a:ext cx="5438140" cy="3908614"/>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52016" y="9428584"/>
            <a:ext cx="2945659" cy="498055"/>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74" y="9428584"/>
            <a:ext cx="2945659" cy="498055"/>
          </a:xfrm>
          <a:prstGeom prst="rect">
            <a:avLst/>
          </a:prstGeom>
        </p:spPr>
        <p:txBody>
          <a:bodyPr vert="horz" lIns="91440" tIns="45720" rIns="91440" bIns="45720" rtlCol="1" anchor="b"/>
          <a:lstStyle>
            <a:lvl1pPr algn="l">
              <a:defRPr sz="1200"/>
            </a:lvl1pPr>
          </a:lstStyle>
          <a:p>
            <a:fld id="{B770E581-CFAE-4652-A252-2095D5BEC2BA}" type="slidenum">
              <a:rPr lang="he-IL" smtClean="0"/>
              <a:t>‹#›</a:t>
            </a:fld>
            <a:endParaRPr lang="he-IL"/>
          </a:p>
        </p:txBody>
      </p:sp>
    </p:spTree>
    <p:extLst>
      <p:ext uri="{BB962C8B-B14F-4D97-AF65-F5344CB8AC3E}">
        <p14:creationId xmlns:p14="http://schemas.microsoft.com/office/powerpoint/2010/main" val="252295116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6FD607BF-A6E4-438C-A8CC-77D96F4EF578}" type="datetime1">
              <a:rPr lang="en-US" smtClean="0"/>
              <a:t>12/22/2025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a:t>©n.c. 0527129330</a:t>
            </a:r>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07645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FD761F2B-85CB-48FE-9725-E41ADADE7323}" type="datetime1">
              <a:rPr lang="en-US" smtClean="0"/>
              <a:t>12/22/2025</a:t>
            </a:fld>
            <a:endParaRPr lang="en-US" dirty="0"/>
          </a:p>
        </p:txBody>
      </p:sp>
      <p:sp>
        <p:nvSpPr>
          <p:cNvPr id="5" name="Footer Placeholder 4"/>
          <p:cNvSpPr>
            <a:spLocks noGrp="1"/>
          </p:cNvSpPr>
          <p:nvPr>
            <p:ph type="ftr" sz="quarter" idx="11"/>
          </p:nvPr>
        </p:nvSpPr>
        <p:spPr/>
        <p:txBody>
          <a:bodyPr/>
          <a:lstStyle/>
          <a:p>
            <a:r>
              <a:rPr lang="en-US"/>
              <a:t>©n.c. 0527129330</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1393125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p:txBody>
          <a:bodyPr/>
          <a:lstStyle/>
          <a:p>
            <a:fld id="{B5394A40-FCA5-49C3-A888-04E3098848FF}" type="datetime1">
              <a:rPr lang="en-US" smtClean="0"/>
              <a:t>12/22/2025</a:t>
            </a:fld>
            <a:endParaRPr lang="en-US" dirty="0"/>
          </a:p>
        </p:txBody>
      </p:sp>
      <p:sp>
        <p:nvSpPr>
          <p:cNvPr id="5" name="Footer Placeholder 4"/>
          <p:cNvSpPr>
            <a:spLocks noGrp="1"/>
          </p:cNvSpPr>
          <p:nvPr>
            <p:ph type="ftr" sz="quarter" idx="11"/>
          </p:nvPr>
        </p:nvSpPr>
        <p:spPr/>
        <p:txBody>
          <a:bodyPr/>
          <a:lstStyle/>
          <a:p>
            <a:r>
              <a:rPr lang="en-US"/>
              <a:t>©n.c. 0527129330</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786550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AE03F090-C065-444B-B24F-8D96B80677E2}" type="datetime1">
              <a:rPr lang="en-US" smtClean="0"/>
              <a:t>12/22/2025</a:t>
            </a:fld>
            <a:endParaRPr lang="en-US" dirty="0"/>
          </a:p>
        </p:txBody>
      </p:sp>
      <p:sp>
        <p:nvSpPr>
          <p:cNvPr id="6" name="Footer Placeholder 5"/>
          <p:cNvSpPr>
            <a:spLocks noGrp="1"/>
          </p:cNvSpPr>
          <p:nvPr>
            <p:ph type="ftr" sz="quarter" idx="11"/>
          </p:nvPr>
        </p:nvSpPr>
        <p:spPr/>
        <p:txBody>
          <a:bodyPr/>
          <a:lstStyle/>
          <a:p>
            <a:r>
              <a:rPr lang="en-US"/>
              <a:t>©n.c. 0527129330</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83334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C7FA6CE9-DD7A-4D2E-BED9-FE746FBDBE6C}" type="datetime1">
              <a:rPr lang="en-US" smtClean="0"/>
              <a:t>12/22/2025</a:t>
            </a:fld>
            <a:endParaRPr lang="en-US" dirty="0"/>
          </a:p>
        </p:txBody>
      </p:sp>
      <p:sp>
        <p:nvSpPr>
          <p:cNvPr id="8" name="Footer Placeholder 7"/>
          <p:cNvSpPr>
            <a:spLocks noGrp="1"/>
          </p:cNvSpPr>
          <p:nvPr>
            <p:ph type="ftr" sz="quarter" idx="11"/>
          </p:nvPr>
        </p:nvSpPr>
        <p:spPr/>
        <p:txBody>
          <a:bodyPr/>
          <a:lstStyle/>
          <a:p>
            <a:r>
              <a:rPr lang="en-US"/>
              <a:t>©n.c. 0527129330</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1006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796A1B50-B036-4BA9-B2C1-F2EBBB38B485}" type="datetime1">
              <a:rPr lang="en-US" smtClean="0"/>
              <a:t>12/22/2025</a:t>
            </a:fld>
            <a:endParaRPr lang="en-US" dirty="0"/>
          </a:p>
        </p:txBody>
      </p:sp>
      <p:sp>
        <p:nvSpPr>
          <p:cNvPr id="4" name="Footer Placeholder 3"/>
          <p:cNvSpPr>
            <a:spLocks noGrp="1"/>
          </p:cNvSpPr>
          <p:nvPr>
            <p:ph type="ftr" sz="quarter" idx="11"/>
          </p:nvPr>
        </p:nvSpPr>
        <p:spPr/>
        <p:txBody>
          <a:bodyPr/>
          <a:lstStyle/>
          <a:p>
            <a:r>
              <a:rPr lang="en-US"/>
              <a:t>©n.c. 0527129330</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840325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96CED0-E1D6-4535-A5C2-C8692DCE560D}" type="datetime1">
              <a:rPr lang="en-US" smtClean="0"/>
              <a:t>12/22/2025</a:t>
            </a:fld>
            <a:endParaRPr lang="en-US" dirty="0"/>
          </a:p>
        </p:txBody>
      </p:sp>
      <p:sp>
        <p:nvSpPr>
          <p:cNvPr id="3" name="Footer Placeholder 2"/>
          <p:cNvSpPr>
            <a:spLocks noGrp="1"/>
          </p:cNvSpPr>
          <p:nvPr>
            <p:ph type="ftr" sz="quarter" idx="11"/>
          </p:nvPr>
        </p:nvSpPr>
        <p:spPr/>
        <p:txBody>
          <a:bodyPr/>
          <a:lstStyle/>
          <a:p>
            <a:r>
              <a:rPr lang="en-US"/>
              <a:t>©n.c. 0527129330</a:t>
            </a:r>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43027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28BC0C81-CE47-4B09-9F93-C7C68C5FB24A}" type="datetime1">
              <a:rPr lang="en-US" smtClean="0"/>
              <a:t>12/22/2025</a:t>
            </a:fld>
            <a:endParaRPr lang="en-US" dirty="0"/>
          </a:p>
        </p:txBody>
      </p:sp>
      <p:sp>
        <p:nvSpPr>
          <p:cNvPr id="6" name="Footer Placeholder 5"/>
          <p:cNvSpPr>
            <a:spLocks noGrp="1"/>
          </p:cNvSpPr>
          <p:nvPr>
            <p:ph type="ftr" sz="quarter" idx="11"/>
          </p:nvPr>
        </p:nvSpPr>
        <p:spPr/>
        <p:txBody>
          <a:bodyPr/>
          <a:lstStyle/>
          <a:p>
            <a:r>
              <a:rPr lang="en-US"/>
              <a:t>©n.c. 0527129330</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22001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he-IL"/>
              <a:t>לחץ על הסמל כדי להוסיף תמונה</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657687D0-A6E5-4A8E-8228-122FFE91C2F1}" type="datetime1">
              <a:rPr lang="en-US" smtClean="0"/>
              <a:t>12/22/2025</a:t>
            </a:fld>
            <a:endParaRPr lang="en-US" dirty="0"/>
          </a:p>
        </p:txBody>
      </p:sp>
      <p:sp>
        <p:nvSpPr>
          <p:cNvPr id="6" name="Footer Placeholder 5"/>
          <p:cNvSpPr>
            <a:spLocks noGrp="1"/>
          </p:cNvSpPr>
          <p:nvPr>
            <p:ph type="ftr" sz="quarter" idx="11"/>
          </p:nvPr>
        </p:nvSpPr>
        <p:spPr/>
        <p:txBody>
          <a:bodyPr/>
          <a:lstStyle/>
          <a:p>
            <a:r>
              <a:rPr lang="en-US"/>
              <a:t>©n.c. 0527129330</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46599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38D70336-1235-4515-8D97-99D4D7161BA8}" type="datetime1">
              <a:rPr lang="en-US" smtClean="0"/>
              <a:t>12/22/2025</a:t>
            </a:fld>
            <a:endParaRPr lang="en-US" dirty="0"/>
          </a:p>
        </p:txBody>
      </p:sp>
      <p:sp>
        <p:nvSpPr>
          <p:cNvPr id="6" name="Footer Placeholder 5"/>
          <p:cNvSpPr>
            <a:spLocks noGrp="1"/>
          </p:cNvSpPr>
          <p:nvPr>
            <p:ph type="ftr" sz="quarter" idx="11"/>
          </p:nvPr>
        </p:nvSpPr>
        <p:spPr/>
        <p:txBody>
          <a:bodyPr/>
          <a:lstStyle/>
          <a:p>
            <a:r>
              <a:rPr lang="en-US"/>
              <a:t>©n.c. 0527129330</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54556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כותרת וכיתוב">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he-IL"/>
              <a:t>לחץ כדי לערוך סגנון כותרת של תבנית בסיס</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4" name="Date Placeholder 3"/>
          <p:cNvSpPr>
            <a:spLocks noGrp="1"/>
          </p:cNvSpPr>
          <p:nvPr>
            <p:ph type="dt" sz="half" idx="10"/>
          </p:nvPr>
        </p:nvSpPr>
        <p:spPr/>
        <p:txBody>
          <a:bodyPr/>
          <a:lstStyle/>
          <a:p>
            <a:fld id="{1DCF8BE1-55F7-42A3-B2E5-CDD90B5CBCCA}" type="datetime1">
              <a:rPr lang="en-US" smtClean="0"/>
              <a:t>12/22/2025</a:t>
            </a:fld>
            <a:endParaRPr lang="en-US" dirty="0"/>
          </a:p>
        </p:txBody>
      </p:sp>
      <p:sp>
        <p:nvSpPr>
          <p:cNvPr id="5" name="Footer Placeholder 4"/>
          <p:cNvSpPr>
            <a:spLocks noGrp="1"/>
          </p:cNvSpPr>
          <p:nvPr>
            <p:ph type="ftr" sz="quarter" idx="11"/>
          </p:nvPr>
        </p:nvSpPr>
        <p:spPr/>
        <p:txBody>
          <a:bodyPr/>
          <a:lstStyle/>
          <a:p>
            <a:r>
              <a:rPr lang="en-US"/>
              <a:t>©n.c. 0527129330</a:t>
            </a:r>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203039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ציטוט עם כיתוב">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he-IL"/>
              <a:t>לחץ כדי לערוך סגנון כותרת של תבנית בסיס</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4" name="Date Placeholder 3"/>
          <p:cNvSpPr>
            <a:spLocks noGrp="1"/>
          </p:cNvSpPr>
          <p:nvPr>
            <p:ph type="dt" sz="half" idx="10"/>
          </p:nvPr>
        </p:nvSpPr>
        <p:spPr/>
        <p:txBody>
          <a:bodyPr/>
          <a:lstStyle/>
          <a:p>
            <a:fld id="{D597114F-885D-4230-B374-DEB33FD6EC87}" type="datetime1">
              <a:rPr lang="en-US" smtClean="0"/>
              <a:t>12/22/2025</a:t>
            </a:fld>
            <a:endParaRPr lang="en-US" dirty="0"/>
          </a:p>
        </p:txBody>
      </p:sp>
      <p:sp>
        <p:nvSpPr>
          <p:cNvPr id="5" name="Footer Placeholder 4"/>
          <p:cNvSpPr>
            <a:spLocks noGrp="1"/>
          </p:cNvSpPr>
          <p:nvPr>
            <p:ph type="ftr" sz="quarter" idx="11"/>
          </p:nvPr>
        </p:nvSpPr>
        <p:spPr/>
        <p:txBody>
          <a:bodyPr/>
          <a:lstStyle/>
          <a:p>
            <a:r>
              <a:rPr lang="en-US"/>
              <a:t>©n.c. 0527129330</a:t>
            </a:r>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433009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כרטיס שם">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p:txBody>
          <a:bodyPr/>
          <a:lstStyle/>
          <a:p>
            <a:fld id="{F556B299-84F4-48FA-9FD7-A0D081407C2F}" type="datetime1">
              <a:rPr lang="en-US" smtClean="0"/>
              <a:t>12/22/2025</a:t>
            </a:fld>
            <a:endParaRPr lang="en-US" dirty="0"/>
          </a:p>
        </p:txBody>
      </p:sp>
      <p:sp>
        <p:nvSpPr>
          <p:cNvPr id="5" name="Footer Placeholder 4"/>
          <p:cNvSpPr>
            <a:spLocks noGrp="1"/>
          </p:cNvSpPr>
          <p:nvPr>
            <p:ph type="ftr" sz="quarter" idx="11"/>
          </p:nvPr>
        </p:nvSpPr>
        <p:spPr/>
        <p:txBody>
          <a:bodyPr/>
          <a:lstStyle/>
          <a:p>
            <a:r>
              <a:rPr lang="en-US"/>
              <a:t>©n.c. 0527129330</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067571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עמודות">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677DBF2-5D01-4CAC-9293-39FCCE1C08D3}" type="datetime1">
              <a:rPr lang="en-US" smtClean="0"/>
              <a:t>12/22/2025</a:t>
            </a:fld>
            <a:endParaRPr lang="en-US" dirty="0"/>
          </a:p>
        </p:txBody>
      </p:sp>
      <p:sp>
        <p:nvSpPr>
          <p:cNvPr id="8" name="Footer Placeholder 7"/>
          <p:cNvSpPr>
            <a:spLocks noGrp="1"/>
          </p:cNvSpPr>
          <p:nvPr>
            <p:ph type="ftr" sz="quarter" idx="11"/>
          </p:nvPr>
        </p:nvSpPr>
        <p:spPr/>
        <p:txBody>
          <a:bodyPr/>
          <a:lstStyle/>
          <a:p>
            <a:r>
              <a:rPr lang="en-US"/>
              <a:t>©n.c. 0527129330</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414899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עמודת 3 תמונות">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81C0F2D-8CAF-4DF6-ABA4-17710202F4E3}" type="datetime1">
              <a:rPr lang="en-US" smtClean="0"/>
              <a:t>12/22/2025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a:t>©n.c. 0527129330</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91610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BF67B47-5BB6-4FE7-B2C9-8BB2C7399FEF}" type="datetime1">
              <a:rPr lang="en-US" smtClean="0"/>
              <a:t>12/22/2025</a:t>
            </a:fld>
            <a:endParaRPr lang="en-US" dirty="0"/>
          </a:p>
        </p:txBody>
      </p:sp>
      <p:sp>
        <p:nvSpPr>
          <p:cNvPr id="5" name="Footer Placeholder 4"/>
          <p:cNvSpPr>
            <a:spLocks noGrp="1"/>
          </p:cNvSpPr>
          <p:nvPr>
            <p:ph type="ftr" sz="quarter" idx="11"/>
          </p:nvPr>
        </p:nvSpPr>
        <p:spPr/>
        <p:txBody>
          <a:bodyPr/>
          <a:lstStyle/>
          <a:p>
            <a:r>
              <a:rPr lang="en-US"/>
              <a:t>©n.c. 0527129330</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23826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כותרת אנכית וטקסט">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3407343-75B3-479E-A2AC-1AE3FCCFC2DF}" type="datetime1">
              <a:rPr lang="en-US" smtClean="0"/>
              <a:t>12/22/2025</a:t>
            </a:fld>
            <a:endParaRPr lang="en-US" dirty="0"/>
          </a:p>
        </p:txBody>
      </p:sp>
      <p:sp>
        <p:nvSpPr>
          <p:cNvPr id="5" name="Footer Placeholder 4"/>
          <p:cNvSpPr>
            <a:spLocks noGrp="1"/>
          </p:cNvSpPr>
          <p:nvPr>
            <p:ph type="ftr" sz="quarter" idx="11"/>
          </p:nvPr>
        </p:nvSpPr>
        <p:spPr/>
        <p:txBody>
          <a:bodyPr/>
          <a:lstStyle/>
          <a:p>
            <a:r>
              <a:rPr lang="en-US"/>
              <a:t>©n.c. 0527129330</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515429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66DEAEEB-D82F-46CB-84DB-BFB9402C639B}" type="datetime1">
              <a:rPr lang="en-US" smtClean="0"/>
              <a:t>12/22/2025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©n.c. 0527129330</a:t>
            </a:r>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4704095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Lst>
  <p:hf hdr="0" dt="0"/>
  <p:txStyles>
    <p:titleStyle>
      <a:lvl1pPr algn="l" defTabSz="457200" rtl="1" eaLnBrk="1" latinLnBrk="0" hangingPunct="1">
        <a:spcBef>
          <a:spcPct val="0"/>
        </a:spcBef>
        <a:buNone/>
        <a:defRPr sz="3600" b="0" i="0" kern="1200">
          <a:solidFill>
            <a:schemeClr val="bg2"/>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r" defTabSz="457200" rtl="1"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r" defTabSz="457200" rtl="1"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r" defTabSz="457200" rtl="1"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r" defTabSz="457200" rtl="1"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r" defTabSz="457200" rtl="1"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r" defTabSz="457200" rtl="1"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r" defTabSz="457200" rtl="1"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r" defTabSz="457200" rtl="1"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p:txBody>
          <a:bodyPr/>
          <a:lstStyle/>
          <a:p>
            <a:r>
              <a:rPr lang="en-US" dirty="0"/>
              <a:t>JAVA SCRIPT</a:t>
            </a:r>
            <a:endParaRPr lang="he-IL" dirty="0"/>
          </a:p>
        </p:txBody>
      </p:sp>
      <p:sp>
        <p:nvSpPr>
          <p:cNvPr id="3" name="מציין מיקום של כותרת תחתונה 2"/>
          <p:cNvSpPr>
            <a:spLocks noGrp="1"/>
          </p:cNvSpPr>
          <p:nvPr>
            <p:ph type="ftr" sz="quarter" idx="11"/>
          </p:nvPr>
        </p:nvSpPr>
        <p:spPr/>
        <p:txBody>
          <a:bodyPr/>
          <a:lstStyle/>
          <a:p>
            <a:r>
              <a:rPr lang="en-US"/>
              <a:t>©n.c. 0527129330</a:t>
            </a:r>
            <a:endParaRPr lang="en-US" dirty="0"/>
          </a:p>
        </p:txBody>
      </p:sp>
      <p:sp>
        <p:nvSpPr>
          <p:cNvPr id="4" name="מציין מיקום של מספר שקופית 3">
            <a:extLst>
              <a:ext uri="{FF2B5EF4-FFF2-40B4-BE49-F238E27FC236}">
                <a16:creationId xmlns:a16="http://schemas.microsoft.com/office/drawing/2014/main" id="{3D5958CA-C47B-4C62-BFD7-CEBC47B45FEB}"/>
              </a:ext>
            </a:extLst>
          </p:cNvPr>
          <p:cNvSpPr>
            <a:spLocks noGrp="1"/>
          </p:cNvSpPr>
          <p:nvPr>
            <p:ph type="sldNum" sz="quarter" idx="12"/>
          </p:nvPr>
        </p:nvSpPr>
        <p:spPr/>
        <p:txBody>
          <a:bodyPr/>
          <a:lstStyle/>
          <a:p>
            <a:fld id="{4FAB73BC-B049-4115-A692-8D63A059BFB8}" type="slidenum">
              <a:rPr lang="en-US" smtClean="0"/>
              <a:t>1</a:t>
            </a:fld>
            <a:endParaRPr lang="en-US" dirty="0"/>
          </a:p>
        </p:txBody>
      </p:sp>
    </p:spTree>
    <p:extLst>
      <p:ext uri="{BB962C8B-B14F-4D97-AF65-F5344CB8AC3E}">
        <p14:creationId xmlns:p14="http://schemas.microsoft.com/office/powerpoint/2010/main" val="2993208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הקדמה</a:t>
            </a:r>
          </a:p>
        </p:txBody>
      </p:sp>
      <p:sp>
        <p:nvSpPr>
          <p:cNvPr id="3" name="מציין מיקום תוכן 2"/>
          <p:cNvSpPr>
            <a:spLocks noGrp="1"/>
          </p:cNvSpPr>
          <p:nvPr>
            <p:ph idx="1"/>
          </p:nvPr>
        </p:nvSpPr>
        <p:spPr/>
        <p:txBody>
          <a:bodyPr/>
          <a:lstStyle/>
          <a:p>
            <a:r>
              <a:rPr lang="he-IL" dirty="0"/>
              <a:t>לאחר הכרות עם שפת </a:t>
            </a:r>
            <a:r>
              <a:rPr lang="en-US" dirty="0"/>
              <a:t>HTML</a:t>
            </a:r>
            <a:r>
              <a:rPr lang="he-IL" dirty="0"/>
              <a:t> – שפה לכתיבת התצוגה, ושפת </a:t>
            </a:r>
            <a:r>
              <a:rPr lang="en-US" dirty="0"/>
              <a:t>CSS </a:t>
            </a:r>
            <a:r>
              <a:rPr lang="he-IL" dirty="0"/>
              <a:t> - עיצוב, ניגש ללמוד ולהכיר את שפת </a:t>
            </a:r>
            <a:r>
              <a:rPr lang="en-US" dirty="0"/>
              <a:t>JS</a:t>
            </a:r>
            <a:r>
              <a:rPr lang="he-IL" dirty="0"/>
              <a:t>.</a:t>
            </a:r>
          </a:p>
          <a:p>
            <a:r>
              <a:rPr lang="en-US" dirty="0"/>
              <a:t>JS</a:t>
            </a:r>
            <a:r>
              <a:rPr lang="he-IL" dirty="0"/>
              <a:t>  זו </a:t>
            </a:r>
            <a:r>
              <a:rPr lang="he-IL" dirty="0" smtClean="0"/>
              <a:t>שפה המאפשרת </a:t>
            </a:r>
            <a:r>
              <a:rPr lang="he-IL" dirty="0"/>
              <a:t>ליצור פעילות דינאמית בדפי האינטרנט והיא רצה ע"י דפדפן ב</a:t>
            </a:r>
            <a:r>
              <a:rPr lang="en-US" dirty="0"/>
              <a:t>client side</a:t>
            </a:r>
            <a:r>
              <a:rPr lang="he-IL" dirty="0"/>
              <a:t>. אפשר לומר שבכל פעם שרואים דף אינטרנט שמציג משהו מעבר למידע סטטי – קבוע, משולב בו קוד </a:t>
            </a:r>
            <a:r>
              <a:rPr lang="en-US" dirty="0"/>
              <a:t>JS</a:t>
            </a:r>
            <a:r>
              <a:rPr lang="he-IL" dirty="0"/>
              <a:t>.</a:t>
            </a:r>
          </a:p>
          <a:p>
            <a:r>
              <a:rPr lang="he-IL" dirty="0"/>
              <a:t>שפה זו היא השפה </a:t>
            </a:r>
            <a:r>
              <a:rPr lang="he-IL" dirty="0" err="1"/>
              <a:t>הפופלארית</a:t>
            </a:r>
            <a:r>
              <a:rPr lang="he-IL" dirty="0"/>
              <a:t> ביותר בשוק שפות התכנות והיא מתפתחת בצעדי ענק לכל מיני ספריות וכיוונים.       </a:t>
            </a:r>
            <a:endParaRPr lang="en-US" dirty="0"/>
          </a:p>
          <a:p>
            <a:r>
              <a:rPr lang="he-IL" dirty="0"/>
              <a:t>השפה </a:t>
            </a:r>
            <a:r>
              <a:rPr lang="en-US" dirty="0"/>
              <a:t>Netscape</a:t>
            </a:r>
            <a:r>
              <a:rPr lang="he-IL" dirty="0"/>
              <a:t> ולכן כמעט כל סוגי הדפדפנים מסוגלים להריצה (אך בכל דפדפן תמצאו שינויים קלים בפקודות השפה). </a:t>
            </a:r>
          </a:p>
          <a:p>
            <a:endParaRPr lang="he-IL"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E3DA9851-0E29-4ADF-876D-6E9DF0A9E122}"/>
              </a:ext>
            </a:extLst>
          </p:cNvPr>
          <p:cNvSpPr>
            <a:spLocks noGrp="1"/>
          </p:cNvSpPr>
          <p:nvPr>
            <p:ph type="sldNum" sz="quarter" idx="12"/>
          </p:nvPr>
        </p:nvSpPr>
        <p:spPr/>
        <p:txBody>
          <a:bodyPr/>
          <a:lstStyle/>
          <a:p>
            <a:fld id="{6113E31D-E2AB-40D1-8B51-AFA5AFEF393A}" type="slidenum">
              <a:rPr lang="en-US" smtClean="0"/>
              <a:t>2</a:t>
            </a:fld>
            <a:endParaRPr lang="en-US" dirty="0"/>
          </a:p>
        </p:txBody>
      </p:sp>
    </p:spTree>
    <p:extLst>
      <p:ext uri="{BB962C8B-B14F-4D97-AF65-F5344CB8AC3E}">
        <p14:creationId xmlns:p14="http://schemas.microsoft.com/office/powerpoint/2010/main" val="1076044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שילוב </a:t>
            </a:r>
            <a:r>
              <a:rPr lang="en-US" dirty="0"/>
              <a:t>JS</a:t>
            </a:r>
            <a:r>
              <a:rPr lang="he-IL" dirty="0"/>
              <a:t> בדף ה</a:t>
            </a:r>
            <a:r>
              <a:rPr lang="en-US" dirty="0"/>
              <a:t>HTML</a:t>
            </a:r>
            <a:endParaRPr lang="he-IL" dirty="0"/>
          </a:p>
        </p:txBody>
      </p:sp>
      <p:sp>
        <p:nvSpPr>
          <p:cNvPr id="3" name="מציין מיקום תוכן 2"/>
          <p:cNvSpPr>
            <a:spLocks noGrp="1"/>
          </p:cNvSpPr>
          <p:nvPr>
            <p:ph idx="1"/>
          </p:nvPr>
        </p:nvSpPr>
        <p:spPr/>
        <p:txBody>
          <a:bodyPr/>
          <a:lstStyle/>
          <a:p>
            <a:r>
              <a:rPr lang="he-IL" b="1" u="sng" dirty="0"/>
              <a:t>1. </a:t>
            </a:r>
            <a:r>
              <a:rPr lang="en-US" b="1" u="sng" dirty="0"/>
              <a:t>Internal script</a:t>
            </a:r>
            <a:r>
              <a:rPr lang="he-IL" dirty="0"/>
              <a:t> – קוד </a:t>
            </a:r>
            <a:r>
              <a:rPr lang="en-US" dirty="0"/>
              <a:t>JS</a:t>
            </a:r>
            <a:r>
              <a:rPr lang="he-IL" dirty="0"/>
              <a:t> שמוטמע בתוך דף ה</a:t>
            </a:r>
            <a:r>
              <a:rPr lang="en-US" dirty="0"/>
              <a:t>HTML</a:t>
            </a:r>
            <a:r>
              <a:rPr lang="he-IL" dirty="0"/>
              <a:t> באמצעות תגית </a:t>
            </a:r>
            <a:r>
              <a:rPr lang="en-US" dirty="0"/>
              <a:t>&lt;script&gt; </a:t>
            </a:r>
            <a:endParaRPr lang="he-IL" dirty="0"/>
          </a:p>
          <a:p>
            <a:r>
              <a:rPr lang="he-IL" dirty="0"/>
              <a:t>לדוג </a:t>
            </a:r>
            <a:endParaRPr lang="en-US" dirty="0"/>
          </a:p>
          <a:p>
            <a:pPr algn="l"/>
            <a:r>
              <a:rPr lang="en-US" dirty="0">
                <a:solidFill>
                  <a:srgbClr val="808080"/>
                </a:solidFill>
                <a:latin typeface="Consolas" panose="020B0609020204030204" pitchFamily="49" charset="0"/>
              </a:rPr>
              <a:t>&lt;</a:t>
            </a:r>
            <a:r>
              <a:rPr lang="en-US" dirty="0">
                <a:solidFill>
                  <a:srgbClr val="569CD6"/>
                </a:solidFill>
                <a:latin typeface="Consolas" panose="020B0609020204030204" pitchFamily="49" charset="0"/>
              </a:rPr>
              <a:t>script</a:t>
            </a:r>
            <a:r>
              <a:rPr lang="en-US" dirty="0">
                <a:solidFill>
                  <a:srgbClr val="808080"/>
                </a:solidFill>
                <a:latin typeface="Consolas" panose="020B0609020204030204" pitchFamily="49" charset="0"/>
              </a:rPr>
              <a:t>&gt;</a:t>
            </a:r>
            <a:r>
              <a:rPr lang="en-US" dirty="0">
                <a:solidFill>
                  <a:srgbClr val="D4D4D4"/>
                </a:solidFill>
                <a:latin typeface="Consolas" panose="020B0609020204030204" pitchFamily="49" charset="0"/>
              </a:rPr>
              <a:t> </a:t>
            </a:r>
          </a:p>
          <a:p>
            <a:pPr algn="l"/>
            <a:r>
              <a:rPr lang="en-US" dirty="0">
                <a:solidFill>
                  <a:srgbClr val="D4D4D4"/>
                </a:solidFill>
                <a:latin typeface="Consolas" panose="020B0609020204030204" pitchFamily="49" charset="0"/>
              </a:rPr>
              <a:t>        </a:t>
            </a:r>
            <a:r>
              <a:rPr lang="en-US" dirty="0" err="1">
                <a:solidFill>
                  <a:srgbClr val="9CDCFE"/>
                </a:solidFill>
                <a:latin typeface="Consolas" panose="020B0609020204030204" pitchFamily="49" charset="0"/>
              </a:rPr>
              <a:t>document</a:t>
            </a:r>
            <a:r>
              <a:rPr lang="en-US" dirty="0" err="1">
                <a:solidFill>
                  <a:srgbClr val="D4D4D4"/>
                </a:solidFill>
                <a:latin typeface="Consolas" panose="020B0609020204030204" pitchFamily="49" charset="0"/>
              </a:rPr>
              <a:t>.</a:t>
            </a:r>
            <a:r>
              <a:rPr lang="en-US" dirty="0" err="1">
                <a:solidFill>
                  <a:srgbClr val="DCDCAA"/>
                </a:solidFill>
                <a:latin typeface="Consolas" panose="020B0609020204030204" pitchFamily="49" charset="0"/>
              </a:rPr>
              <a:t>write</a:t>
            </a:r>
            <a:r>
              <a:rPr lang="en-US" dirty="0">
                <a:solidFill>
                  <a:srgbClr val="D4D4D4"/>
                </a:solidFill>
                <a:latin typeface="Consolas" panose="020B0609020204030204" pitchFamily="49" charset="0"/>
              </a:rPr>
              <a:t>(</a:t>
            </a:r>
            <a:r>
              <a:rPr lang="en-US" dirty="0">
                <a:solidFill>
                  <a:srgbClr val="CE9178"/>
                </a:solidFill>
                <a:latin typeface="Consolas" panose="020B0609020204030204" pitchFamily="49" charset="0"/>
              </a:rPr>
              <a:t>"Hello World!"</a:t>
            </a:r>
            <a:r>
              <a:rPr lang="en-US" dirty="0">
                <a:solidFill>
                  <a:srgbClr val="D4D4D4"/>
                </a:solidFill>
                <a:latin typeface="Consolas" panose="020B0609020204030204" pitchFamily="49" charset="0"/>
              </a:rPr>
              <a:t>);</a:t>
            </a:r>
          </a:p>
          <a:p>
            <a:pPr algn="l"/>
            <a:r>
              <a:rPr lang="en-US" dirty="0">
                <a:solidFill>
                  <a:srgbClr val="808080"/>
                </a:solidFill>
                <a:latin typeface="Consolas" panose="020B0609020204030204" pitchFamily="49" charset="0"/>
              </a:rPr>
              <a:t>&lt;/</a:t>
            </a:r>
            <a:r>
              <a:rPr lang="en-US" dirty="0">
                <a:solidFill>
                  <a:srgbClr val="569CD6"/>
                </a:solidFill>
                <a:latin typeface="Consolas" panose="020B0609020204030204" pitchFamily="49" charset="0"/>
              </a:rPr>
              <a:t>script</a:t>
            </a:r>
            <a:r>
              <a:rPr lang="en-US" dirty="0">
                <a:solidFill>
                  <a:srgbClr val="808080"/>
                </a:solidFill>
                <a:latin typeface="Consolas" panose="020B0609020204030204" pitchFamily="49" charset="0"/>
              </a:rPr>
              <a:t>&gt;</a:t>
            </a:r>
            <a:endParaRPr lang="he-IL" dirty="0">
              <a:solidFill>
                <a:srgbClr val="808080"/>
              </a:solidFill>
              <a:latin typeface="Consolas" panose="020B0609020204030204" pitchFamily="49" charset="0"/>
            </a:endParaRPr>
          </a:p>
          <a:p>
            <a:r>
              <a:rPr lang="he-IL" dirty="0">
                <a:solidFill>
                  <a:srgbClr val="808080"/>
                </a:solidFill>
                <a:latin typeface="Consolas" panose="020B0609020204030204" pitchFamily="49" charset="0"/>
              </a:rPr>
              <a:t>בעבר היה צורך לציין </a:t>
            </a:r>
            <a:r>
              <a:rPr lang="en-US" i="1" dirty="0">
                <a:solidFill>
                  <a:srgbClr val="808080"/>
                </a:solidFill>
                <a:latin typeface="Consolas" panose="020B0609020204030204" pitchFamily="49" charset="0"/>
              </a:rPr>
              <a:t>type="text/</a:t>
            </a:r>
            <a:r>
              <a:rPr lang="en-US" i="1" dirty="0" err="1">
                <a:solidFill>
                  <a:srgbClr val="808080"/>
                </a:solidFill>
                <a:latin typeface="Consolas" panose="020B0609020204030204" pitchFamily="49" charset="0"/>
              </a:rPr>
              <a:t>javascript</a:t>
            </a:r>
            <a:r>
              <a:rPr lang="en-US" i="1" dirty="0">
                <a:solidFill>
                  <a:srgbClr val="808080"/>
                </a:solidFill>
                <a:latin typeface="Consolas" panose="020B0609020204030204" pitchFamily="49" charset="0"/>
              </a:rPr>
              <a:t>“</a:t>
            </a:r>
            <a:r>
              <a:rPr lang="he-IL" i="1" dirty="0">
                <a:solidFill>
                  <a:srgbClr val="808080"/>
                </a:solidFill>
                <a:latin typeface="Consolas" panose="020B0609020204030204" pitchFamily="49" charset="0"/>
              </a:rPr>
              <a:t> </a:t>
            </a:r>
            <a:r>
              <a:rPr lang="he-IL" dirty="0">
                <a:solidFill>
                  <a:srgbClr val="808080"/>
                </a:solidFill>
                <a:latin typeface="Consolas" panose="020B0609020204030204" pitchFamily="49" charset="0"/>
              </a:rPr>
              <a:t>בתוך תגית ה</a:t>
            </a:r>
            <a:r>
              <a:rPr lang="en-US" dirty="0">
                <a:solidFill>
                  <a:srgbClr val="808080"/>
                </a:solidFill>
                <a:latin typeface="Consolas" panose="020B0609020204030204" pitchFamily="49" charset="0"/>
              </a:rPr>
              <a:t>script</a:t>
            </a:r>
            <a:r>
              <a:rPr lang="he-IL" dirty="0">
                <a:solidFill>
                  <a:srgbClr val="808080"/>
                </a:solidFill>
                <a:latin typeface="Consolas" panose="020B0609020204030204" pitchFamily="49" charset="0"/>
              </a:rPr>
              <a:t>, כיום זה ברירת המחדל אין צורך לציין מפורש.</a:t>
            </a:r>
          </a:p>
          <a:p>
            <a:r>
              <a:rPr lang="he-IL" i="1" dirty="0">
                <a:solidFill>
                  <a:srgbClr val="808080"/>
                </a:solidFill>
                <a:latin typeface="Consolas" panose="020B0609020204030204" pitchFamily="49" charset="0"/>
              </a:rPr>
              <a:t>ניתן לשלב מספר בלתי מוגבל של תגיות </a:t>
            </a:r>
            <a:r>
              <a:rPr lang="en-US" i="1" dirty="0">
                <a:solidFill>
                  <a:srgbClr val="808080"/>
                </a:solidFill>
                <a:latin typeface="Consolas" panose="020B0609020204030204" pitchFamily="49" charset="0"/>
              </a:rPr>
              <a:t>script</a:t>
            </a:r>
            <a:r>
              <a:rPr lang="he-IL" i="1" dirty="0">
                <a:solidFill>
                  <a:srgbClr val="808080"/>
                </a:solidFill>
                <a:latin typeface="Consolas" panose="020B0609020204030204" pitchFamily="49" charset="0"/>
              </a:rPr>
              <a:t>.</a:t>
            </a:r>
            <a:endParaRPr lang="en-US" i="1" dirty="0">
              <a:solidFill>
                <a:srgbClr val="D4D4D4"/>
              </a:solidFill>
              <a:latin typeface="Consolas" panose="020B0609020204030204" pitchFamily="49" charset="0"/>
            </a:endParaRPr>
          </a:p>
          <a:p>
            <a:pPr algn="l"/>
            <a:endParaRPr lang="he-IL"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72353F8A-9757-44EF-91D9-23BA49263748}"/>
              </a:ext>
            </a:extLst>
          </p:cNvPr>
          <p:cNvSpPr>
            <a:spLocks noGrp="1"/>
          </p:cNvSpPr>
          <p:nvPr>
            <p:ph type="sldNum" sz="quarter" idx="12"/>
          </p:nvPr>
        </p:nvSpPr>
        <p:spPr/>
        <p:txBody>
          <a:bodyPr/>
          <a:lstStyle/>
          <a:p>
            <a:fld id="{6113E31D-E2AB-40D1-8B51-AFA5AFEF393A}" type="slidenum">
              <a:rPr lang="en-US" smtClean="0"/>
              <a:t>3</a:t>
            </a:fld>
            <a:endParaRPr lang="en-US" dirty="0"/>
          </a:p>
        </p:txBody>
      </p:sp>
    </p:spTree>
    <p:extLst>
      <p:ext uri="{BB962C8B-B14F-4D97-AF65-F5344CB8AC3E}">
        <p14:creationId xmlns:p14="http://schemas.microsoft.com/office/powerpoint/2010/main" val="1209828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sz="4400" dirty="0"/>
              <a:t>שילוב </a:t>
            </a:r>
            <a:r>
              <a:rPr lang="en-US" sz="4400" dirty="0"/>
              <a:t>JS</a:t>
            </a:r>
            <a:r>
              <a:rPr lang="he-IL" sz="4400" dirty="0"/>
              <a:t> בדף ה</a:t>
            </a:r>
            <a:r>
              <a:rPr lang="en-US" sz="4400" dirty="0"/>
              <a:t>HTML</a:t>
            </a:r>
            <a:r>
              <a:rPr lang="he-IL" sz="4400" dirty="0"/>
              <a:t> - המשך</a:t>
            </a:r>
          </a:p>
        </p:txBody>
      </p:sp>
      <p:sp>
        <p:nvSpPr>
          <p:cNvPr id="3" name="מציין מיקום תוכן 2"/>
          <p:cNvSpPr>
            <a:spLocks noGrp="1"/>
          </p:cNvSpPr>
          <p:nvPr>
            <p:ph idx="1"/>
          </p:nvPr>
        </p:nvSpPr>
        <p:spPr/>
        <p:txBody>
          <a:bodyPr>
            <a:normAutofit lnSpcReduction="10000"/>
          </a:bodyPr>
          <a:lstStyle/>
          <a:p>
            <a:r>
              <a:rPr lang="he-IL" b="1" u="sng" dirty="0"/>
              <a:t>2. </a:t>
            </a:r>
            <a:r>
              <a:rPr lang="en-US" b="1" u="sng" dirty="0"/>
              <a:t>External script</a:t>
            </a:r>
            <a:r>
              <a:rPr lang="he-IL" b="1" u="sng" dirty="0"/>
              <a:t> </a:t>
            </a:r>
            <a:r>
              <a:rPr lang="he-IL" dirty="0"/>
              <a:t>– קוד הנכתב בקובץ עם סיומת </a:t>
            </a:r>
            <a:r>
              <a:rPr lang="en-US" dirty="0" err="1"/>
              <a:t>js</a:t>
            </a:r>
            <a:r>
              <a:rPr lang="he-IL" dirty="0"/>
              <a:t> ומצורף לקובץ </a:t>
            </a:r>
            <a:r>
              <a:rPr lang="en-US" dirty="0"/>
              <a:t>html </a:t>
            </a:r>
            <a:r>
              <a:rPr lang="he-IL" dirty="0"/>
              <a:t> באמצעות תגית </a:t>
            </a:r>
            <a:r>
              <a:rPr lang="en-US" dirty="0"/>
              <a:t>&lt;script&gt;</a:t>
            </a:r>
            <a:r>
              <a:rPr lang="he-IL" dirty="0"/>
              <a:t> וציון ה</a:t>
            </a:r>
            <a:r>
              <a:rPr lang="en-US" dirty="0"/>
              <a:t>Attribute </a:t>
            </a:r>
            <a:r>
              <a:rPr lang="he-IL" dirty="0"/>
              <a:t> </a:t>
            </a:r>
            <a:r>
              <a:rPr lang="en-US" dirty="0" err="1"/>
              <a:t>src</a:t>
            </a:r>
            <a:r>
              <a:rPr lang="he-IL" dirty="0"/>
              <a:t>. </a:t>
            </a:r>
          </a:p>
          <a:p>
            <a:r>
              <a:rPr lang="he-IL" dirty="0"/>
              <a:t>קוד הנכתב בקובץ </a:t>
            </a:r>
            <a:r>
              <a:rPr lang="en-US" dirty="0"/>
              <a:t>FirsJS.js</a:t>
            </a:r>
            <a:r>
              <a:rPr lang="he-IL" dirty="0"/>
              <a:t> </a:t>
            </a:r>
            <a:endParaRPr lang="en-US" dirty="0"/>
          </a:p>
          <a:p>
            <a:pPr algn="l"/>
            <a:r>
              <a:rPr lang="en-US" dirty="0">
                <a:solidFill>
                  <a:srgbClr val="808080"/>
                </a:solidFill>
                <a:latin typeface="Consolas" panose="020B0609020204030204" pitchFamily="49" charset="0"/>
              </a:rPr>
              <a:t>&lt;</a:t>
            </a:r>
            <a:r>
              <a:rPr lang="en-US" dirty="0">
                <a:solidFill>
                  <a:srgbClr val="569CD6"/>
                </a:solidFill>
                <a:latin typeface="Consolas" panose="020B0609020204030204" pitchFamily="49" charset="0"/>
              </a:rPr>
              <a:t>script</a:t>
            </a:r>
            <a:r>
              <a:rPr lang="en-US" dirty="0">
                <a:solidFill>
                  <a:srgbClr val="D4D4D4"/>
                </a:solidFill>
                <a:latin typeface="Consolas" panose="020B0609020204030204" pitchFamily="49" charset="0"/>
              </a:rPr>
              <a:t> </a:t>
            </a:r>
            <a:r>
              <a:rPr lang="en-US" dirty="0" err="1">
                <a:solidFill>
                  <a:srgbClr val="9CDCFE"/>
                </a:solidFill>
                <a:latin typeface="Consolas" panose="020B0609020204030204" pitchFamily="49" charset="0"/>
              </a:rPr>
              <a:t>src</a:t>
            </a:r>
            <a:r>
              <a:rPr lang="en-US" dirty="0">
                <a:solidFill>
                  <a:srgbClr val="D4D4D4"/>
                </a:solidFill>
                <a:latin typeface="Consolas" panose="020B0609020204030204" pitchFamily="49" charset="0"/>
              </a:rPr>
              <a:t>=</a:t>
            </a:r>
            <a:r>
              <a:rPr lang="en-US" dirty="0">
                <a:solidFill>
                  <a:srgbClr val="CE9178"/>
                </a:solidFill>
                <a:latin typeface="Consolas" panose="020B0609020204030204" pitchFamily="49" charset="0"/>
              </a:rPr>
              <a:t>"FirstJS.js"</a:t>
            </a:r>
            <a:r>
              <a:rPr lang="en-US" dirty="0">
                <a:solidFill>
                  <a:srgbClr val="808080"/>
                </a:solidFill>
                <a:latin typeface="Consolas" panose="020B0609020204030204" pitchFamily="49" charset="0"/>
              </a:rPr>
              <a:t>&gt;&lt;/</a:t>
            </a:r>
            <a:r>
              <a:rPr lang="en-US" dirty="0">
                <a:solidFill>
                  <a:srgbClr val="569CD6"/>
                </a:solidFill>
                <a:latin typeface="Consolas" panose="020B0609020204030204" pitchFamily="49" charset="0"/>
              </a:rPr>
              <a:t>script</a:t>
            </a:r>
            <a:r>
              <a:rPr lang="en-US" dirty="0">
                <a:solidFill>
                  <a:srgbClr val="808080"/>
                </a:solidFill>
                <a:latin typeface="Consolas" panose="020B0609020204030204" pitchFamily="49" charset="0"/>
              </a:rPr>
              <a:t>&gt;</a:t>
            </a:r>
            <a:endParaRPr lang="he-IL" dirty="0">
              <a:solidFill>
                <a:srgbClr val="808080"/>
              </a:solidFill>
              <a:latin typeface="Consolas" panose="020B0609020204030204" pitchFamily="49" charset="0"/>
            </a:endParaRPr>
          </a:p>
          <a:p>
            <a:r>
              <a:rPr lang="he-IL" dirty="0"/>
              <a:t>ה </a:t>
            </a:r>
            <a:r>
              <a:rPr lang="en-US" dirty="0"/>
              <a:t>script</a:t>
            </a:r>
            <a:r>
              <a:rPr lang="he-IL" dirty="0"/>
              <a:t> יבוצע כאילו הוא נמצא בתוך תגית </a:t>
            </a:r>
            <a:r>
              <a:rPr lang="en-US" dirty="0"/>
              <a:t>script</a:t>
            </a:r>
            <a:r>
              <a:rPr lang="he-IL" dirty="0"/>
              <a:t>.</a:t>
            </a:r>
          </a:p>
          <a:p>
            <a:r>
              <a:rPr lang="he-IL" dirty="0"/>
              <a:t>ניתן לצרף כמה דפי </a:t>
            </a:r>
            <a:r>
              <a:rPr lang="en-US" dirty="0" err="1"/>
              <a:t>js</a:t>
            </a:r>
            <a:r>
              <a:rPr lang="he-IL" dirty="0"/>
              <a:t> באמצעות כמה תגיות.</a:t>
            </a:r>
            <a:endParaRPr lang="en-US" dirty="0"/>
          </a:p>
          <a:p>
            <a:r>
              <a:rPr lang="he-IL" dirty="0"/>
              <a:t>את התגית שמים בתוך תגית ה</a:t>
            </a:r>
            <a:r>
              <a:rPr lang="en-US" dirty="0"/>
              <a:t>body</a:t>
            </a:r>
            <a:r>
              <a:rPr lang="he-IL" dirty="0"/>
              <a:t> למטה לקראת הסוף היות וטעינת הקוד לוקחת זמן, יש צורך להראות למשתמש שהאתר נטען ולכן יוצרים אשליה שבה כל ה-</a:t>
            </a:r>
            <a:r>
              <a:rPr lang="en-US" dirty="0" err="1"/>
              <a:t>ui</a:t>
            </a:r>
            <a:r>
              <a:rPr lang="en-US" dirty="0"/>
              <a:t> </a:t>
            </a:r>
            <a:r>
              <a:rPr lang="he-IL" dirty="0"/>
              <a:t> נטען והקוד לא. לכן כאשר יש כבר את ה</a:t>
            </a:r>
            <a:r>
              <a:rPr lang="en-US" dirty="0" err="1"/>
              <a:t>ui</a:t>
            </a:r>
            <a:r>
              <a:rPr lang="en-US" dirty="0"/>
              <a:t> </a:t>
            </a:r>
            <a:r>
              <a:rPr lang="he-IL" dirty="0"/>
              <a:t> לפעמים הפעולה לא עושה כלום היות והקוד לא נטען.</a:t>
            </a:r>
            <a:r>
              <a:rPr lang="en-US" dirty="0">
                <a:solidFill>
                  <a:srgbClr val="D4D4D4"/>
                </a:solidFill>
                <a:latin typeface="Consolas" panose="020B0609020204030204" pitchFamily="49" charset="0"/>
              </a:rPr>
              <a:t/>
            </a:r>
            <a:br>
              <a:rPr lang="en-US" dirty="0">
                <a:solidFill>
                  <a:srgbClr val="D4D4D4"/>
                </a:solidFill>
                <a:latin typeface="Consolas" panose="020B0609020204030204" pitchFamily="49" charset="0"/>
              </a:rPr>
            </a:br>
            <a:endParaRPr lang="en-US" dirty="0">
              <a:solidFill>
                <a:srgbClr val="D4D4D4"/>
              </a:solidFill>
              <a:latin typeface="Consolas" panose="020B0609020204030204" pitchFamily="49" charset="0"/>
            </a:endParaRPr>
          </a:p>
          <a:p>
            <a:pPr algn="ctr"/>
            <a:endParaRPr lang="he-IL"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9BFCD3F5-0E80-4C2B-B6A2-0BAE575C021C}"/>
              </a:ext>
            </a:extLst>
          </p:cNvPr>
          <p:cNvSpPr>
            <a:spLocks noGrp="1"/>
          </p:cNvSpPr>
          <p:nvPr>
            <p:ph type="sldNum" sz="quarter" idx="12"/>
          </p:nvPr>
        </p:nvSpPr>
        <p:spPr/>
        <p:txBody>
          <a:bodyPr/>
          <a:lstStyle/>
          <a:p>
            <a:fld id="{6113E31D-E2AB-40D1-8B51-AFA5AFEF393A}" type="slidenum">
              <a:rPr lang="en-US" smtClean="0"/>
              <a:t>4</a:t>
            </a:fld>
            <a:endParaRPr lang="en-US" dirty="0"/>
          </a:p>
        </p:txBody>
      </p:sp>
    </p:spTree>
    <p:extLst>
      <p:ext uri="{BB962C8B-B14F-4D97-AF65-F5344CB8AC3E}">
        <p14:creationId xmlns:p14="http://schemas.microsoft.com/office/powerpoint/2010/main" val="1767709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sz="4400" dirty="0"/>
              <a:t>שילוב </a:t>
            </a:r>
            <a:r>
              <a:rPr lang="en-US" sz="4400" dirty="0"/>
              <a:t>JS</a:t>
            </a:r>
            <a:r>
              <a:rPr lang="he-IL" sz="4400" dirty="0"/>
              <a:t> בדף ה</a:t>
            </a:r>
            <a:r>
              <a:rPr lang="en-US" sz="4400" dirty="0"/>
              <a:t>HTML</a:t>
            </a:r>
            <a:r>
              <a:rPr lang="he-IL" sz="4400" dirty="0"/>
              <a:t> - המשך</a:t>
            </a:r>
          </a:p>
        </p:txBody>
      </p:sp>
      <p:sp>
        <p:nvSpPr>
          <p:cNvPr id="3" name="מציין מיקום תוכן 2"/>
          <p:cNvSpPr>
            <a:spLocks noGrp="1"/>
          </p:cNvSpPr>
          <p:nvPr>
            <p:ph idx="1"/>
          </p:nvPr>
        </p:nvSpPr>
        <p:spPr/>
        <p:txBody>
          <a:bodyPr/>
          <a:lstStyle/>
          <a:p>
            <a:r>
              <a:rPr lang="he-IL" dirty="0"/>
              <a:t>בדומה ל </a:t>
            </a:r>
            <a:r>
              <a:rPr lang="en-US" dirty="0"/>
              <a:t>CSS</a:t>
            </a:r>
            <a:r>
              <a:rPr lang="he-IL" dirty="0"/>
              <a:t> נעדיף לכתוב קוד </a:t>
            </a:r>
            <a:r>
              <a:rPr lang="en-US" dirty="0"/>
              <a:t>JS</a:t>
            </a:r>
            <a:r>
              <a:rPr lang="he-IL" dirty="0"/>
              <a:t> בקובץ נפרד ולא בתוך התגית מהסיבות הבאות:</a:t>
            </a:r>
          </a:p>
          <a:p>
            <a:pPr>
              <a:buFont typeface="Wingdings" panose="05000000000000000000" pitchFamily="2" charset="2"/>
              <a:buChar char="Ø"/>
            </a:pPr>
            <a:r>
              <a:rPr lang="he-IL" dirty="0"/>
              <a:t> הפרדה בין קוד ה</a:t>
            </a:r>
            <a:r>
              <a:rPr lang="en-US" dirty="0"/>
              <a:t>HTML</a:t>
            </a:r>
            <a:r>
              <a:rPr lang="he-IL" dirty="0"/>
              <a:t> לקוד ה</a:t>
            </a:r>
            <a:r>
              <a:rPr lang="en-US" dirty="0"/>
              <a:t>JS</a:t>
            </a:r>
            <a:r>
              <a:rPr lang="he-IL" dirty="0"/>
              <a:t>, כל חלק אחראי לתפקיד שלו ולא מערבבים בין תפקידים. זהו עיקרון כללי בתכנות.</a:t>
            </a:r>
          </a:p>
          <a:p>
            <a:pPr>
              <a:buFont typeface="Wingdings" panose="05000000000000000000" pitchFamily="2" charset="2"/>
              <a:buChar char="Ø"/>
            </a:pPr>
            <a:r>
              <a:rPr lang="he-IL" dirty="0"/>
              <a:t> מקל על הקריאה והניהול של הקבצים.</a:t>
            </a:r>
          </a:p>
          <a:p>
            <a:pPr>
              <a:buFont typeface="Wingdings" panose="05000000000000000000" pitchFamily="2" charset="2"/>
              <a:buChar char="Ø"/>
            </a:pPr>
            <a:r>
              <a:rPr lang="he-IL" dirty="0"/>
              <a:t> כאשר קוד ה</a:t>
            </a:r>
            <a:r>
              <a:rPr lang="en-US" dirty="0"/>
              <a:t>JS</a:t>
            </a:r>
            <a:r>
              <a:rPr lang="he-IL" dirty="0"/>
              <a:t> רשום בקבצים, הדפדפן יכול לשמור את הקובץ </a:t>
            </a:r>
            <a:r>
              <a:rPr lang="he-IL" dirty="0" err="1"/>
              <a:t>בזכרון</a:t>
            </a:r>
            <a:r>
              <a:rPr lang="he-IL" dirty="0"/>
              <a:t> ה</a:t>
            </a:r>
            <a:r>
              <a:rPr lang="en-US" dirty="0"/>
              <a:t>cache</a:t>
            </a:r>
            <a:r>
              <a:rPr lang="he-IL" dirty="0"/>
              <a:t> כך שדפים נוספים שמשתמשים בקובץ יטענו במהירות רבה יותר.</a:t>
            </a:r>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0581BCEF-6001-4E4E-970A-7AB0D2CFBFE9}"/>
              </a:ext>
            </a:extLst>
          </p:cNvPr>
          <p:cNvSpPr>
            <a:spLocks noGrp="1"/>
          </p:cNvSpPr>
          <p:nvPr>
            <p:ph type="sldNum" sz="quarter" idx="12"/>
          </p:nvPr>
        </p:nvSpPr>
        <p:spPr/>
        <p:txBody>
          <a:bodyPr/>
          <a:lstStyle/>
          <a:p>
            <a:fld id="{6113E31D-E2AB-40D1-8B51-AFA5AFEF393A}" type="slidenum">
              <a:rPr lang="en-US" smtClean="0"/>
              <a:t>5</a:t>
            </a:fld>
            <a:endParaRPr lang="en-US" dirty="0"/>
          </a:p>
        </p:txBody>
      </p:sp>
    </p:spTree>
    <p:extLst>
      <p:ext uri="{BB962C8B-B14F-4D97-AF65-F5344CB8AC3E}">
        <p14:creationId xmlns:p14="http://schemas.microsoft.com/office/powerpoint/2010/main" val="1199345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תחביר - </a:t>
            </a:r>
            <a:r>
              <a:rPr lang="en-US" dirty="0"/>
              <a:t>Java Script Syntax</a:t>
            </a:r>
            <a:endParaRPr lang="he-IL" dirty="0"/>
          </a:p>
        </p:txBody>
      </p:sp>
      <p:sp>
        <p:nvSpPr>
          <p:cNvPr id="3" name="מציין מיקום תוכן 2"/>
          <p:cNvSpPr>
            <a:spLocks noGrp="1"/>
          </p:cNvSpPr>
          <p:nvPr>
            <p:ph idx="1"/>
          </p:nvPr>
        </p:nvSpPr>
        <p:spPr/>
        <p:txBody>
          <a:bodyPr/>
          <a:lstStyle/>
          <a:p>
            <a:pPr>
              <a:buFont typeface="Wingdings" panose="05000000000000000000" pitchFamily="2" charset="2"/>
              <a:buChar char="v"/>
            </a:pPr>
            <a:r>
              <a:rPr lang="he-IL" dirty="0"/>
              <a:t> </a:t>
            </a:r>
            <a:r>
              <a:rPr lang="en-US" dirty="0"/>
              <a:t>JS</a:t>
            </a:r>
            <a:r>
              <a:rPr lang="he-IL" dirty="0"/>
              <a:t> היא שפת מונחה </a:t>
            </a:r>
            <a:r>
              <a:rPr lang="he-IL" dirty="0" err="1"/>
              <a:t>ארועים</a:t>
            </a:r>
            <a:r>
              <a:rPr lang="he-IL" dirty="0"/>
              <a:t>, ולכן יש לשייך את קטעי הקוד </a:t>
            </a:r>
            <a:r>
              <a:rPr lang="he-IL" dirty="0" err="1"/>
              <a:t>לארוע</a:t>
            </a:r>
            <a:r>
              <a:rPr lang="he-IL" dirty="0"/>
              <a:t>, קוד שלא כתוב בתוך פונקציה מופעל בעת טעינת הדף.</a:t>
            </a:r>
          </a:p>
          <a:p>
            <a:pPr>
              <a:buFont typeface="Wingdings" panose="05000000000000000000" pitchFamily="2" charset="2"/>
              <a:buChar char="v"/>
            </a:pPr>
            <a:r>
              <a:rPr lang="he-IL" dirty="0"/>
              <a:t> </a:t>
            </a:r>
            <a:r>
              <a:rPr lang="en-US" dirty="0"/>
              <a:t>JS</a:t>
            </a:r>
            <a:r>
              <a:rPr lang="he-IL" dirty="0"/>
              <a:t> היא </a:t>
            </a:r>
            <a:r>
              <a:rPr lang="en-US" dirty="0"/>
              <a:t>case sensitivity</a:t>
            </a:r>
            <a:r>
              <a:rPr lang="he-IL" dirty="0"/>
              <a:t> – יש משמעות לאותיות גדולות וקטנות.</a:t>
            </a:r>
          </a:p>
          <a:p>
            <a:pPr>
              <a:buFont typeface="Wingdings" panose="05000000000000000000" pitchFamily="2" charset="2"/>
              <a:buChar char="v"/>
            </a:pPr>
            <a:r>
              <a:rPr lang="he-IL" dirty="0"/>
              <a:t> מחרוזות יש לעטוף </a:t>
            </a:r>
            <a:r>
              <a:rPr lang="he-IL" dirty="0" err="1"/>
              <a:t>במרכאות</a:t>
            </a:r>
            <a:r>
              <a:rPr lang="he-IL" dirty="0"/>
              <a:t> או בגרש.</a:t>
            </a:r>
          </a:p>
          <a:p>
            <a:pPr>
              <a:buFont typeface="Wingdings" panose="05000000000000000000" pitchFamily="2" charset="2"/>
              <a:buChar char="v"/>
            </a:pPr>
            <a:r>
              <a:rPr lang="en-US" dirty="0"/>
              <a:t>JS</a:t>
            </a:r>
            <a:r>
              <a:rPr lang="he-IL" dirty="0"/>
              <a:t> היא שפה גמישה ומאפשרת דינמיות רבה, יש לכך מעלות וחסרונות, המעלה העיקרית היא שאין אכיפה של כללים רבים, אך מנגד אי אכיפה של כללים מזמן שגיאות רבות.</a:t>
            </a:r>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E5DF2462-5225-4C71-B4C2-AB8CD6181A40}"/>
              </a:ext>
            </a:extLst>
          </p:cNvPr>
          <p:cNvSpPr>
            <a:spLocks noGrp="1"/>
          </p:cNvSpPr>
          <p:nvPr>
            <p:ph type="sldNum" sz="quarter" idx="12"/>
          </p:nvPr>
        </p:nvSpPr>
        <p:spPr/>
        <p:txBody>
          <a:bodyPr/>
          <a:lstStyle/>
          <a:p>
            <a:fld id="{6113E31D-E2AB-40D1-8B51-AFA5AFEF393A}" type="slidenum">
              <a:rPr lang="en-US" smtClean="0"/>
              <a:t>6</a:t>
            </a:fld>
            <a:endParaRPr lang="en-US" dirty="0"/>
          </a:p>
        </p:txBody>
      </p:sp>
    </p:spTree>
    <p:extLst>
      <p:ext uri="{BB962C8B-B14F-4D97-AF65-F5344CB8AC3E}">
        <p14:creationId xmlns:p14="http://schemas.microsoft.com/office/powerpoint/2010/main" val="1752679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משתנים - </a:t>
            </a:r>
            <a:r>
              <a:rPr lang="en-US" dirty="0"/>
              <a:t> Variables</a:t>
            </a:r>
            <a:endParaRPr lang="he-IL" dirty="0"/>
          </a:p>
        </p:txBody>
      </p:sp>
      <p:sp>
        <p:nvSpPr>
          <p:cNvPr id="3" name="מציין מיקום תוכן 2"/>
          <p:cNvSpPr>
            <a:spLocks noGrp="1"/>
          </p:cNvSpPr>
          <p:nvPr>
            <p:ph idx="1"/>
          </p:nvPr>
        </p:nvSpPr>
        <p:spPr/>
        <p:txBody>
          <a:bodyPr>
            <a:normAutofit/>
          </a:bodyPr>
          <a:lstStyle/>
          <a:p>
            <a:pPr>
              <a:buFont typeface="Wingdings" panose="05000000000000000000" pitchFamily="2" charset="2"/>
              <a:buChar char="ü"/>
            </a:pPr>
            <a:r>
              <a:rPr lang="en-US" dirty="0"/>
              <a:t> </a:t>
            </a:r>
            <a:r>
              <a:rPr lang="he-IL" dirty="0"/>
              <a:t> משתנים משמשים לאכסון מידע כלשהו. הם יכולים להכיל מספרים, מחרוזות, אובייקטים ואפילו פונקציות.</a:t>
            </a:r>
          </a:p>
          <a:p>
            <a:pPr>
              <a:buFont typeface="Wingdings" panose="05000000000000000000" pitchFamily="2" charset="2"/>
              <a:buChar char="ü"/>
            </a:pPr>
            <a:r>
              <a:rPr lang="he-IL" dirty="0"/>
              <a:t> ב</a:t>
            </a:r>
            <a:r>
              <a:rPr lang="en-US" dirty="0"/>
              <a:t>JS</a:t>
            </a:r>
            <a:r>
              <a:rPr lang="he-IL" dirty="0"/>
              <a:t> ה</a:t>
            </a:r>
            <a:r>
              <a:rPr lang="en-US" dirty="0"/>
              <a:t> DATA TYPE</a:t>
            </a:r>
            <a:r>
              <a:rPr lang="he-IL" dirty="0"/>
              <a:t> של המשתנים אינו נקבע מראש, אלא בעת הכנסת ערך למשתנה, לכן משתנה יכול להכיל בזמן מסוים ערך מספרי, ואחר כך ערך מחרוזתי </a:t>
            </a:r>
            <a:r>
              <a:rPr lang="he-IL" dirty="0" err="1"/>
              <a:t>וכו</a:t>
            </a:r>
            <a:r>
              <a:rPr lang="he-IL" dirty="0"/>
              <a:t>'.</a:t>
            </a:r>
          </a:p>
          <a:p>
            <a:pPr>
              <a:buFont typeface="Wingdings" panose="05000000000000000000" pitchFamily="2" charset="2"/>
              <a:buChar char="ü"/>
            </a:pPr>
            <a:r>
              <a:rPr lang="he-IL" dirty="0"/>
              <a:t> משתנים מגדירים האמצעות המילה </a:t>
            </a:r>
            <a:r>
              <a:rPr lang="en-US" dirty="0" err="1"/>
              <a:t>var</a:t>
            </a:r>
            <a:r>
              <a:rPr lang="en-US" dirty="0"/>
              <a:t> </a:t>
            </a:r>
            <a:r>
              <a:rPr lang="he-IL" dirty="0"/>
              <a:t> או </a:t>
            </a:r>
            <a:r>
              <a:rPr lang="en-US" dirty="0"/>
              <a:t>let</a:t>
            </a:r>
            <a:r>
              <a:rPr lang="he-IL" dirty="0"/>
              <a:t>. עדיף להשתמש ב</a:t>
            </a:r>
            <a:r>
              <a:rPr lang="en-US" dirty="0"/>
              <a:t>let</a:t>
            </a:r>
            <a:r>
              <a:rPr lang="he-IL" dirty="0"/>
              <a:t>.</a:t>
            </a:r>
          </a:p>
          <a:p>
            <a:pPr>
              <a:buFont typeface="Wingdings" panose="05000000000000000000" pitchFamily="2" charset="2"/>
              <a:buChar char="ü"/>
            </a:pPr>
            <a:r>
              <a:rPr lang="he-IL" dirty="0"/>
              <a:t> שם משתנה חייב להתחיל באות אנגלית, קו תחת או הסימן $. (עדיף להתחיל באות)</a:t>
            </a:r>
          </a:p>
          <a:p>
            <a:pPr>
              <a:buFont typeface="Wingdings" panose="05000000000000000000" pitchFamily="2" charset="2"/>
              <a:buChar char="ü"/>
            </a:pPr>
            <a:r>
              <a:rPr lang="he-IL" dirty="0"/>
              <a:t> מלבד האות הראשונה, שם משתנה יכול להכיל אותיות, מספרים, קו תחתי או$.</a:t>
            </a:r>
          </a:p>
          <a:p>
            <a:pPr>
              <a:buFont typeface="Wingdings" panose="05000000000000000000" pitchFamily="2" charset="2"/>
              <a:buChar char="ü"/>
            </a:pPr>
            <a:r>
              <a:rPr lang="he-IL" dirty="0"/>
              <a:t> לכל משתנה יש להגדיר שם ייחודי.</a:t>
            </a:r>
          </a:p>
          <a:p>
            <a:pPr>
              <a:buFont typeface="Wingdings" panose="05000000000000000000" pitchFamily="2" charset="2"/>
              <a:buChar char="ü"/>
            </a:pPr>
            <a:r>
              <a:rPr lang="he-IL" dirty="0"/>
              <a:t> מילים שמורות ב</a:t>
            </a:r>
            <a:r>
              <a:rPr lang="en-US" dirty="0"/>
              <a:t>JS</a:t>
            </a:r>
            <a:r>
              <a:rPr lang="he-IL" dirty="0"/>
              <a:t> לא יכולות להיות שמות משתנים.</a:t>
            </a:r>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67B9E9B0-A335-4A77-9F45-07D527E6B2B6}"/>
              </a:ext>
            </a:extLst>
          </p:cNvPr>
          <p:cNvSpPr>
            <a:spLocks noGrp="1"/>
          </p:cNvSpPr>
          <p:nvPr>
            <p:ph type="sldNum" sz="quarter" idx="12"/>
          </p:nvPr>
        </p:nvSpPr>
        <p:spPr/>
        <p:txBody>
          <a:bodyPr/>
          <a:lstStyle/>
          <a:p>
            <a:fld id="{6113E31D-E2AB-40D1-8B51-AFA5AFEF393A}" type="slidenum">
              <a:rPr lang="en-US" smtClean="0"/>
              <a:t>7</a:t>
            </a:fld>
            <a:endParaRPr lang="en-US" dirty="0"/>
          </a:p>
        </p:txBody>
      </p:sp>
    </p:spTree>
    <p:extLst>
      <p:ext uri="{BB962C8B-B14F-4D97-AF65-F5344CB8AC3E}">
        <p14:creationId xmlns:p14="http://schemas.microsoft.com/office/powerpoint/2010/main" val="286360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משתנים - </a:t>
            </a:r>
            <a:r>
              <a:rPr lang="en-US" dirty="0"/>
              <a:t> Variables</a:t>
            </a:r>
            <a:r>
              <a:rPr lang="he-IL" dirty="0"/>
              <a:t> </a:t>
            </a:r>
            <a:r>
              <a:rPr lang="he-IL" sz="3600" dirty="0"/>
              <a:t>המשך</a:t>
            </a:r>
          </a:p>
        </p:txBody>
      </p:sp>
      <p:sp>
        <p:nvSpPr>
          <p:cNvPr id="3" name="מציין מיקום תוכן 2"/>
          <p:cNvSpPr>
            <a:spLocks noGrp="1"/>
          </p:cNvSpPr>
          <p:nvPr>
            <p:ph idx="1"/>
          </p:nvPr>
        </p:nvSpPr>
        <p:spPr/>
        <p:txBody>
          <a:bodyPr>
            <a:normAutofit lnSpcReduction="10000"/>
          </a:bodyPr>
          <a:lstStyle/>
          <a:p>
            <a:pPr marL="0" indent="0">
              <a:buNone/>
            </a:pPr>
            <a:endParaRPr lang="he-IL" dirty="0"/>
          </a:p>
          <a:p>
            <a:pPr>
              <a:buFont typeface="Wingdings" panose="05000000000000000000" pitchFamily="2" charset="2"/>
              <a:buChar char="ü"/>
            </a:pPr>
            <a:r>
              <a:rPr lang="he-IL" dirty="0"/>
              <a:t> הסימן = מהווה הצבת ערך במשתנה.</a:t>
            </a:r>
          </a:p>
          <a:p>
            <a:pPr>
              <a:buFont typeface="Wingdings" panose="05000000000000000000" pitchFamily="2" charset="2"/>
              <a:buChar char="ü"/>
            </a:pPr>
            <a:r>
              <a:rPr lang="he-IL" dirty="0"/>
              <a:t> מומלץ לבחור בשמות ברורים שמבטאים את תפקיד המשתנה.</a:t>
            </a:r>
          </a:p>
          <a:p>
            <a:pPr>
              <a:buFont typeface="Wingdings" panose="05000000000000000000" pitchFamily="2" charset="2"/>
              <a:buChar char="ü"/>
            </a:pPr>
            <a:r>
              <a:rPr lang="he-IL" dirty="0"/>
              <a:t> מאחר וסוג המשתנה נקבע עפ"י הערך המוצב בו, ניתן לדעת מהו טיפוס הנתונים של המשתנה ע"י המילה השמורה</a:t>
            </a:r>
            <a:r>
              <a:rPr lang="en-US" dirty="0" err="1"/>
              <a:t>typeOf</a:t>
            </a:r>
            <a:r>
              <a:rPr lang="he-IL" dirty="0"/>
              <a:t>,  לדוג הקוד בא יחזיר את הערך </a:t>
            </a:r>
            <a:r>
              <a:rPr lang="en-US" dirty="0"/>
              <a:t>string</a:t>
            </a:r>
            <a:r>
              <a:rPr lang="he-IL" dirty="0"/>
              <a:t> </a:t>
            </a:r>
          </a:p>
          <a:p>
            <a:pPr algn="l"/>
            <a:r>
              <a:rPr lang="en-US" sz="1800" dirty="0">
                <a:solidFill>
                  <a:srgbClr val="569CD6"/>
                </a:solidFill>
                <a:latin typeface="Consolas" panose="020B0609020204030204" pitchFamily="49" charset="0"/>
              </a:rPr>
              <a:t>let</a:t>
            </a:r>
            <a:r>
              <a:rPr lang="en-US" sz="1800" dirty="0">
                <a:solidFill>
                  <a:srgbClr val="D4D4D4"/>
                </a:solidFill>
                <a:latin typeface="Consolas" panose="020B0609020204030204" pitchFamily="49" charset="0"/>
              </a:rPr>
              <a:t> </a:t>
            </a:r>
            <a:r>
              <a:rPr lang="en-US" sz="1800" dirty="0">
                <a:solidFill>
                  <a:srgbClr val="9CDCFE"/>
                </a:solidFill>
                <a:latin typeface="Consolas" panose="020B0609020204030204" pitchFamily="49" charset="0"/>
              </a:rPr>
              <a:t>first</a:t>
            </a:r>
            <a:r>
              <a:rPr lang="en-US" sz="1800" dirty="0">
                <a:solidFill>
                  <a:srgbClr val="D4D4D4"/>
                </a:solidFill>
                <a:latin typeface="Consolas" panose="020B0609020204030204" pitchFamily="49" charset="0"/>
              </a:rPr>
              <a:t>=</a:t>
            </a:r>
            <a:r>
              <a:rPr lang="en-US" sz="1800" dirty="0">
                <a:solidFill>
                  <a:srgbClr val="CE9178"/>
                </a:solidFill>
                <a:latin typeface="Consolas" panose="020B0609020204030204" pitchFamily="49" charset="0"/>
              </a:rPr>
              <a:t>"start </a:t>
            </a:r>
            <a:r>
              <a:rPr lang="en-US" sz="1800" dirty="0" err="1">
                <a:solidFill>
                  <a:srgbClr val="CE9178"/>
                </a:solidFill>
                <a:latin typeface="Consolas" panose="020B0609020204030204" pitchFamily="49" charset="0"/>
              </a:rPr>
              <a:t>js</a:t>
            </a:r>
            <a:r>
              <a:rPr lang="en-US" sz="1800" dirty="0">
                <a:solidFill>
                  <a:srgbClr val="CE9178"/>
                </a:solidFill>
                <a:latin typeface="Consolas" panose="020B0609020204030204" pitchFamily="49" charset="0"/>
              </a:rPr>
              <a:t>"</a:t>
            </a:r>
            <a:endParaRPr lang="en-US" sz="1800" dirty="0">
              <a:solidFill>
                <a:srgbClr val="D4D4D4"/>
              </a:solidFill>
              <a:latin typeface="Consolas" panose="020B0609020204030204" pitchFamily="49" charset="0"/>
            </a:endParaRPr>
          </a:p>
          <a:p>
            <a:pPr algn="l"/>
            <a:r>
              <a:rPr lang="en-US" sz="1800" dirty="0" err="1">
                <a:solidFill>
                  <a:srgbClr val="569CD6"/>
                </a:solidFill>
                <a:latin typeface="Consolas" panose="020B0609020204030204" pitchFamily="49" charset="0"/>
              </a:rPr>
              <a:t>typeof</a:t>
            </a:r>
            <a:r>
              <a:rPr lang="en-US" sz="1800" dirty="0">
                <a:solidFill>
                  <a:srgbClr val="D4D4D4"/>
                </a:solidFill>
                <a:latin typeface="Consolas" panose="020B0609020204030204" pitchFamily="49" charset="0"/>
              </a:rPr>
              <a:t> </a:t>
            </a:r>
            <a:r>
              <a:rPr lang="en-US" sz="1800" dirty="0">
                <a:solidFill>
                  <a:srgbClr val="9CDCFE"/>
                </a:solidFill>
                <a:latin typeface="Consolas" panose="020B0609020204030204" pitchFamily="49" charset="0"/>
              </a:rPr>
              <a:t>first</a:t>
            </a:r>
            <a:endParaRPr lang="en-US" dirty="0"/>
          </a:p>
          <a:p>
            <a:pPr>
              <a:buFont typeface="Wingdings" panose="05000000000000000000" pitchFamily="2" charset="2"/>
              <a:buChar char="ü"/>
            </a:pPr>
            <a:r>
              <a:rPr lang="he-IL" dirty="0"/>
              <a:t>ניתן להגדיר ערך קבוע ע"י המילה </a:t>
            </a:r>
            <a:r>
              <a:rPr lang="en-US" dirty="0" err="1"/>
              <a:t>const</a:t>
            </a:r>
            <a:r>
              <a:rPr lang="he-IL" dirty="0"/>
              <a:t>, ערך זה לא ניתן יהיה לשנות אותו.</a:t>
            </a:r>
          </a:p>
          <a:p>
            <a:pPr>
              <a:buFont typeface="Wingdings" panose="05000000000000000000" pitchFamily="2" charset="2"/>
              <a:buChar char="ü"/>
            </a:pPr>
            <a:r>
              <a:rPr lang="he-IL" dirty="0"/>
              <a:t> נין לסמן הערה ע"י // , אם רוצם לתחום כמה שורות אפשר גם ע"י /*...*/.</a:t>
            </a:r>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F4D78963-AD07-4F6F-9763-1CB4B8AF83F0}"/>
              </a:ext>
            </a:extLst>
          </p:cNvPr>
          <p:cNvSpPr>
            <a:spLocks noGrp="1"/>
          </p:cNvSpPr>
          <p:nvPr>
            <p:ph type="sldNum" sz="quarter" idx="12"/>
          </p:nvPr>
        </p:nvSpPr>
        <p:spPr/>
        <p:txBody>
          <a:bodyPr/>
          <a:lstStyle/>
          <a:p>
            <a:fld id="{6113E31D-E2AB-40D1-8B51-AFA5AFEF393A}" type="slidenum">
              <a:rPr lang="en-US" smtClean="0"/>
              <a:t>8</a:t>
            </a:fld>
            <a:endParaRPr lang="en-US" dirty="0"/>
          </a:p>
        </p:txBody>
      </p:sp>
    </p:spTree>
    <p:extLst>
      <p:ext uri="{BB962C8B-B14F-4D97-AF65-F5344CB8AC3E}">
        <p14:creationId xmlns:p14="http://schemas.microsoft.com/office/powerpoint/2010/main" val="2911355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דוגמאות לאתחול נתונים</a:t>
            </a:r>
          </a:p>
        </p:txBody>
      </p:sp>
      <p:sp>
        <p:nvSpPr>
          <p:cNvPr id="3" name="מציין מיקום תוכן 2"/>
          <p:cNvSpPr>
            <a:spLocks noGrp="1"/>
          </p:cNvSpPr>
          <p:nvPr>
            <p:ph idx="1"/>
          </p:nvPr>
        </p:nvSpPr>
        <p:spPr/>
        <p:txBody>
          <a:bodyPr/>
          <a:lstStyle/>
          <a:p>
            <a:pPr algn="l"/>
            <a:r>
              <a:rPr lang="en-US" dirty="0" err="1"/>
              <a:t>Var</a:t>
            </a:r>
            <a:r>
              <a:rPr lang="en-US" dirty="0"/>
              <a:t> </a:t>
            </a:r>
            <a:r>
              <a:rPr lang="en-US" dirty="0" err="1"/>
              <a:t>num</a:t>
            </a:r>
            <a:r>
              <a:rPr lang="en-US" dirty="0"/>
              <a:t>=5;</a:t>
            </a:r>
          </a:p>
          <a:p>
            <a:pPr algn="l"/>
            <a:r>
              <a:rPr lang="en-US" dirty="0"/>
              <a:t>Let </a:t>
            </a:r>
            <a:r>
              <a:rPr lang="en-US" dirty="0" err="1"/>
              <a:t>Num</a:t>
            </a:r>
            <a:r>
              <a:rPr lang="en-US" dirty="0"/>
              <a:t>=10;</a:t>
            </a:r>
          </a:p>
          <a:p>
            <a:pPr algn="l"/>
            <a:r>
              <a:rPr lang="en-US" dirty="0"/>
              <a:t>Let </a:t>
            </a:r>
            <a:r>
              <a:rPr lang="en-US" dirty="0" err="1"/>
              <a:t>str</a:t>
            </a:r>
            <a:r>
              <a:rPr lang="en-US" dirty="0"/>
              <a:t>=“</a:t>
            </a:r>
            <a:r>
              <a:rPr lang="en-US" dirty="0" err="1"/>
              <a:t>abc</a:t>
            </a:r>
            <a:r>
              <a:rPr lang="en-US" dirty="0"/>
              <a:t>”;</a:t>
            </a:r>
          </a:p>
          <a:p>
            <a:pPr algn="l"/>
            <a:r>
              <a:rPr lang="en-US" dirty="0" err="1"/>
              <a:t>Const</a:t>
            </a:r>
            <a:r>
              <a:rPr lang="en-US" dirty="0"/>
              <a:t> poi=3.14</a:t>
            </a:r>
            <a:endParaRPr lang="he-IL" dirty="0"/>
          </a:p>
          <a:p>
            <a:pPr algn="l"/>
            <a:r>
              <a:rPr lang="en-US" dirty="0"/>
              <a:t>Let sum=</a:t>
            </a:r>
            <a:r>
              <a:rPr lang="en-US" dirty="0" err="1"/>
              <a:t>num+Num</a:t>
            </a:r>
            <a:r>
              <a:rPr lang="en-US" dirty="0"/>
              <a:t>;</a:t>
            </a:r>
          </a:p>
          <a:p>
            <a:pPr algn="l"/>
            <a:r>
              <a:rPr lang="en-US" dirty="0"/>
              <a:t>Let </a:t>
            </a:r>
            <a:r>
              <a:rPr lang="en-US" dirty="0" err="1"/>
              <a:t>BigStr</a:t>
            </a:r>
            <a:r>
              <a:rPr lang="en-US" dirty="0"/>
              <a:t>=</a:t>
            </a:r>
            <a:r>
              <a:rPr lang="en-US" dirty="0" err="1"/>
              <a:t>str</a:t>
            </a:r>
            <a:r>
              <a:rPr lang="en-US" dirty="0"/>
              <a:t>+’</a:t>
            </a:r>
            <a:r>
              <a:rPr lang="en-US" dirty="0" err="1"/>
              <a:t>def</a:t>
            </a:r>
            <a:r>
              <a:rPr lang="en-US" dirty="0"/>
              <a:t>’;</a:t>
            </a:r>
          </a:p>
          <a:p>
            <a:pPr algn="l"/>
            <a:r>
              <a:rPr lang="en-US" dirty="0"/>
              <a:t>Let </a:t>
            </a:r>
            <a:r>
              <a:rPr lang="en-US" dirty="0" err="1"/>
              <a:t>arr</a:t>
            </a:r>
            <a:r>
              <a:rPr lang="en-US" dirty="0"/>
              <a:t>=new Array(); Let arr1=new Array(5); Let arr2=new Array(0,1,2);</a:t>
            </a:r>
            <a:endParaRPr lang="he-IL" dirty="0"/>
          </a:p>
          <a:p>
            <a:pPr algn="l"/>
            <a:r>
              <a:rPr lang="en-US" dirty="0"/>
              <a:t>Let arr3=[1,2,3];</a:t>
            </a:r>
            <a:endParaRPr lang="he-IL" dirty="0"/>
          </a:p>
          <a:p>
            <a:pPr algn="l"/>
            <a:endParaRPr lang="he-IL" dirty="0"/>
          </a:p>
          <a:p>
            <a:pPr algn="l"/>
            <a:endParaRPr lang="he-IL" dirty="0"/>
          </a:p>
          <a:p>
            <a:pPr marL="0" indent="0" algn="l">
              <a:buNone/>
            </a:pPr>
            <a:endParaRPr lang="he-IL"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9ADF42BE-1B7B-465D-A2B5-14E41CFD15E7}"/>
              </a:ext>
            </a:extLst>
          </p:cNvPr>
          <p:cNvSpPr>
            <a:spLocks noGrp="1"/>
          </p:cNvSpPr>
          <p:nvPr>
            <p:ph type="sldNum" sz="quarter" idx="12"/>
          </p:nvPr>
        </p:nvSpPr>
        <p:spPr/>
        <p:txBody>
          <a:bodyPr/>
          <a:lstStyle/>
          <a:p>
            <a:fld id="{6113E31D-E2AB-40D1-8B51-AFA5AFEF393A}" type="slidenum">
              <a:rPr lang="en-US" smtClean="0"/>
              <a:t>9</a:t>
            </a:fld>
            <a:endParaRPr lang="en-US" dirty="0"/>
          </a:p>
        </p:txBody>
      </p:sp>
    </p:spTree>
    <p:extLst>
      <p:ext uri="{BB962C8B-B14F-4D97-AF65-F5344CB8AC3E}">
        <p14:creationId xmlns:p14="http://schemas.microsoft.com/office/powerpoint/2010/main" val="3100498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הבדלים בין </a:t>
            </a:r>
            <a:r>
              <a:rPr lang="en-US" dirty="0"/>
              <a:t>VAR</a:t>
            </a:r>
            <a:r>
              <a:rPr lang="he-IL" dirty="0"/>
              <a:t>, </a:t>
            </a:r>
            <a:r>
              <a:rPr lang="en-US" dirty="0"/>
              <a:t>LET</a:t>
            </a:r>
            <a:r>
              <a:rPr lang="he-IL" dirty="0"/>
              <a:t> ו</a:t>
            </a:r>
            <a:r>
              <a:rPr lang="en-US" dirty="0"/>
              <a:t>CONST</a:t>
            </a:r>
            <a:endParaRPr lang="he-IL" dirty="0"/>
          </a:p>
        </p:txBody>
      </p:sp>
      <p:sp>
        <p:nvSpPr>
          <p:cNvPr id="3" name="מציין מיקום תוכן 2"/>
          <p:cNvSpPr>
            <a:spLocks noGrp="1"/>
          </p:cNvSpPr>
          <p:nvPr>
            <p:ph idx="1"/>
          </p:nvPr>
        </p:nvSpPr>
        <p:spPr/>
        <p:txBody>
          <a:bodyPr>
            <a:normAutofit fontScale="92500" lnSpcReduction="10000"/>
          </a:bodyPr>
          <a:lstStyle/>
          <a:p>
            <a:r>
              <a:rPr lang="he-IL" sz="2400" b="1" u="sng" dirty="0"/>
              <a:t>משתני </a:t>
            </a:r>
            <a:r>
              <a:rPr lang="en-US" sz="2400" b="1" u="sng" dirty="0" err="1"/>
              <a:t>var</a:t>
            </a:r>
            <a:r>
              <a:rPr lang="he-IL" sz="2400" dirty="0"/>
              <a:t> – משתנים גלובליים - מוכרים בכל התוכנית, ולא רק בבלוק בהם הוגדרו, ניתן להצהיר עליהם כמה פעמים.</a:t>
            </a:r>
          </a:p>
          <a:p>
            <a:r>
              <a:rPr lang="he-IL" sz="2400" b="1" u="sng" dirty="0"/>
              <a:t>משתני </a:t>
            </a:r>
            <a:r>
              <a:rPr lang="en-US" sz="2400" b="1" u="sng" dirty="0"/>
              <a:t>let</a:t>
            </a:r>
            <a:r>
              <a:rPr lang="he-IL" sz="2400" dirty="0"/>
              <a:t> – משתנים לוקאליים, מקומיים - מוכרים רק בבלוק בהם הוגדרו, לא ניתן להצהיר עליהם כמה פעמים באותו בלוק. (בבלוק נפרד כבר לא יהיו מוכרים ולכן ניתן להגדירם שוב.)</a:t>
            </a:r>
          </a:p>
          <a:p>
            <a:r>
              <a:rPr lang="he-IL" sz="2400" b="1" u="sng" dirty="0"/>
              <a:t>משתני </a:t>
            </a:r>
            <a:r>
              <a:rPr lang="en-US" sz="2400" b="1" u="sng" dirty="0" err="1"/>
              <a:t>const</a:t>
            </a:r>
            <a:r>
              <a:rPr lang="he-IL" sz="2400" dirty="0"/>
              <a:t> – ג"כ משתנים לוקאליים, מתנהגים כמו </a:t>
            </a:r>
            <a:r>
              <a:rPr lang="en-US" sz="2400" dirty="0"/>
              <a:t>let</a:t>
            </a:r>
            <a:r>
              <a:rPr lang="he-IL" sz="2400" dirty="0"/>
              <a:t>, רק שלא ניתן לשנות את ערכם, משתנים אלו נועדו להחזיק ערכים קבועים -  לדוג ערך של </a:t>
            </a:r>
            <a:r>
              <a:rPr lang="en-US" sz="2400" dirty="0"/>
              <a:t>pi</a:t>
            </a:r>
            <a:r>
              <a:rPr lang="he-IL" sz="2400" dirty="0"/>
              <a:t>.</a:t>
            </a:r>
          </a:p>
          <a:p>
            <a:r>
              <a:rPr lang="he-IL" b="1" dirty="0"/>
              <a:t>מבחינה מקצועית-רשמית</a:t>
            </a:r>
            <a:r>
              <a:rPr lang="he-IL" dirty="0"/>
              <a:t> </a:t>
            </a:r>
            <a:r>
              <a:rPr lang="en-US" dirty="0"/>
              <a:t> (</a:t>
            </a:r>
            <a:r>
              <a:rPr lang="en-US" dirty="0" err="1"/>
              <a:t>standardJS</a:t>
            </a:r>
            <a:r>
              <a:rPr lang="en-US" dirty="0"/>
              <a:t>) </a:t>
            </a:r>
            <a:r>
              <a:rPr lang="he-IL" dirty="0"/>
              <a:t>ההמלצה היא להשתמש כמה שיותר ב</a:t>
            </a:r>
            <a:r>
              <a:rPr lang="en-US" dirty="0"/>
              <a:t>-let </a:t>
            </a:r>
            <a:r>
              <a:rPr lang="he-IL" dirty="0"/>
              <a:t>על פני </a:t>
            </a:r>
            <a:r>
              <a:rPr lang="en-US" dirty="0" err="1"/>
              <a:t>var</a:t>
            </a:r>
            <a:r>
              <a:rPr lang="he-IL" dirty="0"/>
              <a:t>.</a:t>
            </a:r>
            <a:r>
              <a:rPr lang="en-US" dirty="0"/>
              <a:t/>
            </a:r>
            <a:br>
              <a:rPr lang="en-US" dirty="0"/>
            </a:br>
            <a:r>
              <a:rPr lang="he-IL" dirty="0"/>
              <a:t>ובמשתנה שלא מתכננים לשנות לו את הערך - ללכת תמיד על </a:t>
            </a:r>
            <a:r>
              <a:rPr lang="en-US" dirty="0" err="1"/>
              <a:t>const</a:t>
            </a:r>
            <a:r>
              <a:rPr lang="he-IL" dirty="0"/>
              <a:t>.</a:t>
            </a:r>
            <a:endParaRPr lang="en-US" dirty="0"/>
          </a:p>
          <a:p>
            <a:endParaRPr lang="he-IL" dirty="0"/>
          </a:p>
        </p:txBody>
      </p:sp>
      <p:sp>
        <p:nvSpPr>
          <p:cNvPr id="6" name="מציין מיקום של כותרת תחתונה 3"/>
          <p:cNvSpPr>
            <a:spLocks noGrp="1"/>
          </p:cNvSpPr>
          <p:nvPr>
            <p:ph type="ftr" sz="quarter" idx="11"/>
          </p:nvPr>
        </p:nvSpPr>
        <p:spPr>
          <a:xfrm>
            <a:off x="3686185" y="6459785"/>
            <a:ext cx="4822804" cy="365125"/>
          </a:xfrm>
        </p:spPr>
        <p:txBody>
          <a:bodyPr/>
          <a:lstStyle/>
          <a:p>
            <a:r>
              <a:rPr lang="en-US" dirty="0"/>
              <a:t>©</a:t>
            </a:r>
            <a:r>
              <a:rPr lang="en-US" dirty="0" err="1"/>
              <a:t>n.c.</a:t>
            </a:r>
            <a:r>
              <a:rPr lang="en-US" dirty="0"/>
              <a:t> 0527129330</a:t>
            </a:r>
          </a:p>
        </p:txBody>
      </p:sp>
      <p:sp>
        <p:nvSpPr>
          <p:cNvPr id="4" name="מציין מיקום של מספר שקופית 3"/>
          <p:cNvSpPr>
            <a:spLocks noGrp="1"/>
          </p:cNvSpPr>
          <p:nvPr>
            <p:ph type="sldNum" sz="quarter" idx="12"/>
          </p:nvPr>
        </p:nvSpPr>
        <p:spPr/>
        <p:txBody>
          <a:bodyPr/>
          <a:lstStyle/>
          <a:p>
            <a:fld id="{6113E31D-E2AB-40D1-8B51-AFA5AFEF393A}" type="slidenum">
              <a:rPr lang="en-US" smtClean="0"/>
              <a:t>10</a:t>
            </a:fld>
            <a:endParaRPr lang="en-US" dirty="0"/>
          </a:p>
        </p:txBody>
      </p:sp>
    </p:spTree>
    <p:extLst>
      <p:ext uri="{BB962C8B-B14F-4D97-AF65-F5344CB8AC3E}">
        <p14:creationId xmlns:p14="http://schemas.microsoft.com/office/powerpoint/2010/main" val="1706197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תקשורת עם המשתמש</a:t>
            </a:r>
          </a:p>
        </p:txBody>
      </p:sp>
      <p:sp>
        <p:nvSpPr>
          <p:cNvPr id="3" name="מציין מיקום תוכן 2"/>
          <p:cNvSpPr>
            <a:spLocks noGrp="1"/>
          </p:cNvSpPr>
          <p:nvPr>
            <p:ph idx="1"/>
          </p:nvPr>
        </p:nvSpPr>
        <p:spPr/>
        <p:txBody>
          <a:bodyPr/>
          <a:lstStyle/>
          <a:p>
            <a:pPr marL="457200" indent="-457200">
              <a:buFont typeface="+mj-lt"/>
              <a:buAutoNum type="arabicPeriod"/>
            </a:pPr>
            <a:r>
              <a:rPr lang="en-US" dirty="0"/>
              <a:t>Alert</a:t>
            </a:r>
            <a:r>
              <a:rPr lang="he-IL" dirty="0"/>
              <a:t> – הצגת חלון עם הודעה. ההודעה נקבעת בקוד, יכולה להיות משתנה או ערך קבוע.</a:t>
            </a:r>
          </a:p>
          <a:p>
            <a:pPr marL="457200" indent="-457200">
              <a:buFont typeface="+mj-lt"/>
              <a:buAutoNum type="arabicPeriod"/>
            </a:pPr>
            <a:r>
              <a:rPr lang="en-US" dirty="0"/>
              <a:t>Prompt</a:t>
            </a:r>
            <a:r>
              <a:rPr lang="he-IL" dirty="0"/>
              <a:t> – הצגת הודעה למשתמש עם אפשרות להכנסת ערך עי המשתמש.</a:t>
            </a:r>
          </a:p>
          <a:p>
            <a:pPr marL="457200" indent="-457200">
              <a:buFont typeface="+mj-lt"/>
              <a:buAutoNum type="arabicPeriod"/>
            </a:pPr>
            <a:r>
              <a:rPr lang="en-US" dirty="0"/>
              <a:t>Confirm</a:t>
            </a:r>
            <a:r>
              <a:rPr lang="he-IL" dirty="0"/>
              <a:t> – הצגת הודעה שמאפשרת למשתמש לאשר או לדחות.</a:t>
            </a:r>
          </a:p>
          <a:p>
            <a:pPr marL="457200" indent="-457200">
              <a:buFont typeface="+mj-lt"/>
              <a:buAutoNum type="arabicPeriod"/>
            </a:pPr>
            <a:endParaRPr lang="he-IL" dirty="0"/>
          </a:p>
          <a:p>
            <a:pPr marL="0" indent="0">
              <a:buNone/>
            </a:pPr>
            <a:r>
              <a:rPr lang="he-IL" dirty="0"/>
              <a:t>בכל אחת משלושת האפשרויות החלון שנפתח הוא </a:t>
            </a:r>
            <a:r>
              <a:rPr lang="en-US" dirty="0"/>
              <a:t>modal window</a:t>
            </a:r>
            <a:r>
              <a:rPr lang="he-IL" dirty="0"/>
              <a:t> – לא מאפשר המשך הרצת </a:t>
            </a:r>
            <a:r>
              <a:rPr lang="en-US" dirty="0"/>
              <a:t>script</a:t>
            </a:r>
            <a:r>
              <a:rPr lang="he-IL" dirty="0"/>
              <a:t> או כל פעילת אחרת בדף. כמו כן יש לו שני חסרונות:</a:t>
            </a:r>
          </a:p>
          <a:p>
            <a:pPr marL="457200" indent="-457200">
              <a:buAutoNum type="arabicPeriod"/>
            </a:pPr>
            <a:r>
              <a:rPr lang="he-IL" dirty="0"/>
              <a:t>מיקום החלון נקבע עי הדפדפן.</a:t>
            </a:r>
          </a:p>
          <a:p>
            <a:pPr marL="457200" indent="-457200">
              <a:buAutoNum type="arabicPeriod"/>
            </a:pPr>
            <a:r>
              <a:rPr lang="he-IL" dirty="0"/>
              <a:t>לא ניתן לעצב את החלון. לכל דפדפן יש עיצוב ברירת מחדל שלו.</a:t>
            </a:r>
          </a:p>
          <a:p>
            <a:pPr marL="0" indent="0">
              <a:buNone/>
            </a:pPr>
            <a:endParaRPr lang="he-IL" dirty="0"/>
          </a:p>
        </p:txBody>
      </p:sp>
      <p:sp>
        <p:nvSpPr>
          <p:cNvPr id="5" name="מציין מיקום של כותרת תחתונה 3"/>
          <p:cNvSpPr>
            <a:spLocks noGrp="1"/>
          </p:cNvSpPr>
          <p:nvPr>
            <p:ph type="ftr" sz="quarter" idx="11"/>
          </p:nvPr>
        </p:nvSpPr>
        <p:spPr>
          <a:xfrm>
            <a:off x="499640" y="6275058"/>
            <a:ext cx="4822804" cy="365125"/>
          </a:xfrm>
        </p:spPr>
        <p:txBody>
          <a:bodyPr/>
          <a:lstStyle/>
          <a:p>
            <a:r>
              <a:rPr lang="en-US" dirty="0"/>
              <a:t>©</a:t>
            </a:r>
            <a:r>
              <a:rPr lang="en-US" dirty="0" err="1"/>
              <a:t>n.c.</a:t>
            </a:r>
            <a:r>
              <a:rPr lang="en-US" dirty="0"/>
              <a:t> 0527129330</a:t>
            </a:r>
          </a:p>
        </p:txBody>
      </p:sp>
      <p:sp>
        <p:nvSpPr>
          <p:cNvPr id="4" name="מציין מיקום של מספר שקופית 3">
            <a:extLst>
              <a:ext uri="{FF2B5EF4-FFF2-40B4-BE49-F238E27FC236}">
                <a16:creationId xmlns:a16="http://schemas.microsoft.com/office/drawing/2014/main" id="{497F33F4-BAB5-4BF3-BF1C-01BFBDC2CA04}"/>
              </a:ext>
            </a:extLst>
          </p:cNvPr>
          <p:cNvSpPr>
            <a:spLocks noGrp="1"/>
          </p:cNvSpPr>
          <p:nvPr>
            <p:ph type="sldNum" sz="quarter" idx="12"/>
          </p:nvPr>
        </p:nvSpPr>
        <p:spPr/>
        <p:txBody>
          <a:bodyPr/>
          <a:lstStyle/>
          <a:p>
            <a:fld id="{6113E31D-E2AB-40D1-8B51-AFA5AFEF393A}" type="slidenum">
              <a:rPr lang="en-US" smtClean="0"/>
              <a:t>11</a:t>
            </a:fld>
            <a:endParaRPr lang="en-US" dirty="0"/>
          </a:p>
        </p:txBody>
      </p:sp>
    </p:spTree>
    <p:extLst>
      <p:ext uri="{BB962C8B-B14F-4D97-AF65-F5344CB8AC3E}">
        <p14:creationId xmlns:p14="http://schemas.microsoft.com/office/powerpoint/2010/main" val="1375092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פונקציות </a:t>
            </a:r>
            <a:r>
              <a:rPr lang="en-US" dirty="0"/>
              <a:t>Function -</a:t>
            </a:r>
            <a:r>
              <a:rPr lang="he-IL" dirty="0"/>
              <a:t> </a:t>
            </a:r>
          </a:p>
        </p:txBody>
      </p:sp>
      <p:sp>
        <p:nvSpPr>
          <p:cNvPr id="3" name="מציין מיקום תוכן 2"/>
          <p:cNvSpPr>
            <a:spLocks noGrp="1"/>
          </p:cNvSpPr>
          <p:nvPr>
            <p:ph idx="1"/>
          </p:nvPr>
        </p:nvSpPr>
        <p:spPr/>
        <p:txBody>
          <a:bodyPr>
            <a:normAutofit fontScale="85000" lnSpcReduction="20000"/>
          </a:bodyPr>
          <a:lstStyle/>
          <a:p>
            <a:pPr>
              <a:buFont typeface="Wingdings" panose="05000000000000000000" pitchFamily="2" charset="2"/>
              <a:buChar char="q"/>
            </a:pPr>
            <a:r>
              <a:rPr lang="he-IL" dirty="0"/>
              <a:t> פונקציה היא בלוק של קוד שנועד לבצע משימה מסוימת.</a:t>
            </a:r>
          </a:p>
          <a:p>
            <a:pPr>
              <a:buFont typeface="Wingdings" panose="05000000000000000000" pitchFamily="2" charset="2"/>
              <a:buChar char="q"/>
            </a:pPr>
            <a:r>
              <a:rPr lang="he-IL" dirty="0"/>
              <a:t> פונקציות מאפשרות את אחד העקרונות החשובים בתכנות – </a:t>
            </a:r>
            <a:r>
              <a:rPr lang="en-US" dirty="0" err="1"/>
              <a:t>reuseability</a:t>
            </a:r>
            <a:r>
              <a:rPr lang="he-IL" dirty="0"/>
              <a:t> כלומר היכולת להשתמש מס' פעמים באותו קוד בלי לשכפל אותו.</a:t>
            </a:r>
          </a:p>
          <a:p>
            <a:pPr>
              <a:buFont typeface="Wingdings" panose="05000000000000000000" pitchFamily="2" charset="2"/>
              <a:buChar char="q"/>
            </a:pPr>
            <a:r>
              <a:rPr lang="he-IL" dirty="0"/>
              <a:t> תחביר: </a:t>
            </a:r>
          </a:p>
          <a:p>
            <a:pPr marL="0" indent="0" algn="l">
              <a:buNone/>
            </a:pPr>
            <a:r>
              <a:rPr lang="en-US" dirty="0"/>
              <a:t>Function [</a:t>
            </a:r>
            <a:r>
              <a:rPr lang="en-US" dirty="0" err="1"/>
              <a:t>func_name</a:t>
            </a:r>
            <a:r>
              <a:rPr lang="en-US" dirty="0"/>
              <a:t>]([parameter1, parameter2,…])</a:t>
            </a:r>
          </a:p>
          <a:p>
            <a:pPr marL="0" indent="0" algn="l">
              <a:buNone/>
            </a:pPr>
            <a:r>
              <a:rPr lang="en-US" dirty="0"/>
              <a:t>{</a:t>
            </a:r>
            <a:endParaRPr lang="he-IL" dirty="0"/>
          </a:p>
          <a:p>
            <a:pPr marL="0" indent="0" algn="l">
              <a:buNone/>
            </a:pPr>
            <a:r>
              <a:rPr lang="en-US" dirty="0"/>
              <a:t>[Code function…]</a:t>
            </a:r>
          </a:p>
          <a:p>
            <a:pPr marL="0" indent="0" algn="l">
              <a:buNone/>
            </a:pPr>
            <a:r>
              <a:rPr lang="en-US" dirty="0"/>
              <a:t>}</a:t>
            </a:r>
            <a:endParaRPr lang="he-IL" dirty="0"/>
          </a:p>
          <a:p>
            <a:pPr>
              <a:buFont typeface="Wingdings" panose="05000000000000000000" pitchFamily="2" charset="2"/>
              <a:buChar char="q"/>
            </a:pPr>
            <a:r>
              <a:rPr lang="he-IL" dirty="0"/>
              <a:t> הפונקציה תופעל כאשר משהו יפעיל אותה, וזה יכול להיות כתוצאה מאירוע, קריאה רגילה מתוך קטע קוד אחר, או שהפונקציה עצמה קוראת לעצמה (רקורסיה).</a:t>
            </a:r>
          </a:p>
          <a:p>
            <a:pPr>
              <a:buFont typeface="Wingdings" panose="05000000000000000000" pitchFamily="2" charset="2"/>
              <a:buChar char="q"/>
            </a:pPr>
            <a:r>
              <a:rPr lang="he-IL" dirty="0"/>
              <a:t> החזרת ערך מפונקציה מתבצעת באמצעות המילה השמורה </a:t>
            </a:r>
            <a:r>
              <a:rPr lang="en-US" dirty="0"/>
              <a:t>return</a:t>
            </a:r>
            <a:r>
              <a:rPr lang="he-IL" dirty="0"/>
              <a:t>, אין חובה להחזיר ערך מפונקציה . </a:t>
            </a:r>
            <a:r>
              <a:rPr lang="en-US" dirty="0"/>
              <a:t>Return </a:t>
            </a:r>
            <a:r>
              <a:rPr lang="he-IL" dirty="0"/>
              <a:t> מסיים את פעולת הפונקציה .</a:t>
            </a:r>
          </a:p>
        </p:txBody>
      </p:sp>
      <p:sp>
        <p:nvSpPr>
          <p:cNvPr id="4" name="מציין מיקום של כותרת תחתונה 3"/>
          <p:cNvSpPr>
            <a:spLocks noGrp="1"/>
          </p:cNvSpPr>
          <p:nvPr>
            <p:ph type="ftr" sz="quarter" idx="11"/>
          </p:nvPr>
        </p:nvSpPr>
        <p:spPr/>
        <p:txBody>
          <a:bodyPr/>
          <a:lstStyle/>
          <a:p>
            <a:r>
              <a:rPr lang="en-US" dirty="0"/>
              <a:t>©</a:t>
            </a:r>
            <a:r>
              <a:rPr lang="en-US" dirty="0" err="1"/>
              <a:t>n.c.</a:t>
            </a:r>
            <a:r>
              <a:rPr lang="en-US" dirty="0"/>
              <a:t> 0527129330</a:t>
            </a:r>
          </a:p>
        </p:txBody>
      </p:sp>
      <p:sp>
        <p:nvSpPr>
          <p:cNvPr id="5" name="מציין מיקום של מספר שקופית 4">
            <a:extLst>
              <a:ext uri="{FF2B5EF4-FFF2-40B4-BE49-F238E27FC236}">
                <a16:creationId xmlns:a16="http://schemas.microsoft.com/office/drawing/2014/main" id="{43709223-587E-46E0-9BBB-0AF0405ABE68}"/>
              </a:ext>
            </a:extLst>
          </p:cNvPr>
          <p:cNvSpPr>
            <a:spLocks noGrp="1"/>
          </p:cNvSpPr>
          <p:nvPr>
            <p:ph type="sldNum" sz="quarter" idx="12"/>
          </p:nvPr>
        </p:nvSpPr>
        <p:spPr/>
        <p:txBody>
          <a:bodyPr/>
          <a:lstStyle/>
          <a:p>
            <a:fld id="{6113E31D-E2AB-40D1-8B51-AFA5AFEF393A}" type="slidenum">
              <a:rPr lang="en-US" smtClean="0"/>
              <a:t>12</a:t>
            </a:fld>
            <a:endParaRPr lang="en-US" dirty="0"/>
          </a:p>
        </p:txBody>
      </p:sp>
    </p:spTree>
    <p:extLst>
      <p:ext uri="{BB962C8B-B14F-4D97-AF65-F5344CB8AC3E}">
        <p14:creationId xmlns:p14="http://schemas.microsoft.com/office/powerpoint/2010/main" val="995959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פונקציות חץ - </a:t>
            </a:r>
            <a:r>
              <a:rPr lang="en-US" dirty="0"/>
              <a:t>Arrow function</a:t>
            </a:r>
            <a:endParaRPr lang="he-IL" dirty="0"/>
          </a:p>
        </p:txBody>
      </p:sp>
      <p:sp>
        <p:nvSpPr>
          <p:cNvPr id="3" name="מציין מיקום תוכן 2"/>
          <p:cNvSpPr>
            <a:spLocks noGrp="1"/>
          </p:cNvSpPr>
          <p:nvPr>
            <p:ph idx="1"/>
          </p:nvPr>
        </p:nvSpPr>
        <p:spPr/>
        <p:txBody>
          <a:bodyPr>
            <a:normAutofit lnSpcReduction="10000"/>
          </a:bodyPr>
          <a:lstStyle/>
          <a:p>
            <a:r>
              <a:rPr lang="he-IL" dirty="0"/>
              <a:t>בגרסה של 2015 התווספה האפשרות של פונקציות חץ (ביטויי למבדא).</a:t>
            </a:r>
          </a:p>
          <a:p>
            <a:r>
              <a:rPr lang="he-IL" dirty="0"/>
              <a:t>הפונקציה נכתבת עם הסימנים &lt;= כאשר משמאל לסימן יופיעו הפרמטרים ומימינו הביטוי\ביטויים. בדוגמא הבאה</a:t>
            </a:r>
          </a:p>
          <a:p>
            <a:r>
              <a:rPr lang="he-IL" dirty="0"/>
              <a:t>הפונקציה נשמרת במשתנה ומופעלת לאחר מכן:</a:t>
            </a:r>
          </a:p>
          <a:p>
            <a:pPr marL="0" indent="0" algn="l">
              <a:buNone/>
            </a:pPr>
            <a:r>
              <a:rPr lang="en-US" dirty="0"/>
              <a:t>let </a:t>
            </a:r>
            <a:r>
              <a:rPr lang="en-US" dirty="0" err="1"/>
              <a:t>arrowFunc</a:t>
            </a:r>
            <a:r>
              <a:rPr lang="en-US" dirty="0"/>
              <a:t> = () =&gt; console.log(“arrow </a:t>
            </a:r>
            <a:r>
              <a:rPr lang="en-US" dirty="0" err="1"/>
              <a:t>func</a:t>
            </a:r>
            <a:r>
              <a:rPr lang="en-US" dirty="0"/>
              <a:t>, no </a:t>
            </a:r>
            <a:r>
              <a:rPr lang="en-US" dirty="0" err="1"/>
              <a:t>params</a:t>
            </a:r>
            <a:r>
              <a:rPr lang="en-US" dirty="0"/>
              <a:t>, one statement");</a:t>
            </a:r>
          </a:p>
          <a:p>
            <a:pPr marL="0" indent="0" algn="l">
              <a:buNone/>
            </a:pPr>
            <a:r>
              <a:rPr lang="en-US" dirty="0" err="1"/>
              <a:t>arrowFunc</a:t>
            </a:r>
            <a:r>
              <a:rPr lang="en-US" dirty="0"/>
              <a:t>();</a:t>
            </a:r>
          </a:p>
          <a:p>
            <a:r>
              <a:rPr lang="he-IL" dirty="0"/>
              <a:t>עבור יותר מפקודה אחת חובה לכתוב מימין ל &lt;= סוגריים מסולסלים. </a:t>
            </a:r>
          </a:p>
          <a:p>
            <a:r>
              <a:rPr lang="he-IL" dirty="0"/>
              <a:t>הסיבות להוספת תחביר זה:</a:t>
            </a:r>
          </a:p>
          <a:p>
            <a:r>
              <a:rPr lang="he-IL" dirty="0"/>
              <a:t> כתיב מקוצר יותר – משמעותי מאד בפונקציות שמקבלות פונקציה כפרמטר.</a:t>
            </a:r>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9A1EC4ED-2B36-46CF-B296-586AB8C18FDE}"/>
              </a:ext>
            </a:extLst>
          </p:cNvPr>
          <p:cNvSpPr>
            <a:spLocks noGrp="1"/>
          </p:cNvSpPr>
          <p:nvPr>
            <p:ph type="sldNum" sz="quarter" idx="12"/>
          </p:nvPr>
        </p:nvSpPr>
        <p:spPr/>
        <p:txBody>
          <a:bodyPr/>
          <a:lstStyle/>
          <a:p>
            <a:fld id="{6113E31D-E2AB-40D1-8B51-AFA5AFEF393A}" type="slidenum">
              <a:rPr lang="en-US" smtClean="0"/>
              <a:t>13</a:t>
            </a:fld>
            <a:endParaRPr lang="en-US" dirty="0"/>
          </a:p>
        </p:txBody>
      </p:sp>
    </p:spTree>
    <p:extLst>
      <p:ext uri="{BB962C8B-B14F-4D97-AF65-F5344CB8AC3E}">
        <p14:creationId xmlns:p14="http://schemas.microsoft.com/office/powerpoint/2010/main" val="1484376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אירועים</a:t>
            </a:r>
          </a:p>
        </p:txBody>
      </p:sp>
      <p:sp>
        <p:nvSpPr>
          <p:cNvPr id="3" name="מציין מיקום תוכן 2"/>
          <p:cNvSpPr>
            <a:spLocks noGrp="1"/>
          </p:cNvSpPr>
          <p:nvPr>
            <p:ph idx="1"/>
          </p:nvPr>
        </p:nvSpPr>
        <p:spPr/>
        <p:txBody>
          <a:bodyPr>
            <a:normAutofit/>
          </a:bodyPr>
          <a:lstStyle/>
          <a:p>
            <a:r>
              <a:rPr lang="he-IL" sz="2800" dirty="0"/>
              <a:t>אירוע – התרחשות מסוימת.</a:t>
            </a:r>
          </a:p>
          <a:p>
            <a:r>
              <a:rPr lang="he-IL" sz="2800" dirty="0"/>
              <a:t>מקור ההתרחשות -  הם פעולות שמבצע המשתמש בדפדפן, אבל לא חייב להיות </a:t>
            </a:r>
            <a:r>
              <a:rPr lang="he-IL" sz="2400" dirty="0"/>
              <a:t>(כמו למשל זריקת שגיאה)</a:t>
            </a:r>
            <a:r>
              <a:rPr lang="he-IL" sz="2800" dirty="0"/>
              <a:t>. אירוע יכול להיות לחיצה על העכבר, תזוזה של העכבר, הקלדה על אחד המקשים במקלדת ואפילו סגירת חלון הדפדפן. כאשר עובדים בסביבה גרפית (כמו הדפדפן), אירועים הם הכוח המניע את התוכנית. </a:t>
            </a:r>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90A995CA-67D8-4B0C-A088-EF48B2BDD1DC}"/>
              </a:ext>
            </a:extLst>
          </p:cNvPr>
          <p:cNvSpPr>
            <a:spLocks noGrp="1"/>
          </p:cNvSpPr>
          <p:nvPr>
            <p:ph type="sldNum" sz="quarter" idx="12"/>
          </p:nvPr>
        </p:nvSpPr>
        <p:spPr/>
        <p:txBody>
          <a:bodyPr/>
          <a:lstStyle/>
          <a:p>
            <a:fld id="{6113E31D-E2AB-40D1-8B51-AFA5AFEF393A}" type="slidenum">
              <a:rPr lang="en-US" smtClean="0"/>
              <a:t>14</a:t>
            </a:fld>
            <a:endParaRPr lang="en-US" dirty="0"/>
          </a:p>
        </p:txBody>
      </p:sp>
    </p:spTree>
    <p:extLst>
      <p:ext uri="{BB962C8B-B14F-4D97-AF65-F5344CB8AC3E}">
        <p14:creationId xmlns:p14="http://schemas.microsoft.com/office/powerpoint/2010/main" val="1866824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סוגי אירועים</a:t>
            </a:r>
          </a:p>
        </p:txBody>
      </p:sp>
      <p:sp>
        <p:nvSpPr>
          <p:cNvPr id="3" name="מציין מיקום תוכן 2"/>
          <p:cNvSpPr>
            <a:spLocks noGrp="1"/>
          </p:cNvSpPr>
          <p:nvPr>
            <p:ph idx="1"/>
          </p:nvPr>
        </p:nvSpPr>
        <p:spPr/>
        <p:txBody>
          <a:bodyPr/>
          <a:lstStyle/>
          <a:p>
            <a:r>
              <a:rPr lang="he-IL" sz="2800" u="sng" dirty="0">
                <a:latin typeface="EFT_Afarsek" panose="01000503000000020003" pitchFamily="2" charset="-79"/>
                <a:cs typeface="EFT_Afarsek" panose="01000503000000020003" pitchFamily="2" charset="-79"/>
              </a:rPr>
              <a:t>אירועי עכבר:</a:t>
            </a:r>
            <a:endParaRPr lang="en-US" sz="2800" dirty="0">
              <a:latin typeface="EFT_Afarsek" panose="01000503000000020003" pitchFamily="2" charset="-79"/>
              <a:cs typeface="EFT_Afarsek" panose="01000503000000020003" pitchFamily="2" charset="-79"/>
            </a:endParaRPr>
          </a:p>
          <a:p>
            <a:pPr>
              <a:buFont typeface="Wingdings" panose="05000000000000000000" pitchFamily="2" charset="2"/>
              <a:buChar char="Ø"/>
            </a:pPr>
            <a:r>
              <a:rPr lang="he-IL" dirty="0"/>
              <a:t> </a:t>
            </a:r>
            <a:r>
              <a:rPr lang="en-US" dirty="0" err="1"/>
              <a:t>onclick</a:t>
            </a:r>
            <a:r>
              <a:rPr lang="he-IL" dirty="0"/>
              <a:t>- כאשר נרצה להגיב לאירוע של לחיצת הכפתור השמאלי בעכבר -בעת לחיצת העכבר</a:t>
            </a:r>
            <a:endParaRPr lang="en-US" dirty="0"/>
          </a:p>
          <a:p>
            <a:pPr lvl="0">
              <a:buFont typeface="Wingdings" panose="05000000000000000000" pitchFamily="2" charset="2"/>
              <a:buChar char="Ø"/>
            </a:pPr>
            <a:r>
              <a:rPr lang="he-IL" dirty="0"/>
              <a:t> </a:t>
            </a:r>
            <a:r>
              <a:rPr lang="en-US" dirty="0" err="1"/>
              <a:t>ondblclick</a:t>
            </a:r>
            <a:r>
              <a:rPr lang="he-IL" dirty="0"/>
              <a:t>-אירוע של הקלקה כפולה על רכיב כלשהו בדפדפן.</a:t>
            </a:r>
            <a:endParaRPr lang="en-US" dirty="0"/>
          </a:p>
          <a:p>
            <a:pPr lvl="0">
              <a:buFont typeface="Wingdings" panose="05000000000000000000" pitchFamily="2" charset="2"/>
              <a:buChar char="Ø"/>
            </a:pPr>
            <a:r>
              <a:rPr lang="he-IL" dirty="0"/>
              <a:t> </a:t>
            </a:r>
            <a:r>
              <a:rPr lang="en-US" dirty="0" err="1"/>
              <a:t>onMouseDown</a:t>
            </a:r>
            <a:r>
              <a:rPr lang="en-US" dirty="0"/>
              <a:t>, </a:t>
            </a:r>
            <a:r>
              <a:rPr lang="en-US" dirty="0" err="1"/>
              <a:t>onMouseUp</a:t>
            </a:r>
            <a:r>
              <a:rPr lang="he-IL" dirty="0"/>
              <a:t> -כאשר המשתמש "מקליק" על העכבר הוא מבצע שתי פעולות: לחיצה למטה על הכפתור (</a:t>
            </a:r>
            <a:r>
              <a:rPr lang="en-US" dirty="0" err="1"/>
              <a:t>mousedown</a:t>
            </a:r>
            <a:r>
              <a:rPr lang="he-IL" dirty="0"/>
              <a:t>) ועזיבת הכפתור שלחץ (</a:t>
            </a:r>
            <a:r>
              <a:rPr lang="en-US" dirty="0" err="1"/>
              <a:t>mouseup</a:t>
            </a:r>
            <a:r>
              <a:rPr lang="he-IL" dirty="0"/>
              <a:t>). האירוע </a:t>
            </a:r>
            <a:r>
              <a:rPr lang="en-US" dirty="0" err="1"/>
              <a:t>onclick</a:t>
            </a:r>
            <a:r>
              <a:rPr lang="he-IL" dirty="0"/>
              <a:t> אינו מבדיל בין שני האירועים, וכדי להגיב על אחד מהאירועים בנפרד יש לשתול האירוע </a:t>
            </a:r>
            <a:r>
              <a:rPr lang="he-IL" dirty="0" err="1"/>
              <a:t>הרלווטני</a:t>
            </a:r>
            <a:r>
              <a:rPr lang="he-IL" dirty="0"/>
              <a:t>.</a:t>
            </a:r>
            <a:endParaRPr lang="en-US" dirty="0"/>
          </a:p>
          <a:p>
            <a:pPr lvl="0">
              <a:buFont typeface="Wingdings" panose="05000000000000000000" pitchFamily="2" charset="2"/>
              <a:buChar char="Ø"/>
            </a:pPr>
            <a:r>
              <a:rPr lang="he-IL" dirty="0"/>
              <a:t> </a:t>
            </a:r>
            <a:r>
              <a:rPr lang="en-US" dirty="0" err="1"/>
              <a:t>onMouseOver</a:t>
            </a:r>
            <a:r>
              <a:rPr lang="en-US" dirty="0"/>
              <a:t>, </a:t>
            </a:r>
            <a:r>
              <a:rPr lang="en-US" dirty="0" err="1"/>
              <a:t>onMouseOut</a:t>
            </a:r>
            <a:r>
              <a:rPr lang="he-IL" dirty="0"/>
              <a:t>- אירועים אלו מופיעים כאשר עובר העכבר מעל רכיב כלשהו. </a:t>
            </a:r>
            <a:endParaRPr lang="en-US"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80693833-FD3D-4C9F-81DA-7C16CDD4500E}"/>
              </a:ext>
            </a:extLst>
          </p:cNvPr>
          <p:cNvSpPr>
            <a:spLocks noGrp="1"/>
          </p:cNvSpPr>
          <p:nvPr>
            <p:ph type="sldNum" sz="quarter" idx="12"/>
          </p:nvPr>
        </p:nvSpPr>
        <p:spPr/>
        <p:txBody>
          <a:bodyPr/>
          <a:lstStyle/>
          <a:p>
            <a:fld id="{6113E31D-E2AB-40D1-8B51-AFA5AFEF393A}" type="slidenum">
              <a:rPr lang="en-US" smtClean="0"/>
              <a:t>15</a:t>
            </a:fld>
            <a:endParaRPr lang="en-US" dirty="0"/>
          </a:p>
        </p:txBody>
      </p:sp>
    </p:spTree>
    <p:extLst>
      <p:ext uri="{BB962C8B-B14F-4D97-AF65-F5344CB8AC3E}">
        <p14:creationId xmlns:p14="http://schemas.microsoft.com/office/powerpoint/2010/main" val="1404590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סוגי אירועים</a:t>
            </a:r>
          </a:p>
        </p:txBody>
      </p:sp>
      <p:sp>
        <p:nvSpPr>
          <p:cNvPr id="3" name="מציין מיקום תוכן 2"/>
          <p:cNvSpPr>
            <a:spLocks noGrp="1"/>
          </p:cNvSpPr>
          <p:nvPr>
            <p:ph idx="1"/>
          </p:nvPr>
        </p:nvSpPr>
        <p:spPr/>
        <p:txBody>
          <a:bodyPr/>
          <a:lstStyle/>
          <a:p>
            <a:r>
              <a:rPr lang="he-IL" sz="2800" u="sng" dirty="0">
                <a:latin typeface="EFT_Afarsek" panose="01000503000000020003" pitchFamily="2" charset="-79"/>
                <a:cs typeface="EFT_Afarsek" panose="01000503000000020003" pitchFamily="2" charset="-79"/>
              </a:rPr>
              <a:t>אירועי פוקוס:</a:t>
            </a:r>
            <a:endParaRPr lang="en-US" sz="2800" dirty="0">
              <a:latin typeface="EFT_Afarsek" panose="01000503000000020003" pitchFamily="2" charset="-79"/>
              <a:cs typeface="EFT_Afarsek" panose="01000503000000020003" pitchFamily="2" charset="-79"/>
            </a:endParaRPr>
          </a:p>
          <a:p>
            <a:r>
              <a:rPr lang="he-IL" dirty="0"/>
              <a:t> </a:t>
            </a:r>
            <a:r>
              <a:rPr lang="en-US" dirty="0" err="1"/>
              <a:t>onBlur</a:t>
            </a:r>
            <a:r>
              <a:rPr lang="en-US" dirty="0"/>
              <a:t>, </a:t>
            </a:r>
            <a:r>
              <a:rPr lang="en-US" dirty="0" err="1"/>
              <a:t>onFocus</a:t>
            </a:r>
            <a:endParaRPr lang="en-US" dirty="0"/>
          </a:p>
          <a:p>
            <a:r>
              <a:rPr lang="he-IL" dirty="0"/>
              <a:t>כאשר עובדים במערכת הפעלה חלונית כמו </a:t>
            </a:r>
            <a:r>
              <a:rPr lang="en-US" dirty="0"/>
              <a:t>windows</a:t>
            </a:r>
            <a:r>
              <a:rPr lang="he-IL" dirty="0"/>
              <a:t>, החלון בו משתמשים ברגע נתון הוא החלון עם הפוקוס (</a:t>
            </a:r>
            <a:r>
              <a:rPr lang="en-US" dirty="0"/>
              <a:t>focus</a:t>
            </a:r>
            <a:r>
              <a:rPr lang="he-IL" dirty="0"/>
              <a:t>-מיקוד). ולחלון זה עוברים האירועים שמזהה מערכת ההפעלה. כאשר נעבור לחלון אחר, החלון הקודם מאבד את הפוקוס (</a:t>
            </a:r>
            <a:r>
              <a:rPr lang="en-US" dirty="0"/>
              <a:t>blur</a:t>
            </a:r>
            <a:r>
              <a:rPr lang="he-IL" dirty="0"/>
              <a:t>) והחלון החדש מקבל את הפוקוס. גם בתוך החלון עצמו ישנו פוקוס פנימי, למשל בין רכיבי הטופס. כאשר נמצאים בשדה טקסט מסוים הוא מקבל את הפוקוס וכאשר  נעבור לשדה אחר, הוא יאבד את הפוקוס והשני יקבל את הפוקוס. (לדוגמא</a:t>
            </a:r>
            <a:r>
              <a:rPr lang="en-US" dirty="0"/>
              <a:t>:</a:t>
            </a:r>
            <a:r>
              <a:rPr lang="he-IL" dirty="0"/>
              <a:t> במעבר בין תיבות טקסט בדיקה האם המשתמש אכן הכניס טקסט).</a:t>
            </a:r>
            <a:endParaRPr lang="en-US"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214D197B-EEF8-470A-B471-5932ED1A90B1}"/>
              </a:ext>
            </a:extLst>
          </p:cNvPr>
          <p:cNvSpPr>
            <a:spLocks noGrp="1"/>
          </p:cNvSpPr>
          <p:nvPr>
            <p:ph type="sldNum" sz="quarter" idx="12"/>
          </p:nvPr>
        </p:nvSpPr>
        <p:spPr/>
        <p:txBody>
          <a:bodyPr/>
          <a:lstStyle/>
          <a:p>
            <a:fld id="{6113E31D-E2AB-40D1-8B51-AFA5AFEF393A}" type="slidenum">
              <a:rPr lang="en-US" smtClean="0"/>
              <a:t>16</a:t>
            </a:fld>
            <a:endParaRPr lang="en-US" dirty="0"/>
          </a:p>
        </p:txBody>
      </p:sp>
    </p:spTree>
    <p:extLst>
      <p:ext uri="{BB962C8B-B14F-4D97-AF65-F5344CB8AC3E}">
        <p14:creationId xmlns:p14="http://schemas.microsoft.com/office/powerpoint/2010/main" val="4010885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סוגי אירועים</a:t>
            </a:r>
          </a:p>
        </p:txBody>
      </p:sp>
      <p:sp>
        <p:nvSpPr>
          <p:cNvPr id="3" name="מציין מיקום תוכן 2"/>
          <p:cNvSpPr>
            <a:spLocks noGrp="1"/>
          </p:cNvSpPr>
          <p:nvPr>
            <p:ph idx="1"/>
          </p:nvPr>
        </p:nvSpPr>
        <p:spPr/>
        <p:txBody>
          <a:bodyPr>
            <a:normAutofit fontScale="85000" lnSpcReduction="20000"/>
          </a:bodyPr>
          <a:lstStyle/>
          <a:p>
            <a:r>
              <a:rPr lang="he-IL" sz="2800" u="sng" dirty="0">
                <a:latin typeface="EFT_Afarsek" panose="01000503000000020003" pitchFamily="2" charset="-79"/>
                <a:cs typeface="EFT_Afarsek" panose="01000503000000020003" pitchFamily="2" charset="-79"/>
              </a:rPr>
              <a:t>אירועי טעינה:</a:t>
            </a:r>
            <a:endParaRPr lang="en-US" sz="2800" dirty="0">
              <a:latin typeface="EFT_Afarsek" panose="01000503000000020003" pitchFamily="2" charset="-79"/>
              <a:cs typeface="EFT_Afarsek" panose="01000503000000020003" pitchFamily="2" charset="-79"/>
            </a:endParaRPr>
          </a:p>
          <a:p>
            <a:r>
              <a:rPr lang="he-IL" dirty="0"/>
              <a:t> </a:t>
            </a:r>
            <a:r>
              <a:rPr lang="en-US" dirty="0" err="1"/>
              <a:t>onLoad</a:t>
            </a:r>
            <a:r>
              <a:rPr lang="en-US" dirty="0"/>
              <a:t>, </a:t>
            </a:r>
            <a:r>
              <a:rPr lang="en-US" dirty="0" err="1"/>
              <a:t>onUnload</a:t>
            </a:r>
            <a:r>
              <a:rPr lang="he-IL" dirty="0"/>
              <a:t>- אירועים אילו מגדירים לנו את הפעולות של סיום הטענת מסמך לדפדפן (</a:t>
            </a:r>
            <a:r>
              <a:rPr lang="en-US" dirty="0" err="1"/>
              <a:t>onload</a:t>
            </a:r>
            <a:r>
              <a:rPr lang="he-IL" dirty="0"/>
              <a:t>) או טעינת מסמך אחר לדפדפן או סגירת החלון (</a:t>
            </a:r>
            <a:r>
              <a:rPr lang="en-US" dirty="0" err="1"/>
              <a:t>onUnload</a:t>
            </a:r>
            <a:r>
              <a:rPr lang="he-IL" dirty="0"/>
              <a:t>). כדי להפעילם יש לכולל אותם בתגית של המסמך: </a:t>
            </a:r>
            <a:r>
              <a:rPr lang="en-US" dirty="0" err="1"/>
              <a:t>document.body.onload</a:t>
            </a:r>
            <a:endParaRPr lang="he-IL" dirty="0"/>
          </a:p>
          <a:p>
            <a:r>
              <a:rPr lang="he-IL" sz="2800" u="sng" dirty="0">
                <a:latin typeface="EFT_Afarsek" panose="01000503000000020003" pitchFamily="2" charset="-79"/>
                <a:cs typeface="EFT_Afarsek" panose="01000503000000020003" pitchFamily="2" charset="-79"/>
              </a:rPr>
              <a:t>אירועי מקלדת:</a:t>
            </a:r>
          </a:p>
          <a:p>
            <a:pPr lvl="0"/>
            <a:r>
              <a:rPr lang="en-US" dirty="0" err="1"/>
              <a:t>onKeyPress</a:t>
            </a:r>
            <a:r>
              <a:rPr lang="he-IL" dirty="0"/>
              <a:t>- אירוע זה מגיב על לחיצת מקש במקלדת. </a:t>
            </a:r>
            <a:endParaRPr lang="en-US" dirty="0"/>
          </a:p>
          <a:p>
            <a:pPr lvl="0"/>
            <a:r>
              <a:rPr lang="he-IL" dirty="0"/>
              <a:t>גם במקלדת יש אפשרות לבודד ממש את שלב הלחיצה כמו בלחיצת עכבר. (</a:t>
            </a:r>
            <a:r>
              <a:rPr lang="en-US" dirty="0" err="1"/>
              <a:t>onkeyup</a:t>
            </a:r>
            <a:r>
              <a:rPr lang="he-IL" dirty="0"/>
              <a:t>,</a:t>
            </a:r>
            <a:r>
              <a:rPr lang="en-US" dirty="0"/>
              <a:t> </a:t>
            </a:r>
            <a:r>
              <a:rPr lang="en-US" dirty="0" err="1"/>
              <a:t>onkeydown</a:t>
            </a:r>
            <a:r>
              <a:rPr lang="he-IL" dirty="0"/>
              <a:t>)</a:t>
            </a:r>
          </a:p>
          <a:p>
            <a:pPr lvl="0"/>
            <a:r>
              <a:rPr lang="he-IL" sz="2800" u="sng" dirty="0">
                <a:latin typeface="EFT_Afarsek" panose="01000503000000020003" pitchFamily="2" charset="-79"/>
                <a:cs typeface="EFT_Afarsek" panose="01000503000000020003" pitchFamily="2" charset="-79"/>
              </a:rPr>
              <a:t>אירועי טופס:</a:t>
            </a:r>
          </a:p>
          <a:p>
            <a:pPr lvl="0">
              <a:buFont typeface="Arial" panose="020B0604020202020204" pitchFamily="34" charset="0"/>
              <a:buChar char="•"/>
            </a:pPr>
            <a:r>
              <a:rPr lang="he-IL" dirty="0"/>
              <a:t> </a:t>
            </a:r>
            <a:r>
              <a:rPr lang="en-US" dirty="0" err="1"/>
              <a:t>onChange</a:t>
            </a:r>
            <a:r>
              <a:rPr lang="he-IL" dirty="0"/>
              <a:t> – אירוע זה מתרחש בעת שינוי בתיבת טקסט או בתיבה משולבת.</a:t>
            </a:r>
          </a:p>
          <a:p>
            <a:pPr>
              <a:buFont typeface="Arial" panose="020B0604020202020204" pitchFamily="34" charset="0"/>
              <a:buChar char="•"/>
            </a:pPr>
            <a:r>
              <a:rPr lang="he-IL" dirty="0"/>
              <a:t> </a:t>
            </a:r>
            <a:r>
              <a:rPr lang="en-US" dirty="0" err="1"/>
              <a:t>onSubmit</a:t>
            </a:r>
            <a:r>
              <a:rPr lang="he-IL" dirty="0"/>
              <a:t>- זהו אחד האירועים השימושיים ביותר והחשובים ביותר. הוא משמש לבדיקת טופס לפני שליחתו לשרת  (</a:t>
            </a:r>
            <a:r>
              <a:rPr lang="en-US" dirty="0"/>
              <a:t>validation</a:t>
            </a:r>
            <a:r>
              <a:rPr lang="he-IL" dirty="0"/>
              <a:t>).</a:t>
            </a:r>
            <a:endParaRPr lang="en-US" sz="2800" u="sng" dirty="0">
              <a:latin typeface="EFT_Afarsek" panose="01000503000000020003" pitchFamily="2" charset="-79"/>
              <a:cs typeface="EFT_Afarsek" panose="01000503000000020003" pitchFamily="2" charset="-79"/>
            </a:endParaRPr>
          </a:p>
          <a:p>
            <a:endParaRPr lang="en-US"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BCDB40CE-3527-469A-8D09-96A10F193EB8}"/>
              </a:ext>
            </a:extLst>
          </p:cNvPr>
          <p:cNvSpPr>
            <a:spLocks noGrp="1"/>
          </p:cNvSpPr>
          <p:nvPr>
            <p:ph type="sldNum" sz="quarter" idx="12"/>
          </p:nvPr>
        </p:nvSpPr>
        <p:spPr/>
        <p:txBody>
          <a:bodyPr/>
          <a:lstStyle/>
          <a:p>
            <a:fld id="{6113E31D-E2AB-40D1-8B51-AFA5AFEF393A}" type="slidenum">
              <a:rPr lang="en-US" smtClean="0"/>
              <a:t>17</a:t>
            </a:fld>
            <a:endParaRPr lang="en-US" dirty="0"/>
          </a:p>
        </p:txBody>
      </p:sp>
    </p:spTree>
    <p:extLst>
      <p:ext uri="{BB962C8B-B14F-4D97-AF65-F5344CB8AC3E}">
        <p14:creationId xmlns:p14="http://schemas.microsoft.com/office/powerpoint/2010/main" val="232967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פונקציות מערכת</a:t>
            </a:r>
          </a:p>
        </p:txBody>
      </p:sp>
      <p:sp>
        <p:nvSpPr>
          <p:cNvPr id="3" name="מציין מיקום תוכן 2"/>
          <p:cNvSpPr>
            <a:spLocks noGrp="1"/>
          </p:cNvSpPr>
          <p:nvPr>
            <p:ph idx="1"/>
          </p:nvPr>
        </p:nvSpPr>
        <p:spPr/>
        <p:txBody>
          <a:bodyPr>
            <a:normAutofit/>
          </a:bodyPr>
          <a:lstStyle/>
          <a:p>
            <a:r>
              <a:rPr lang="he-IL" u="sng" dirty="0"/>
              <a:t>אובייקט תאריך </a:t>
            </a:r>
            <a:r>
              <a:rPr lang="en-US" u="sng" dirty="0"/>
              <a:t>Date()</a:t>
            </a:r>
            <a:endParaRPr lang="en-US" dirty="0"/>
          </a:p>
          <a:p>
            <a:r>
              <a:rPr lang="he-IL" dirty="0"/>
              <a:t>יצירת אובייקט תאריך מתבצעת כך</a:t>
            </a:r>
            <a:r>
              <a:rPr lang="en-US" dirty="0"/>
              <a:t>let today=new Date() </a:t>
            </a:r>
          </a:p>
          <a:p>
            <a:r>
              <a:rPr lang="he-IL" dirty="0"/>
              <a:t>תתקבל מחרוזת המפרטת את הזמן המדויק (מהמחשב) כולל את שם היום בשבוע, שם החודש יום בחודש, שעה, דקה ושנייה והשנה.</a:t>
            </a:r>
            <a:endParaRPr lang="en-US" dirty="0"/>
          </a:p>
          <a:p>
            <a:r>
              <a:rPr lang="he-IL" u="sng" dirty="0"/>
              <a:t>יצירת תאריך:</a:t>
            </a:r>
            <a:endParaRPr lang="en-US" dirty="0"/>
          </a:p>
          <a:p>
            <a:r>
              <a:rPr lang="en-US" dirty="0"/>
              <a:t>let d1=new Date()</a:t>
            </a:r>
            <a:r>
              <a:rPr lang="he-IL" dirty="0"/>
              <a:t> תאריך של הזמן בו רצה השורה</a:t>
            </a:r>
            <a:endParaRPr lang="en-US" dirty="0"/>
          </a:p>
          <a:p>
            <a:r>
              <a:rPr lang="en-US" dirty="0"/>
              <a:t>let d2=new Date(‘1990/03/12')</a:t>
            </a:r>
          </a:p>
          <a:p>
            <a:r>
              <a:rPr lang="en-US" dirty="0"/>
              <a:t>let d3=new Date(2000,1,1)</a:t>
            </a:r>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05FF985D-BEEE-421B-870B-86C2F1796322}"/>
              </a:ext>
            </a:extLst>
          </p:cNvPr>
          <p:cNvSpPr>
            <a:spLocks noGrp="1"/>
          </p:cNvSpPr>
          <p:nvPr>
            <p:ph type="sldNum" sz="quarter" idx="12"/>
          </p:nvPr>
        </p:nvSpPr>
        <p:spPr/>
        <p:txBody>
          <a:bodyPr/>
          <a:lstStyle/>
          <a:p>
            <a:fld id="{6113E31D-E2AB-40D1-8B51-AFA5AFEF393A}" type="slidenum">
              <a:rPr lang="en-US" smtClean="0"/>
              <a:t>18</a:t>
            </a:fld>
            <a:endParaRPr lang="en-US" dirty="0"/>
          </a:p>
        </p:txBody>
      </p:sp>
    </p:spTree>
    <p:extLst>
      <p:ext uri="{BB962C8B-B14F-4D97-AF65-F5344CB8AC3E}">
        <p14:creationId xmlns:p14="http://schemas.microsoft.com/office/powerpoint/2010/main" val="330268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פונקציות מערכת - המשך</a:t>
            </a:r>
          </a:p>
        </p:txBody>
      </p:sp>
      <p:sp>
        <p:nvSpPr>
          <p:cNvPr id="3" name="מציין מיקום תוכן 2"/>
          <p:cNvSpPr>
            <a:spLocks noGrp="1"/>
          </p:cNvSpPr>
          <p:nvPr>
            <p:ph idx="1"/>
          </p:nvPr>
        </p:nvSpPr>
        <p:spPr/>
        <p:txBody>
          <a:bodyPr>
            <a:normAutofit fontScale="92500" lnSpcReduction="20000"/>
          </a:bodyPr>
          <a:lstStyle/>
          <a:p>
            <a:r>
              <a:rPr lang="he-IL" u="sng" dirty="0"/>
              <a:t>יש פונקציות שונות לקבלת חלקים מהתאריך:</a:t>
            </a:r>
            <a:endParaRPr lang="en-US" dirty="0"/>
          </a:p>
          <a:p>
            <a:pPr lvl="0">
              <a:buFont typeface="Wingdings" panose="05000000000000000000" pitchFamily="2" charset="2"/>
              <a:buChar char="v"/>
            </a:pPr>
            <a:r>
              <a:rPr lang="en-US" dirty="0"/>
              <a:t>d1.getMonth()</a:t>
            </a:r>
            <a:r>
              <a:rPr lang="he-IL" dirty="0"/>
              <a:t> – תיתן את החודש (בין 0 ל-11)</a:t>
            </a:r>
            <a:endParaRPr lang="en-US" dirty="0"/>
          </a:p>
          <a:p>
            <a:pPr lvl="0">
              <a:buFont typeface="Wingdings" panose="05000000000000000000" pitchFamily="2" charset="2"/>
              <a:buChar char="v"/>
            </a:pPr>
            <a:r>
              <a:rPr lang="he-IL" dirty="0"/>
              <a:t> </a:t>
            </a:r>
            <a:r>
              <a:rPr lang="en-US" dirty="0"/>
              <a:t>d1.getDay()</a:t>
            </a:r>
            <a:r>
              <a:rPr lang="he-IL" dirty="0"/>
              <a:t> – תיתן את היום בשבוע בין 0-6</a:t>
            </a:r>
          </a:p>
          <a:p>
            <a:pPr>
              <a:buFont typeface="Wingdings" panose="05000000000000000000" pitchFamily="2" charset="2"/>
              <a:buChar char="v"/>
            </a:pPr>
            <a:r>
              <a:rPr lang="en-US" dirty="0"/>
              <a:t>d1.getDate()</a:t>
            </a:r>
            <a:r>
              <a:rPr lang="he-IL" dirty="0"/>
              <a:t> – תיתן את היום בחודש בין 1-31</a:t>
            </a:r>
          </a:p>
          <a:p>
            <a:pPr lvl="0">
              <a:buFont typeface="Wingdings" panose="05000000000000000000" pitchFamily="2" charset="2"/>
              <a:buChar char="v"/>
            </a:pPr>
            <a:r>
              <a:rPr lang="he-IL" dirty="0"/>
              <a:t> </a:t>
            </a:r>
            <a:r>
              <a:rPr lang="en-US" dirty="0"/>
              <a:t>d1.getHours()</a:t>
            </a:r>
            <a:r>
              <a:rPr lang="he-IL" dirty="0"/>
              <a:t> – תיתן את השעה בין 0 ל-23</a:t>
            </a:r>
            <a:endParaRPr lang="en-US" dirty="0"/>
          </a:p>
          <a:p>
            <a:pPr lvl="0">
              <a:buFont typeface="Wingdings" panose="05000000000000000000" pitchFamily="2" charset="2"/>
              <a:buChar char="v"/>
            </a:pPr>
            <a:r>
              <a:rPr lang="he-IL" dirty="0"/>
              <a:t> </a:t>
            </a:r>
            <a:r>
              <a:rPr lang="en-US" dirty="0"/>
              <a:t>d1.setMinutes()</a:t>
            </a:r>
            <a:r>
              <a:rPr lang="he-IL" dirty="0"/>
              <a:t> – תיתן את הדקות בין 0 ל-59</a:t>
            </a:r>
            <a:endParaRPr lang="en-US" dirty="0"/>
          </a:p>
          <a:p>
            <a:pPr lvl="0">
              <a:buFont typeface="Wingdings" panose="05000000000000000000" pitchFamily="2" charset="2"/>
              <a:buChar char="v"/>
            </a:pPr>
            <a:r>
              <a:rPr lang="en-US" dirty="0"/>
              <a:t>d1.getSeconds() </a:t>
            </a:r>
            <a:r>
              <a:rPr lang="he-IL" dirty="0"/>
              <a:t> – תיתן את השניות בין 0 ל-59</a:t>
            </a:r>
            <a:endParaRPr lang="en-US" dirty="0"/>
          </a:p>
          <a:p>
            <a:r>
              <a:rPr lang="he-IL" dirty="0"/>
              <a:t>לרב הפונקציות יש פונקציות מקבילות המתחילות ב</a:t>
            </a:r>
            <a:r>
              <a:rPr lang="en-US" dirty="0"/>
              <a:t>set</a:t>
            </a:r>
            <a:r>
              <a:rPr lang="he-IL" dirty="0"/>
              <a:t> במקום </a:t>
            </a:r>
            <a:r>
              <a:rPr lang="en-US" dirty="0"/>
              <a:t>get</a:t>
            </a:r>
            <a:r>
              <a:rPr lang="he-IL" dirty="0"/>
              <a:t>, הן מקבלות ערך ומשנות את החלק הרצוי בתאריך.</a:t>
            </a:r>
          </a:p>
          <a:p>
            <a:r>
              <a:rPr lang="he-IL" dirty="0"/>
              <a:t>ישנן עוד פונקציות רבות שניתן להפעיל על אובייקט תאריך.</a:t>
            </a:r>
            <a:endParaRPr lang="en-US" dirty="0"/>
          </a:p>
          <a:p>
            <a:endParaRPr lang="en-US"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A40E5B5F-4FE8-4110-A242-1ABFA219760B}"/>
              </a:ext>
            </a:extLst>
          </p:cNvPr>
          <p:cNvSpPr>
            <a:spLocks noGrp="1"/>
          </p:cNvSpPr>
          <p:nvPr>
            <p:ph type="sldNum" sz="quarter" idx="12"/>
          </p:nvPr>
        </p:nvSpPr>
        <p:spPr/>
        <p:txBody>
          <a:bodyPr/>
          <a:lstStyle/>
          <a:p>
            <a:fld id="{6113E31D-E2AB-40D1-8B51-AFA5AFEF393A}" type="slidenum">
              <a:rPr lang="en-US" smtClean="0"/>
              <a:t>19</a:t>
            </a:fld>
            <a:endParaRPr lang="en-US" dirty="0"/>
          </a:p>
        </p:txBody>
      </p:sp>
    </p:spTree>
    <p:extLst>
      <p:ext uri="{BB962C8B-B14F-4D97-AF65-F5344CB8AC3E}">
        <p14:creationId xmlns:p14="http://schemas.microsoft.com/office/powerpoint/2010/main" val="1868059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פונקציות מערכת - המשך</a:t>
            </a:r>
          </a:p>
        </p:txBody>
      </p:sp>
      <p:sp>
        <p:nvSpPr>
          <p:cNvPr id="3" name="מציין מיקום תוכן 2"/>
          <p:cNvSpPr>
            <a:spLocks noGrp="1"/>
          </p:cNvSpPr>
          <p:nvPr>
            <p:ph idx="1"/>
          </p:nvPr>
        </p:nvSpPr>
        <p:spPr/>
        <p:txBody>
          <a:bodyPr>
            <a:normAutofit fontScale="70000" lnSpcReduction="20000"/>
          </a:bodyPr>
          <a:lstStyle/>
          <a:p>
            <a:r>
              <a:rPr lang="he-IL" u="sng" dirty="0"/>
              <a:t>אובייקט מחרוזות </a:t>
            </a:r>
            <a:r>
              <a:rPr lang="he-IL" dirty="0"/>
              <a:t> לאובייקט מחרוזת ניתן להתייחס כמו למערך:</a:t>
            </a:r>
          </a:p>
          <a:p>
            <a:pPr>
              <a:buFont typeface="Wingdings" panose="05000000000000000000" pitchFamily="2" charset="2"/>
              <a:buChar char="§"/>
            </a:pPr>
            <a:r>
              <a:rPr lang="he-IL" dirty="0"/>
              <a:t> ניתן לגשת לערכים באמצעות [ ], לדוג-</a:t>
            </a:r>
            <a:r>
              <a:rPr lang="en-US" dirty="0"/>
              <a:t> </a:t>
            </a:r>
            <a:r>
              <a:rPr lang="en-US" dirty="0" err="1"/>
              <a:t>srt</a:t>
            </a:r>
            <a:r>
              <a:rPr lang="en-US" dirty="0"/>
              <a:t>[2] </a:t>
            </a:r>
            <a:endParaRPr lang="he-IL" dirty="0"/>
          </a:p>
          <a:p>
            <a:pPr>
              <a:buFont typeface="Wingdings" panose="05000000000000000000" pitchFamily="2" charset="2"/>
              <a:buChar char="§"/>
            </a:pPr>
            <a:r>
              <a:rPr lang="he-IL" dirty="0"/>
              <a:t> אפשר לדעת את אורך המחרוזת באמצעות המילה השמורה </a:t>
            </a:r>
            <a:r>
              <a:rPr lang="en-US" dirty="0"/>
              <a:t>length</a:t>
            </a:r>
          </a:p>
          <a:p>
            <a:pPr lvl="0">
              <a:buFont typeface="Wingdings" panose="05000000000000000000" pitchFamily="2" charset="2"/>
              <a:buChar char="§"/>
            </a:pPr>
            <a:r>
              <a:rPr lang="he-IL" dirty="0"/>
              <a:t> </a:t>
            </a:r>
            <a:r>
              <a:rPr lang="en-US" dirty="0"/>
              <a:t> </a:t>
            </a:r>
            <a:r>
              <a:rPr lang="en-US" dirty="0" err="1"/>
              <a:t>indexOf</a:t>
            </a:r>
            <a:r>
              <a:rPr lang="en-US" dirty="0"/>
              <a:t>()</a:t>
            </a:r>
            <a:r>
              <a:rPr lang="he-IL" dirty="0"/>
              <a:t>– פונקציה זו מאפשרת לחפש אותיות או מילים בתוך מחרוזת. המחרוזת מחזירה את ערך המיקום של המופע הראשון של המחרוזת שמחפשים (המיקום של התו הראשון במחרוזת הוא 0). אם המחרוזת לא נמצאת יוחזר 1-. יש אפשרות לתת כפרמטר שני את המיקום ממנו תחפש הפונקציה את התו.</a:t>
            </a:r>
            <a:endParaRPr lang="en-US" dirty="0"/>
          </a:p>
          <a:p>
            <a:pPr lvl="0">
              <a:buFont typeface="Wingdings" panose="05000000000000000000" pitchFamily="2" charset="2"/>
              <a:buChar char="§"/>
            </a:pPr>
            <a:r>
              <a:rPr lang="en-US" dirty="0" err="1"/>
              <a:t>lastIndexOf</a:t>
            </a:r>
            <a:r>
              <a:rPr lang="en-US" dirty="0"/>
              <a:t>() </a:t>
            </a:r>
            <a:r>
              <a:rPr lang="he-IL" dirty="0"/>
              <a:t> – בעזרת שיטה זו ניתן לחפש את המופע האחרון של מחרוזת בתוך מחרוזת אחרת. </a:t>
            </a:r>
            <a:endParaRPr lang="en-US" dirty="0"/>
          </a:p>
          <a:p>
            <a:pPr lvl="0">
              <a:buFont typeface="Wingdings" panose="05000000000000000000" pitchFamily="2" charset="2"/>
              <a:buChar char="§"/>
            </a:pPr>
            <a:r>
              <a:rPr lang="he-IL" dirty="0"/>
              <a:t> </a:t>
            </a:r>
            <a:r>
              <a:rPr lang="en-US" dirty="0"/>
              <a:t>split() </a:t>
            </a:r>
            <a:r>
              <a:rPr lang="he-IL" dirty="0"/>
              <a:t> מפרקת מחרוזת למערך לפי תו הפרדה. </a:t>
            </a:r>
            <a:br>
              <a:rPr lang="he-IL" dirty="0"/>
            </a:br>
            <a:r>
              <a:rPr lang="he-IL" dirty="0"/>
              <a:t>לדוגמא </a:t>
            </a:r>
            <a:endParaRPr lang="en-US" dirty="0"/>
          </a:p>
          <a:p>
            <a:r>
              <a:rPr lang="en-US" dirty="0" err="1"/>
              <a:t>str</a:t>
            </a:r>
            <a:r>
              <a:rPr lang="en-US" dirty="0"/>
              <a:t>= "</a:t>
            </a:r>
            <a:r>
              <a:rPr lang="en-US" dirty="0" err="1"/>
              <a:t>aaa</a:t>
            </a:r>
            <a:r>
              <a:rPr lang="en-US" dirty="0"/>
              <a:t>, </a:t>
            </a:r>
            <a:r>
              <a:rPr lang="en-US" dirty="0" err="1"/>
              <a:t>bbb</a:t>
            </a:r>
            <a:r>
              <a:rPr lang="en-US" dirty="0"/>
              <a:t>, ccc, </a:t>
            </a:r>
            <a:r>
              <a:rPr lang="en-US" dirty="0" err="1"/>
              <a:t>ddd</a:t>
            </a:r>
            <a:r>
              <a:rPr lang="en-US" dirty="0"/>
              <a:t>"</a:t>
            </a:r>
          </a:p>
          <a:p>
            <a:r>
              <a:rPr lang="en-US" dirty="0" err="1"/>
              <a:t>var</a:t>
            </a:r>
            <a:r>
              <a:rPr lang="en-US" dirty="0"/>
              <a:t> </a:t>
            </a:r>
            <a:r>
              <a:rPr lang="en-US" dirty="0" err="1"/>
              <a:t>arr</a:t>
            </a:r>
            <a:r>
              <a:rPr lang="en-US" dirty="0"/>
              <a:t>=new Array()</a:t>
            </a:r>
          </a:p>
          <a:p>
            <a:r>
              <a:rPr lang="en-US" dirty="0" err="1"/>
              <a:t>arr</a:t>
            </a:r>
            <a:r>
              <a:rPr lang="en-US" dirty="0"/>
              <a:t>=</a:t>
            </a:r>
            <a:r>
              <a:rPr lang="en-US" dirty="0" err="1"/>
              <a:t>str.split</a:t>
            </a:r>
            <a:r>
              <a:rPr lang="en-US" dirty="0"/>
              <a:t>(",") </a:t>
            </a:r>
          </a:p>
          <a:p>
            <a:r>
              <a:rPr lang="he-IL" dirty="0"/>
              <a:t>הפונקציה מפרקת את המחרוזת על פי הפסיקים ובונה מערך שבתא 0 הערך הוא </a:t>
            </a:r>
            <a:r>
              <a:rPr lang="en-US" dirty="0" err="1"/>
              <a:t>aaa</a:t>
            </a:r>
            <a:r>
              <a:rPr lang="he-IL" dirty="0"/>
              <a:t> בתא 1 הערך הוא </a:t>
            </a:r>
            <a:r>
              <a:rPr lang="en-US" dirty="0" err="1"/>
              <a:t>bbb</a:t>
            </a:r>
            <a:r>
              <a:rPr lang="en-US" dirty="0"/>
              <a:t> </a:t>
            </a:r>
            <a:r>
              <a:rPr lang="he-IL" dirty="0"/>
              <a:t> </a:t>
            </a:r>
            <a:r>
              <a:rPr lang="he-IL" dirty="0" err="1"/>
              <a:t>וכו</a:t>
            </a:r>
            <a:r>
              <a:rPr lang="he-IL" dirty="0"/>
              <a:t>'.</a:t>
            </a:r>
            <a:endParaRPr lang="en-US"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5865B0B1-5B37-474D-8B65-9128527228DA}"/>
              </a:ext>
            </a:extLst>
          </p:cNvPr>
          <p:cNvSpPr>
            <a:spLocks noGrp="1"/>
          </p:cNvSpPr>
          <p:nvPr>
            <p:ph type="sldNum" sz="quarter" idx="12"/>
          </p:nvPr>
        </p:nvSpPr>
        <p:spPr/>
        <p:txBody>
          <a:bodyPr/>
          <a:lstStyle/>
          <a:p>
            <a:fld id="{6113E31D-E2AB-40D1-8B51-AFA5AFEF393A}" type="slidenum">
              <a:rPr lang="en-US" smtClean="0"/>
              <a:t>20</a:t>
            </a:fld>
            <a:endParaRPr lang="en-US" dirty="0"/>
          </a:p>
        </p:txBody>
      </p:sp>
    </p:spTree>
    <p:extLst>
      <p:ext uri="{BB962C8B-B14F-4D97-AF65-F5344CB8AC3E}">
        <p14:creationId xmlns:p14="http://schemas.microsoft.com/office/powerpoint/2010/main" val="1378058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פונקציות מערכת - המשך</a:t>
            </a:r>
          </a:p>
        </p:txBody>
      </p:sp>
      <p:sp>
        <p:nvSpPr>
          <p:cNvPr id="3" name="מציין מיקום תוכן 2"/>
          <p:cNvSpPr>
            <a:spLocks noGrp="1"/>
          </p:cNvSpPr>
          <p:nvPr>
            <p:ph idx="1"/>
          </p:nvPr>
        </p:nvSpPr>
        <p:spPr>
          <a:xfrm>
            <a:off x="655782" y="2368478"/>
            <a:ext cx="10546080" cy="4023360"/>
          </a:xfrm>
        </p:spPr>
        <p:txBody>
          <a:bodyPr>
            <a:normAutofit fontScale="92500" lnSpcReduction="20000"/>
          </a:bodyPr>
          <a:lstStyle/>
          <a:p>
            <a:pPr marL="0" lvl="0" indent="0">
              <a:buNone/>
            </a:pPr>
            <a:r>
              <a:rPr lang="he-IL" u="sng" dirty="0"/>
              <a:t>פונקציות נוספות על </a:t>
            </a:r>
            <a:r>
              <a:rPr lang="he-IL" u="sng" dirty="0" err="1"/>
              <a:t>אובייקטי</a:t>
            </a:r>
            <a:r>
              <a:rPr lang="he-IL" u="sng" dirty="0"/>
              <a:t> מחרוזת:</a:t>
            </a:r>
          </a:p>
          <a:p>
            <a:pPr lvl="0">
              <a:buFont typeface="Wingdings" panose="05000000000000000000" pitchFamily="2" charset="2"/>
              <a:buChar char="§"/>
            </a:pPr>
            <a:r>
              <a:rPr lang="he-IL" dirty="0"/>
              <a:t>(</a:t>
            </a:r>
            <a:r>
              <a:rPr lang="en-US" dirty="0"/>
              <a:t>trim(</a:t>
            </a:r>
            <a:r>
              <a:rPr lang="he-IL" dirty="0"/>
              <a:t> - פונקציה המוחקת רווחים מההתחלה והסוף.</a:t>
            </a:r>
          </a:p>
          <a:p>
            <a:pPr>
              <a:buFont typeface="Wingdings" panose="05000000000000000000" pitchFamily="2" charset="2"/>
              <a:buChar char="§"/>
            </a:pPr>
            <a:r>
              <a:rPr lang="en-US" dirty="0"/>
              <a:t>Includes()</a:t>
            </a:r>
            <a:r>
              <a:rPr lang="he-IL" dirty="0"/>
              <a:t> – מקבלת תת מחרוזת ובודקת האם היא נמצאת במחרוזת המקורית.</a:t>
            </a:r>
            <a:endParaRPr lang="he-IL" u="sng" dirty="0"/>
          </a:p>
          <a:p>
            <a:pPr lvl="0">
              <a:buFont typeface="Wingdings" panose="05000000000000000000" pitchFamily="2" charset="2"/>
              <a:buChar char="§"/>
            </a:pPr>
            <a:r>
              <a:rPr lang="he-IL" dirty="0"/>
              <a:t> </a:t>
            </a:r>
            <a:r>
              <a:rPr lang="en-US" dirty="0"/>
              <a:t>substring()</a:t>
            </a:r>
            <a:r>
              <a:rPr lang="he-IL" dirty="0"/>
              <a:t> – הפונקציה מאפשרת לקבל תת מחרוזת ממחרוזת מסוימת. הפונקציה מקבלת 2 פרמטרים שאומרים החל מאיזה תו עד איזה תו (כולל). לדוגמא: </a:t>
            </a:r>
            <a:r>
              <a:rPr lang="en-US" dirty="0"/>
              <a:t> </a:t>
            </a:r>
            <a:r>
              <a:rPr lang="en-US" dirty="0" err="1"/>
              <a:t>str</a:t>
            </a:r>
            <a:r>
              <a:rPr lang="en-US" dirty="0"/>
              <a:t>="</a:t>
            </a:r>
            <a:r>
              <a:rPr lang="en-US" dirty="0" err="1"/>
              <a:t>abcdefghij</a:t>
            </a:r>
            <a:r>
              <a:rPr lang="en-US" dirty="0"/>
              <a:t>"; </a:t>
            </a:r>
            <a:r>
              <a:rPr lang="he-IL" dirty="0"/>
              <a:t>ההוראה </a:t>
            </a:r>
            <a:r>
              <a:rPr lang="en-US" dirty="0" err="1"/>
              <a:t>substr</a:t>
            </a:r>
            <a:r>
              <a:rPr lang="en-US" dirty="0"/>
              <a:t>=</a:t>
            </a:r>
            <a:r>
              <a:rPr lang="en-US" dirty="0" err="1"/>
              <a:t>str.substring</a:t>
            </a:r>
            <a:r>
              <a:rPr lang="en-US" dirty="0"/>
              <a:t>(3,5);</a:t>
            </a:r>
            <a:r>
              <a:rPr lang="he-IL" dirty="0"/>
              <a:t> תיתן את המחרוזת</a:t>
            </a:r>
            <a:r>
              <a:rPr lang="en-US" dirty="0" err="1"/>
              <a:t>def</a:t>
            </a:r>
            <a:r>
              <a:rPr lang="en-US" dirty="0"/>
              <a:t> </a:t>
            </a:r>
          </a:p>
          <a:p>
            <a:pPr lvl="0">
              <a:buFont typeface="Wingdings" panose="05000000000000000000" pitchFamily="2" charset="2"/>
              <a:buChar char="§"/>
            </a:pPr>
            <a:r>
              <a:rPr lang="he-IL" dirty="0"/>
              <a:t> </a:t>
            </a:r>
            <a:r>
              <a:rPr lang="en-US" dirty="0" err="1"/>
              <a:t>charAt</a:t>
            </a:r>
            <a:r>
              <a:rPr lang="en-US" dirty="0"/>
              <a:t>()</a:t>
            </a:r>
            <a:r>
              <a:rPr lang="he-IL" dirty="0"/>
              <a:t> – מקבלת כפרמטר מיקום ומחזירה את התו במחרוזת באותו מיקום. לדוגמא אם מחרוזת </a:t>
            </a:r>
            <a:r>
              <a:rPr lang="en-US" dirty="0" err="1"/>
              <a:t>str</a:t>
            </a:r>
            <a:r>
              <a:rPr lang="he-IL" dirty="0"/>
              <a:t> מכילה את הערך מהדוגמא הקודמת , ההוראה </a:t>
            </a:r>
            <a:r>
              <a:rPr lang="en-US" dirty="0" err="1"/>
              <a:t>str.charAt</a:t>
            </a:r>
            <a:r>
              <a:rPr lang="en-US" dirty="0"/>
              <a:t>(4)</a:t>
            </a:r>
            <a:r>
              <a:rPr lang="he-IL" dirty="0"/>
              <a:t>. תחזיר את התו </a:t>
            </a:r>
            <a:r>
              <a:rPr lang="en-US" dirty="0"/>
              <a:t>e</a:t>
            </a:r>
            <a:r>
              <a:rPr lang="he-IL" dirty="0"/>
              <a:t>.</a:t>
            </a:r>
          </a:p>
          <a:p>
            <a:pPr>
              <a:buFont typeface="Wingdings" panose="05000000000000000000" pitchFamily="2" charset="2"/>
              <a:buChar char="§"/>
            </a:pPr>
            <a:r>
              <a:rPr lang="en-US" dirty="0" err="1"/>
              <a:t>localeCompare</a:t>
            </a:r>
            <a:r>
              <a:rPr lang="en-US" dirty="0"/>
              <a:t>()</a:t>
            </a:r>
            <a:r>
              <a:rPr lang="he-IL" dirty="0"/>
              <a:t> – מופעלת על מחרוזת ומקבלת מחרוזת נוספת, ומחזירה מי </a:t>
            </a:r>
            <a:r>
              <a:rPr lang="he-IL" dirty="0" err="1"/>
              <a:t>מבינהן</a:t>
            </a:r>
            <a:r>
              <a:rPr lang="he-IL" dirty="0"/>
              <a:t> גדולה יותר( מבחינת המילון)</a:t>
            </a:r>
            <a:endParaRPr lang="en-US" dirty="0"/>
          </a:p>
          <a:p>
            <a:pPr lvl="0">
              <a:buFont typeface="Wingdings" panose="05000000000000000000" pitchFamily="2" charset="2"/>
              <a:buChar char="§"/>
            </a:pPr>
            <a:r>
              <a:rPr lang="he-IL" dirty="0"/>
              <a:t> </a:t>
            </a:r>
            <a:r>
              <a:rPr lang="en-US" dirty="0" err="1"/>
              <a:t>toUpperCase</a:t>
            </a:r>
            <a:r>
              <a:rPr lang="en-US" dirty="0"/>
              <a:t>()</a:t>
            </a:r>
            <a:r>
              <a:rPr lang="he-IL" dirty="0"/>
              <a:t> ו- </a:t>
            </a:r>
            <a:r>
              <a:rPr lang="en-US" dirty="0" err="1"/>
              <a:t>toLowerCase</a:t>
            </a:r>
            <a:r>
              <a:rPr lang="en-US" dirty="0"/>
              <a:t>()</a:t>
            </a:r>
            <a:r>
              <a:rPr lang="he-IL" dirty="0"/>
              <a:t> מחליפות אותיות גדולות לאותיות קטנות  ולהיפך.</a:t>
            </a:r>
          </a:p>
          <a:p>
            <a:pPr lvl="0">
              <a:buFont typeface="Wingdings" panose="05000000000000000000" pitchFamily="2" charset="2"/>
              <a:buChar char="§"/>
            </a:pPr>
            <a:r>
              <a:rPr lang="he-IL" dirty="0"/>
              <a:t> ישנן פונקציות נוספות שניתן להפעיל על מחרוזות.</a:t>
            </a:r>
          </a:p>
          <a:p>
            <a:pPr marL="0" lvl="0" indent="0" algn="ctr">
              <a:buNone/>
            </a:pPr>
            <a:r>
              <a:rPr lang="he-IL" b="1" dirty="0"/>
              <a:t>כל הפונקציות המופעלות על מחרוזות לא משנות את המחרוזת עצמה אלא מחזירות מחרוזת חדשה. המחרוזת עליה מופעלת הפונקציה נשארת ללא שינוי.</a:t>
            </a:r>
            <a:endParaRPr lang="en-US" b="1"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0E1AAD4D-A706-4E90-9FB9-938DC5A47867}"/>
              </a:ext>
            </a:extLst>
          </p:cNvPr>
          <p:cNvSpPr>
            <a:spLocks noGrp="1"/>
          </p:cNvSpPr>
          <p:nvPr>
            <p:ph type="sldNum" sz="quarter" idx="12"/>
          </p:nvPr>
        </p:nvSpPr>
        <p:spPr/>
        <p:txBody>
          <a:bodyPr/>
          <a:lstStyle/>
          <a:p>
            <a:fld id="{6113E31D-E2AB-40D1-8B51-AFA5AFEF393A}" type="slidenum">
              <a:rPr lang="en-US" smtClean="0"/>
              <a:t>21</a:t>
            </a:fld>
            <a:endParaRPr lang="en-US" dirty="0"/>
          </a:p>
        </p:txBody>
      </p:sp>
    </p:spTree>
    <p:extLst>
      <p:ext uri="{BB962C8B-B14F-4D97-AF65-F5344CB8AC3E}">
        <p14:creationId xmlns:p14="http://schemas.microsoft.com/office/powerpoint/2010/main" val="2179764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פונקציות מערכת - המשך</a:t>
            </a:r>
          </a:p>
        </p:txBody>
      </p:sp>
      <p:sp>
        <p:nvSpPr>
          <p:cNvPr id="3" name="מציין מיקום תוכן 2"/>
          <p:cNvSpPr>
            <a:spLocks noGrp="1"/>
          </p:cNvSpPr>
          <p:nvPr>
            <p:ph idx="1"/>
          </p:nvPr>
        </p:nvSpPr>
        <p:spPr/>
        <p:txBody>
          <a:bodyPr>
            <a:normAutofit fontScale="85000" lnSpcReduction="20000"/>
          </a:bodyPr>
          <a:lstStyle/>
          <a:p>
            <a:r>
              <a:rPr lang="en-US" dirty="0"/>
              <a:t>Math</a:t>
            </a:r>
            <a:r>
              <a:rPr lang="he-IL" dirty="0"/>
              <a:t> הוא לא אובייקט שצריך ליצור, אלא להתייחס אליו כ-</a:t>
            </a:r>
            <a:r>
              <a:rPr lang="en-US" dirty="0"/>
              <a:t>Math</a:t>
            </a:r>
            <a:r>
              <a:rPr lang="he-IL" dirty="0"/>
              <a:t>.</a:t>
            </a:r>
            <a:endParaRPr lang="en-US" dirty="0"/>
          </a:p>
          <a:p>
            <a:pPr lvl="0">
              <a:buFont typeface="Wingdings" panose="05000000000000000000" pitchFamily="2" charset="2"/>
              <a:buChar char="Ø"/>
            </a:pPr>
            <a:r>
              <a:rPr lang="he-IL" dirty="0"/>
              <a:t> </a:t>
            </a:r>
            <a:r>
              <a:rPr lang="en-US" dirty="0" err="1"/>
              <a:t>Math.celi</a:t>
            </a:r>
            <a:r>
              <a:rPr lang="en-US" dirty="0"/>
              <a:t>(x) </a:t>
            </a:r>
            <a:r>
              <a:rPr lang="he-IL" dirty="0"/>
              <a:t>מחזיר את המספר מעוגל כלפי מעלה</a:t>
            </a:r>
            <a:endParaRPr lang="en-US" dirty="0"/>
          </a:p>
          <a:p>
            <a:pPr lvl="0">
              <a:buFont typeface="Wingdings" panose="05000000000000000000" pitchFamily="2" charset="2"/>
              <a:buChar char="Ø"/>
            </a:pPr>
            <a:r>
              <a:rPr lang="en-US" dirty="0" err="1"/>
              <a:t>Math.floor</a:t>
            </a:r>
            <a:r>
              <a:rPr lang="en-US" dirty="0"/>
              <a:t>(x)  </a:t>
            </a:r>
            <a:r>
              <a:rPr lang="he-IL" dirty="0"/>
              <a:t>מחזיר את המספר מעוגל כלפי מטה</a:t>
            </a:r>
            <a:endParaRPr lang="en-US" dirty="0"/>
          </a:p>
          <a:p>
            <a:pPr lvl="0">
              <a:buFont typeface="Wingdings" panose="05000000000000000000" pitchFamily="2" charset="2"/>
              <a:buChar char="Ø"/>
            </a:pPr>
            <a:r>
              <a:rPr lang="he-IL" dirty="0"/>
              <a:t> </a:t>
            </a:r>
            <a:r>
              <a:rPr lang="en-US" dirty="0" err="1"/>
              <a:t>Math.pow</a:t>
            </a:r>
            <a:r>
              <a:rPr lang="en-US" dirty="0"/>
              <a:t>(2,3)</a:t>
            </a:r>
            <a:r>
              <a:rPr lang="he-IL" dirty="0"/>
              <a:t> חזקה</a:t>
            </a:r>
            <a:endParaRPr lang="en-US" dirty="0"/>
          </a:p>
          <a:p>
            <a:pPr>
              <a:buFont typeface="Wingdings" panose="05000000000000000000" pitchFamily="2" charset="2"/>
              <a:buChar char="Ø"/>
            </a:pPr>
            <a:r>
              <a:rPr lang="he-IL" dirty="0"/>
              <a:t> </a:t>
            </a:r>
            <a:r>
              <a:rPr lang="en-US" dirty="0" err="1"/>
              <a:t>Math.abs</a:t>
            </a:r>
            <a:r>
              <a:rPr lang="en-US" dirty="0"/>
              <a:t>(-4)</a:t>
            </a:r>
            <a:r>
              <a:rPr lang="he-IL" dirty="0"/>
              <a:t> ערך מוחלט</a:t>
            </a:r>
            <a:endParaRPr lang="en-US" dirty="0"/>
          </a:p>
          <a:p>
            <a:pPr lvl="0">
              <a:buFont typeface="Wingdings" panose="05000000000000000000" pitchFamily="2" charset="2"/>
              <a:buChar char="Ø"/>
            </a:pPr>
            <a:r>
              <a:rPr lang="he-IL" dirty="0"/>
              <a:t> </a:t>
            </a:r>
            <a:r>
              <a:rPr lang="en-US" dirty="0" err="1"/>
              <a:t>Math.min</a:t>
            </a:r>
            <a:r>
              <a:rPr lang="en-US" dirty="0"/>
              <a:t>(</a:t>
            </a:r>
            <a:r>
              <a:rPr lang="en-US" dirty="0" err="1"/>
              <a:t>x,y</a:t>
            </a:r>
            <a:r>
              <a:rPr lang="en-US" dirty="0"/>
              <a:t>)</a:t>
            </a:r>
            <a:r>
              <a:rPr lang="he-IL" dirty="0"/>
              <a:t> מחזיר את המספר הנמוך מבין</a:t>
            </a:r>
            <a:r>
              <a:rPr lang="en-US" dirty="0"/>
              <a:t>x </a:t>
            </a:r>
            <a:r>
              <a:rPr lang="he-IL" dirty="0"/>
              <a:t>ו-</a:t>
            </a:r>
            <a:r>
              <a:rPr lang="en-US" dirty="0"/>
              <a:t>y</a:t>
            </a:r>
            <a:r>
              <a:rPr lang="he-IL" dirty="0"/>
              <a:t>.</a:t>
            </a:r>
            <a:endParaRPr lang="en-US" dirty="0"/>
          </a:p>
          <a:p>
            <a:pPr lvl="0">
              <a:buFont typeface="Wingdings" panose="05000000000000000000" pitchFamily="2" charset="2"/>
              <a:buChar char="Ø"/>
            </a:pPr>
            <a:r>
              <a:rPr lang="he-IL" dirty="0"/>
              <a:t> </a:t>
            </a:r>
            <a:r>
              <a:rPr lang="en-US" dirty="0" err="1"/>
              <a:t>Math.max</a:t>
            </a:r>
            <a:r>
              <a:rPr lang="en-US" dirty="0"/>
              <a:t>(</a:t>
            </a:r>
            <a:r>
              <a:rPr lang="en-US" dirty="0" err="1"/>
              <a:t>x,y</a:t>
            </a:r>
            <a:r>
              <a:rPr lang="en-US" dirty="0"/>
              <a:t>)</a:t>
            </a:r>
            <a:r>
              <a:rPr lang="he-IL" dirty="0"/>
              <a:t> מחזיר את המספר הגבוה מבין</a:t>
            </a:r>
            <a:r>
              <a:rPr lang="en-US" dirty="0"/>
              <a:t>x </a:t>
            </a:r>
            <a:r>
              <a:rPr lang="he-IL" dirty="0"/>
              <a:t>ו-</a:t>
            </a:r>
            <a:r>
              <a:rPr lang="en-US" dirty="0"/>
              <a:t>y</a:t>
            </a:r>
            <a:r>
              <a:rPr lang="he-IL" dirty="0"/>
              <a:t>.</a:t>
            </a:r>
            <a:endParaRPr lang="en-US" dirty="0"/>
          </a:p>
          <a:p>
            <a:pPr lvl="0">
              <a:buFont typeface="Wingdings" panose="05000000000000000000" pitchFamily="2" charset="2"/>
              <a:buChar char="Ø"/>
            </a:pPr>
            <a:r>
              <a:rPr lang="en-US" dirty="0" err="1"/>
              <a:t>Math.round</a:t>
            </a:r>
            <a:r>
              <a:rPr lang="en-US" dirty="0"/>
              <a:t>(x) </a:t>
            </a:r>
            <a:r>
              <a:rPr lang="he-IL" dirty="0"/>
              <a:t>מחזיר את המספר מעוגל לפי חוקי העיגול.</a:t>
            </a:r>
            <a:endParaRPr lang="en-US" dirty="0"/>
          </a:p>
          <a:p>
            <a:pPr lvl="0">
              <a:buFont typeface="Wingdings" panose="05000000000000000000" pitchFamily="2" charset="2"/>
              <a:buChar char="Ø"/>
            </a:pPr>
            <a:r>
              <a:rPr lang="he-IL" dirty="0"/>
              <a:t> </a:t>
            </a:r>
            <a:r>
              <a:rPr lang="en-US" dirty="0" err="1"/>
              <a:t>Math.random</a:t>
            </a:r>
            <a:r>
              <a:rPr lang="en-US" dirty="0"/>
              <a:t>()</a:t>
            </a:r>
            <a:r>
              <a:rPr lang="he-IL" dirty="0"/>
              <a:t> מחזיר מספר רנדומלי בין 0 ל-1, לדוגמה: 0.365</a:t>
            </a:r>
            <a:endParaRPr lang="en-US" dirty="0"/>
          </a:p>
          <a:p>
            <a:r>
              <a:rPr lang="he-IL" dirty="0"/>
              <a:t>כדי להגריל מספר בין 0-10 יש לכתוב את השורה הבאה</a:t>
            </a:r>
            <a:r>
              <a:rPr lang="en-US" dirty="0"/>
              <a:t>:</a:t>
            </a:r>
          </a:p>
          <a:p>
            <a:r>
              <a:rPr lang="en-US" dirty="0" err="1"/>
              <a:t>var</a:t>
            </a:r>
            <a:r>
              <a:rPr lang="en-US" dirty="0"/>
              <a:t> x=</a:t>
            </a:r>
            <a:r>
              <a:rPr lang="en-US" dirty="0" err="1"/>
              <a:t>Math.round</a:t>
            </a:r>
            <a:r>
              <a:rPr lang="en-US" dirty="0"/>
              <a:t>(</a:t>
            </a:r>
            <a:r>
              <a:rPr lang="en-US" dirty="0" err="1"/>
              <a:t>Math.random</a:t>
            </a:r>
            <a:r>
              <a:rPr lang="en-US" dirty="0"/>
              <a:t>()*10)</a:t>
            </a:r>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AB2719D3-DC74-4BB9-A0A7-57BD932FEF52}"/>
              </a:ext>
            </a:extLst>
          </p:cNvPr>
          <p:cNvSpPr>
            <a:spLocks noGrp="1"/>
          </p:cNvSpPr>
          <p:nvPr>
            <p:ph type="sldNum" sz="quarter" idx="12"/>
          </p:nvPr>
        </p:nvSpPr>
        <p:spPr/>
        <p:txBody>
          <a:bodyPr/>
          <a:lstStyle/>
          <a:p>
            <a:fld id="{6113E31D-E2AB-40D1-8B51-AFA5AFEF393A}" type="slidenum">
              <a:rPr lang="en-US" smtClean="0"/>
              <a:t>22</a:t>
            </a:fld>
            <a:endParaRPr lang="en-US" dirty="0"/>
          </a:p>
        </p:txBody>
      </p:sp>
    </p:spTree>
    <p:extLst>
      <p:ext uri="{BB962C8B-B14F-4D97-AF65-F5344CB8AC3E}">
        <p14:creationId xmlns:p14="http://schemas.microsoft.com/office/powerpoint/2010/main" val="1600559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פונקציות מערכת - המשך</a:t>
            </a:r>
          </a:p>
        </p:txBody>
      </p:sp>
      <p:sp>
        <p:nvSpPr>
          <p:cNvPr id="3" name="מציין מיקום תוכן 2"/>
          <p:cNvSpPr>
            <a:spLocks noGrp="1"/>
          </p:cNvSpPr>
          <p:nvPr>
            <p:ph idx="1"/>
          </p:nvPr>
        </p:nvSpPr>
        <p:spPr/>
        <p:txBody>
          <a:bodyPr>
            <a:normAutofit fontScale="85000" lnSpcReduction="20000"/>
          </a:bodyPr>
          <a:lstStyle/>
          <a:p>
            <a:r>
              <a:rPr lang="he-IL" u="sng" dirty="0"/>
              <a:t>מערכים</a:t>
            </a:r>
            <a:endParaRPr lang="en-US" dirty="0"/>
          </a:p>
          <a:p>
            <a:pPr lvl="0">
              <a:buFont typeface="Courier New" panose="02070309020205020404" pitchFamily="49" charset="0"/>
              <a:buChar char="o"/>
            </a:pPr>
            <a:r>
              <a:rPr lang="en-US" dirty="0"/>
              <a:t>Length </a:t>
            </a:r>
            <a:r>
              <a:rPr lang="he-IL" dirty="0"/>
              <a:t> היא תכונה המכילה את מספר האלמנטים שלה מערך. </a:t>
            </a:r>
            <a:endParaRPr lang="en-US" dirty="0"/>
          </a:p>
          <a:p>
            <a:pPr lvl="0">
              <a:buFont typeface="Courier New" panose="02070309020205020404" pitchFamily="49" charset="0"/>
              <a:buChar char="o"/>
            </a:pPr>
            <a:r>
              <a:rPr lang="he-IL" dirty="0"/>
              <a:t> </a:t>
            </a:r>
            <a:r>
              <a:rPr lang="en-US" dirty="0" err="1"/>
              <a:t>Array.isArray</a:t>
            </a:r>
            <a:r>
              <a:rPr lang="en-US" dirty="0"/>
              <a:t>(x)</a:t>
            </a:r>
            <a:r>
              <a:rPr lang="he-IL" dirty="0"/>
              <a:t> בדיקה אם הפרמטר הוא מערך</a:t>
            </a:r>
            <a:endParaRPr lang="en-US" dirty="0"/>
          </a:p>
          <a:p>
            <a:pPr lvl="0">
              <a:buFont typeface="Courier New" panose="02070309020205020404" pitchFamily="49" charset="0"/>
              <a:buChar char="o"/>
            </a:pPr>
            <a:r>
              <a:rPr lang="he-IL" dirty="0"/>
              <a:t> </a:t>
            </a:r>
            <a:r>
              <a:rPr lang="en-US" dirty="0"/>
              <a:t>reverse()</a:t>
            </a:r>
            <a:r>
              <a:rPr lang="he-IL" dirty="0"/>
              <a:t> המתודה הזו הופכת את המערך.</a:t>
            </a:r>
            <a:endParaRPr lang="en-US" dirty="0"/>
          </a:p>
          <a:p>
            <a:pPr lvl="0">
              <a:buFont typeface="Courier New" panose="02070309020205020404" pitchFamily="49" charset="0"/>
              <a:buChar char="o"/>
            </a:pPr>
            <a:r>
              <a:rPr lang="he-IL" dirty="0"/>
              <a:t> </a:t>
            </a:r>
            <a:r>
              <a:rPr lang="en-US" dirty="0"/>
              <a:t> sort()</a:t>
            </a:r>
            <a:r>
              <a:rPr lang="he-IL" dirty="0"/>
              <a:t>המתודה הזו מסדרת את המערך לפי סדר </a:t>
            </a:r>
            <a:r>
              <a:rPr lang="he-IL" dirty="0" err="1"/>
              <a:t>אלפבתי</a:t>
            </a:r>
            <a:r>
              <a:rPr lang="he-IL" dirty="0"/>
              <a:t>.</a:t>
            </a:r>
            <a:endParaRPr lang="en-US" dirty="0"/>
          </a:p>
          <a:p>
            <a:pPr lvl="0">
              <a:buFont typeface="Courier New" panose="02070309020205020404" pitchFamily="49" charset="0"/>
              <a:buChar char="o"/>
            </a:pPr>
            <a:r>
              <a:rPr lang="he-IL" dirty="0"/>
              <a:t> </a:t>
            </a:r>
            <a:r>
              <a:rPr lang="en-US" dirty="0"/>
              <a:t>slice(2,4)</a:t>
            </a:r>
            <a:r>
              <a:rPr lang="he-IL" dirty="0"/>
              <a:t> לוקח ממקום מסוים עד מקום מסוים</a:t>
            </a:r>
          </a:p>
          <a:p>
            <a:pPr lvl="0">
              <a:buFont typeface="Courier New" panose="02070309020205020404" pitchFamily="49" charset="0"/>
              <a:buChar char="o"/>
            </a:pPr>
            <a:r>
              <a:rPr lang="he-IL" dirty="0"/>
              <a:t> </a:t>
            </a:r>
            <a:r>
              <a:rPr lang="en-US" dirty="0"/>
              <a:t>push()</a:t>
            </a:r>
            <a:r>
              <a:rPr lang="he-IL" dirty="0"/>
              <a:t> – מקבלת ערך ומוסיף לסוף המערך, הפונקציה מחזירה את גודל המערך החדש.</a:t>
            </a:r>
          </a:p>
          <a:p>
            <a:pPr lvl="0">
              <a:buFont typeface="Courier New" panose="02070309020205020404" pitchFamily="49" charset="0"/>
              <a:buChar char="o"/>
            </a:pPr>
            <a:r>
              <a:rPr lang="en-US" dirty="0"/>
              <a:t>Pop() </a:t>
            </a:r>
            <a:r>
              <a:rPr lang="he-IL" dirty="0"/>
              <a:t> – מוציאה את הערך האחרון במערך, ומחזירה את הערך שנשלף.</a:t>
            </a:r>
          </a:p>
          <a:p>
            <a:pPr lvl="0">
              <a:buFont typeface="Courier New" panose="02070309020205020404" pitchFamily="49" charset="0"/>
              <a:buChar char="o"/>
            </a:pPr>
            <a:r>
              <a:rPr lang="he-IL" dirty="0"/>
              <a:t> </a:t>
            </a:r>
            <a:r>
              <a:rPr lang="en-US" dirty="0" err="1"/>
              <a:t>unshift</a:t>
            </a:r>
            <a:r>
              <a:rPr lang="en-US" dirty="0"/>
              <a:t>()</a:t>
            </a:r>
            <a:r>
              <a:rPr lang="he-IL" dirty="0"/>
              <a:t> – מקבלת ערך ומוסיף לתחילת המערך, הפונקציה מחזירה את גודל המערך החדש.</a:t>
            </a:r>
          </a:p>
          <a:p>
            <a:pPr lvl="0">
              <a:buFont typeface="Courier New" panose="02070309020205020404" pitchFamily="49" charset="0"/>
              <a:buChar char="o"/>
            </a:pPr>
            <a:r>
              <a:rPr lang="en-US" dirty="0"/>
              <a:t>shift() </a:t>
            </a:r>
            <a:r>
              <a:rPr lang="he-IL" dirty="0"/>
              <a:t> – מוציאה את הערך הראשון במערך, ומחזירה את הערך שנשלף.</a:t>
            </a:r>
          </a:p>
          <a:p>
            <a:pPr lvl="0">
              <a:buFont typeface="Courier New" panose="02070309020205020404" pitchFamily="49" charset="0"/>
              <a:buChar char="o"/>
            </a:pPr>
            <a:r>
              <a:rPr lang="he-IL" dirty="0"/>
              <a:t> ועוד...</a:t>
            </a:r>
            <a:endParaRPr lang="en-US"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D99DCDFE-49DC-4E9B-A373-6BBFBB8D4427}"/>
              </a:ext>
            </a:extLst>
          </p:cNvPr>
          <p:cNvSpPr>
            <a:spLocks noGrp="1"/>
          </p:cNvSpPr>
          <p:nvPr>
            <p:ph type="sldNum" sz="quarter" idx="12"/>
          </p:nvPr>
        </p:nvSpPr>
        <p:spPr/>
        <p:txBody>
          <a:bodyPr/>
          <a:lstStyle/>
          <a:p>
            <a:fld id="{6113E31D-E2AB-40D1-8B51-AFA5AFEF393A}" type="slidenum">
              <a:rPr lang="en-US" smtClean="0"/>
              <a:t>23</a:t>
            </a:fld>
            <a:endParaRPr lang="en-US" dirty="0"/>
          </a:p>
        </p:txBody>
      </p:sp>
    </p:spTree>
    <p:extLst>
      <p:ext uri="{BB962C8B-B14F-4D97-AF65-F5344CB8AC3E}">
        <p14:creationId xmlns:p14="http://schemas.microsoft.com/office/powerpoint/2010/main" val="2608695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פונקציות מערכת - המשך</a:t>
            </a:r>
          </a:p>
        </p:txBody>
      </p:sp>
      <p:sp>
        <p:nvSpPr>
          <p:cNvPr id="3" name="מציין מיקום תוכן 2"/>
          <p:cNvSpPr>
            <a:spLocks noGrp="1"/>
          </p:cNvSpPr>
          <p:nvPr>
            <p:ph idx="1"/>
          </p:nvPr>
        </p:nvSpPr>
        <p:spPr/>
        <p:txBody>
          <a:bodyPr>
            <a:normAutofit fontScale="70000" lnSpcReduction="20000"/>
          </a:bodyPr>
          <a:lstStyle/>
          <a:p>
            <a:r>
              <a:rPr lang="he-IL" u="sng" dirty="0"/>
              <a:t>המרת נתונים</a:t>
            </a:r>
          </a:p>
          <a:p>
            <a:r>
              <a:rPr lang="he-IL" dirty="0"/>
              <a:t>ניתן להמיר סוג משתנה לסוג אחר ע"י </a:t>
            </a:r>
            <a:r>
              <a:rPr lang="en-US" dirty="0" err="1"/>
              <a:t>newType</a:t>
            </a:r>
            <a:r>
              <a:rPr lang="en-US" dirty="0"/>
              <a:t>(value)</a:t>
            </a:r>
            <a:r>
              <a:rPr lang="he-IL" dirty="0"/>
              <a:t>, לדוג   </a:t>
            </a:r>
            <a:r>
              <a:rPr lang="en-US" dirty="0"/>
              <a:t> </a:t>
            </a:r>
            <a:r>
              <a:rPr lang="en-US" dirty="0" err="1"/>
              <a:t>str</a:t>
            </a:r>
            <a:r>
              <a:rPr lang="en-US" dirty="0"/>
              <a:t>=String(15)</a:t>
            </a:r>
            <a:r>
              <a:rPr lang="he-IL" dirty="0"/>
              <a:t>,</a:t>
            </a:r>
            <a:r>
              <a:rPr lang="en-US" dirty="0" err="1"/>
              <a:t>num</a:t>
            </a:r>
            <a:r>
              <a:rPr lang="en-US" dirty="0"/>
              <a:t>=Number(‘123’)</a:t>
            </a:r>
            <a:r>
              <a:rPr lang="he-IL" dirty="0"/>
              <a:t>.</a:t>
            </a:r>
          </a:p>
          <a:p>
            <a:r>
              <a:rPr lang="he-IL" dirty="0"/>
              <a:t>ניתן להמיר למספר ע"י +, לדוג</a:t>
            </a:r>
            <a:r>
              <a:rPr lang="en-US" dirty="0"/>
              <a:t> </a:t>
            </a:r>
            <a:r>
              <a:rPr lang="en-US" dirty="0" err="1"/>
              <a:t>num</a:t>
            </a:r>
            <a:r>
              <a:rPr lang="en-US" dirty="0"/>
              <a:t>=+’123’  </a:t>
            </a:r>
            <a:r>
              <a:rPr lang="he-IL" dirty="0"/>
              <a:t>.</a:t>
            </a:r>
          </a:p>
          <a:p>
            <a:r>
              <a:rPr lang="he-IL" dirty="0"/>
              <a:t>פונקציות המצפות לקבל ערך מחרוזתי ממירות את הערך באופן מרומז – לדוג </a:t>
            </a:r>
            <a:r>
              <a:rPr lang="en-US" dirty="0"/>
              <a:t>alert</a:t>
            </a:r>
            <a:r>
              <a:rPr lang="he-IL" dirty="0"/>
              <a:t> ימיר את הערכים לטקסט גם בלי שהתבקש.</a:t>
            </a:r>
            <a:endParaRPr lang="en-US" dirty="0"/>
          </a:p>
          <a:p>
            <a:r>
              <a:rPr lang="he-IL" dirty="0"/>
              <a:t>אפשר להמיר טקסט למספר גם בפונקציות:</a:t>
            </a:r>
            <a:endParaRPr lang="en-US" dirty="0"/>
          </a:p>
          <a:p>
            <a:pPr lvl="0"/>
            <a:r>
              <a:rPr lang="en-US" dirty="0" err="1"/>
              <a:t>parseInt</a:t>
            </a:r>
            <a:r>
              <a:rPr lang="en-US" dirty="0"/>
              <a:t>() </a:t>
            </a:r>
            <a:r>
              <a:rPr lang="he-IL" dirty="0"/>
              <a:t> המחזירה את הערך המספרי השלם של המחרוזת.</a:t>
            </a:r>
            <a:endParaRPr lang="en-US" dirty="0"/>
          </a:p>
          <a:p>
            <a:pPr lvl="0"/>
            <a:r>
              <a:rPr lang="en-US" dirty="0" err="1"/>
              <a:t>parseFloat</a:t>
            </a:r>
            <a:r>
              <a:rPr lang="en-US" dirty="0"/>
              <a:t>()</a:t>
            </a:r>
            <a:r>
              <a:rPr lang="he-IL" dirty="0"/>
              <a:t> המחזירה את הערך המספרי העשרוני (נקודה-צפה) של המחרוזת.</a:t>
            </a:r>
            <a:endParaRPr lang="en-US" dirty="0"/>
          </a:p>
          <a:p>
            <a:r>
              <a:rPr lang="he-IL" dirty="0"/>
              <a:t>אם הערך בשדה אינו מספרי הפונקציות מחזירות </a:t>
            </a:r>
            <a:r>
              <a:rPr lang="en-US" dirty="0" err="1"/>
              <a:t>NaN</a:t>
            </a:r>
            <a:r>
              <a:rPr lang="en-US" dirty="0"/>
              <a:t> (Not a Number)</a:t>
            </a:r>
          </a:p>
          <a:p>
            <a:r>
              <a:rPr lang="he-IL" dirty="0"/>
              <a:t>ניתן לבדוק בעזרת הפונקציה </a:t>
            </a:r>
            <a:r>
              <a:rPr lang="en-US" dirty="0" err="1"/>
              <a:t>isNaN</a:t>
            </a:r>
            <a:r>
              <a:rPr lang="en-US" dirty="0"/>
              <a:t>() </a:t>
            </a:r>
            <a:r>
              <a:rPr lang="he-IL" dirty="0"/>
              <a:t> את הערך המוחזר. הפונקציה מחזירה </a:t>
            </a:r>
            <a:r>
              <a:rPr lang="en-US" dirty="0"/>
              <a:t>true </a:t>
            </a:r>
            <a:r>
              <a:rPr lang="he-IL" dirty="0"/>
              <a:t> אם הערך אינו מספר אחרת </a:t>
            </a:r>
            <a:r>
              <a:rPr lang="en-US" dirty="0"/>
              <a:t>false</a:t>
            </a:r>
            <a:r>
              <a:rPr lang="he-IL" dirty="0"/>
              <a:t>.</a:t>
            </a:r>
            <a:endParaRPr lang="en-US" dirty="0"/>
          </a:p>
          <a:p>
            <a:r>
              <a:rPr lang="he-IL" dirty="0"/>
              <a:t>לדוגמא: </a:t>
            </a:r>
            <a:endParaRPr lang="en-US" dirty="0"/>
          </a:p>
          <a:p>
            <a:r>
              <a:rPr lang="en-US" dirty="0"/>
              <a:t>if(</a:t>
            </a:r>
            <a:r>
              <a:rPr lang="en-US" dirty="0" err="1"/>
              <a:t>isNaN</a:t>
            </a:r>
            <a:r>
              <a:rPr lang="en-US" dirty="0"/>
              <a:t>(age)==true)  </a:t>
            </a:r>
          </a:p>
          <a:p>
            <a:r>
              <a:rPr lang="en-US" dirty="0"/>
              <a:t>     x="wrong number“   </a:t>
            </a:r>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85146EC0-C73B-4DAC-93E3-CCDD6B0EDE24}"/>
              </a:ext>
            </a:extLst>
          </p:cNvPr>
          <p:cNvSpPr>
            <a:spLocks noGrp="1"/>
          </p:cNvSpPr>
          <p:nvPr>
            <p:ph type="sldNum" sz="quarter" idx="12"/>
          </p:nvPr>
        </p:nvSpPr>
        <p:spPr/>
        <p:txBody>
          <a:bodyPr/>
          <a:lstStyle/>
          <a:p>
            <a:fld id="{6113E31D-E2AB-40D1-8B51-AFA5AFEF393A}" type="slidenum">
              <a:rPr lang="en-US" smtClean="0"/>
              <a:t>24</a:t>
            </a:fld>
            <a:endParaRPr lang="en-US" dirty="0"/>
          </a:p>
        </p:txBody>
      </p:sp>
    </p:spTree>
    <p:extLst>
      <p:ext uri="{BB962C8B-B14F-4D97-AF65-F5344CB8AC3E}">
        <p14:creationId xmlns:p14="http://schemas.microsoft.com/office/powerpoint/2010/main" val="646288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תרגילים</a:t>
            </a:r>
          </a:p>
        </p:txBody>
      </p:sp>
      <p:sp>
        <p:nvSpPr>
          <p:cNvPr id="3" name="מציין מיקום תוכן 2"/>
          <p:cNvSpPr>
            <a:spLocks noGrp="1"/>
          </p:cNvSpPr>
          <p:nvPr>
            <p:ph idx="1"/>
          </p:nvPr>
        </p:nvSpPr>
        <p:spPr/>
        <p:txBody>
          <a:bodyPr>
            <a:normAutofit fontScale="85000" lnSpcReduction="20000"/>
          </a:bodyPr>
          <a:lstStyle/>
          <a:p>
            <a:r>
              <a:rPr lang="he-IL" dirty="0"/>
              <a:t>פתחי דף </a:t>
            </a:r>
            <a:r>
              <a:rPr lang="en-US" dirty="0"/>
              <a:t>HTML</a:t>
            </a:r>
            <a:r>
              <a:rPr lang="he-IL" dirty="0"/>
              <a:t>, דף </a:t>
            </a:r>
            <a:r>
              <a:rPr lang="en-US" dirty="0"/>
              <a:t>JS</a:t>
            </a:r>
            <a:r>
              <a:rPr lang="he-IL" dirty="0"/>
              <a:t>, חברי את דף ה</a:t>
            </a:r>
            <a:r>
              <a:rPr lang="en-US" dirty="0"/>
              <a:t>JS</a:t>
            </a:r>
            <a:r>
              <a:rPr lang="he-IL" dirty="0"/>
              <a:t> לדף ה</a:t>
            </a:r>
            <a:r>
              <a:rPr lang="en-US" dirty="0"/>
              <a:t>HTML</a:t>
            </a:r>
            <a:r>
              <a:rPr lang="he-IL" dirty="0"/>
              <a:t>.</a:t>
            </a:r>
          </a:p>
          <a:p>
            <a:r>
              <a:rPr lang="he-IL" dirty="0"/>
              <a:t>כתבי את הפונקציות הבאות:</a:t>
            </a:r>
          </a:p>
          <a:p>
            <a:pPr marL="457200" indent="-457200">
              <a:buFont typeface="+mj-lt"/>
              <a:buAutoNum type="arabicParenR"/>
            </a:pPr>
            <a:r>
              <a:rPr lang="he-IL" dirty="0"/>
              <a:t>קולטת שם עי </a:t>
            </a:r>
            <a:r>
              <a:rPr lang="en-US" dirty="0"/>
              <a:t>prompt</a:t>
            </a:r>
            <a:r>
              <a:rPr lang="he-IL" dirty="0"/>
              <a:t>, ומדפיסה על בחלונית ה</a:t>
            </a:r>
            <a:r>
              <a:rPr lang="en-US" dirty="0"/>
              <a:t>console</a:t>
            </a:r>
            <a:r>
              <a:rPr lang="he-IL" dirty="0"/>
              <a:t> "שלום ל..."</a:t>
            </a:r>
          </a:p>
          <a:p>
            <a:pPr marL="457200" indent="-457200">
              <a:buFont typeface="+mj-lt"/>
              <a:buAutoNum type="arabicParenR"/>
            </a:pPr>
            <a:r>
              <a:rPr lang="he-IL" dirty="0"/>
              <a:t>מקבלת מספר, ומחזירה ב</a:t>
            </a:r>
            <a:r>
              <a:rPr lang="en-US" dirty="0"/>
              <a:t>alert </a:t>
            </a:r>
            <a:r>
              <a:rPr lang="he-IL" dirty="0"/>
              <a:t> האם הוא חד/ דו/ תלת ספרתי.</a:t>
            </a:r>
          </a:p>
          <a:p>
            <a:pPr marL="457200" indent="-457200">
              <a:buFont typeface="+mj-lt"/>
              <a:buAutoNum type="arabicParenR"/>
            </a:pPr>
            <a:r>
              <a:rPr lang="he-IL" dirty="0"/>
              <a:t>מקבלת 2 מספרים ומחזירה את סכומם.</a:t>
            </a:r>
          </a:p>
          <a:p>
            <a:pPr marL="457200" indent="-457200">
              <a:buFont typeface="+mj-lt"/>
              <a:buAutoNum type="arabicParenR"/>
            </a:pPr>
            <a:r>
              <a:rPr lang="he-IL" dirty="0"/>
              <a:t>מקבלת תאריך ומדפיסה ב</a:t>
            </a:r>
            <a:r>
              <a:rPr lang="en-US" dirty="0"/>
              <a:t> console </a:t>
            </a:r>
            <a:r>
              <a:rPr lang="he-IL" dirty="0"/>
              <a:t> כך: </a:t>
            </a:r>
            <a:r>
              <a:rPr lang="en-US" dirty="0"/>
              <a:t>‘</a:t>
            </a:r>
            <a:r>
              <a:rPr lang="en-US" dirty="0" err="1"/>
              <a:t>dd</a:t>
            </a:r>
            <a:r>
              <a:rPr lang="en-US" dirty="0"/>
              <a:t>/mm/</a:t>
            </a:r>
            <a:r>
              <a:rPr lang="en-US" dirty="0" err="1"/>
              <a:t>yyyy</a:t>
            </a:r>
            <a:r>
              <a:rPr lang="en-US" dirty="0"/>
              <a:t>’</a:t>
            </a:r>
            <a:r>
              <a:rPr lang="he-IL" dirty="0"/>
              <a:t> ו- </a:t>
            </a:r>
            <a:r>
              <a:rPr lang="en-US" dirty="0"/>
              <a:t>‘</a:t>
            </a:r>
            <a:r>
              <a:rPr lang="en-US" dirty="0" err="1"/>
              <a:t>dd</a:t>
            </a:r>
            <a:r>
              <a:rPr lang="en-US" dirty="0"/>
              <a:t>-mm-</a:t>
            </a:r>
            <a:r>
              <a:rPr lang="en-US" dirty="0" err="1"/>
              <a:t>yyyy</a:t>
            </a:r>
            <a:r>
              <a:rPr lang="en-US" dirty="0"/>
              <a:t>’</a:t>
            </a:r>
            <a:r>
              <a:rPr lang="he-IL" dirty="0"/>
              <a:t>.</a:t>
            </a:r>
          </a:p>
          <a:p>
            <a:pPr marL="457200" indent="-457200">
              <a:buFont typeface="+mj-lt"/>
              <a:buAutoNum type="arabicParenR"/>
            </a:pPr>
            <a:r>
              <a:rPr lang="he-IL" dirty="0"/>
              <a:t>הפונקציה קולטת מהמשתמש מספרים ע"י </a:t>
            </a:r>
            <a:r>
              <a:rPr lang="en-US" dirty="0"/>
              <a:t>prompt</a:t>
            </a:r>
            <a:r>
              <a:rPr lang="he-IL" dirty="0"/>
              <a:t>, עד להקשת -1, את המספרים הכניסי למערך. ב</a:t>
            </a:r>
            <a:r>
              <a:rPr lang="en-US" dirty="0"/>
              <a:t>alert</a:t>
            </a:r>
            <a:r>
              <a:rPr lang="he-IL" dirty="0"/>
              <a:t> הדפיסי כמה איברים במערך.  את שני האיברים הראשונים שלחי לפונקציה 3, ושמרי במשתנה את הערך שיוחזר, עברי על שאר איברי המערך ושלחי </a:t>
            </a:r>
            <a:r>
              <a:rPr lang="he-IL" dirty="0" err="1"/>
              <a:t>לפונק</a:t>
            </a:r>
            <a:r>
              <a:rPr lang="he-IL" dirty="0"/>
              <a:t>' 3 בכל פעם את הסכום שהצטבר עד כה ואת האיבר הבא, בסיום הדפיסי ב</a:t>
            </a:r>
            <a:r>
              <a:rPr lang="en-US" dirty="0"/>
              <a:t>console</a:t>
            </a:r>
            <a:r>
              <a:rPr lang="he-IL" dirty="0"/>
              <a:t> את סכום איברי המערך. (שימי לב יש צורך בהמרה)</a:t>
            </a:r>
          </a:p>
          <a:p>
            <a:pPr marL="457200" indent="-457200">
              <a:buFont typeface="+mj-lt"/>
              <a:buAutoNum type="arabicParenR"/>
            </a:pPr>
            <a:r>
              <a:rPr lang="he-IL" dirty="0"/>
              <a:t>הגרילי מספר בין </a:t>
            </a:r>
            <a:r>
              <a:rPr lang="en-US" dirty="0"/>
              <a:t>-100</a:t>
            </a:r>
            <a:r>
              <a:rPr lang="he-IL" dirty="0"/>
              <a:t> ועד 100, הדפיסי ב </a:t>
            </a:r>
            <a:r>
              <a:rPr lang="en-US" dirty="0"/>
              <a:t>console</a:t>
            </a:r>
            <a:r>
              <a:rPr lang="he-IL" dirty="0"/>
              <a:t>, הפכי אותו לחיובי (ערך מוחלט) עגלי והדפיסי ב</a:t>
            </a:r>
            <a:r>
              <a:rPr lang="en-US" dirty="0"/>
              <a:t> console</a:t>
            </a:r>
            <a:r>
              <a:rPr lang="he-IL" dirty="0"/>
              <a:t>.</a:t>
            </a:r>
            <a:endParaRPr lang="en-US" dirty="0"/>
          </a:p>
          <a:p>
            <a:pPr marL="0" indent="0" algn="ctr">
              <a:buNone/>
            </a:pPr>
            <a:r>
              <a:rPr lang="he-IL" dirty="0"/>
              <a:t>קראי לפונקציות ובדקי את תקינותם.</a:t>
            </a:r>
          </a:p>
        </p:txBody>
      </p:sp>
      <p:sp>
        <p:nvSpPr>
          <p:cNvPr id="4" name="מציין מיקום של כותרת תחתונה 3"/>
          <p:cNvSpPr>
            <a:spLocks noGrp="1"/>
          </p:cNvSpPr>
          <p:nvPr>
            <p:ph type="ftr" sz="quarter" idx="11"/>
          </p:nvPr>
        </p:nvSpPr>
        <p:spPr/>
        <p:txBody>
          <a:bodyPr/>
          <a:lstStyle/>
          <a:p>
            <a:r>
              <a:rPr lang="en-US" dirty="0"/>
              <a:t>©</a:t>
            </a:r>
            <a:r>
              <a:rPr lang="en-US" dirty="0" err="1"/>
              <a:t>n.c.</a:t>
            </a:r>
            <a:r>
              <a:rPr lang="en-US" dirty="0"/>
              <a:t> 0527129330</a:t>
            </a:r>
          </a:p>
        </p:txBody>
      </p:sp>
      <p:sp>
        <p:nvSpPr>
          <p:cNvPr id="5" name="מציין מיקום של מספר שקופית 4">
            <a:extLst>
              <a:ext uri="{FF2B5EF4-FFF2-40B4-BE49-F238E27FC236}">
                <a16:creationId xmlns:a16="http://schemas.microsoft.com/office/drawing/2014/main" id="{09C484D4-37F9-4070-B232-23927697F4BB}"/>
              </a:ext>
            </a:extLst>
          </p:cNvPr>
          <p:cNvSpPr>
            <a:spLocks noGrp="1"/>
          </p:cNvSpPr>
          <p:nvPr>
            <p:ph type="sldNum" sz="quarter" idx="12"/>
          </p:nvPr>
        </p:nvSpPr>
        <p:spPr/>
        <p:txBody>
          <a:bodyPr/>
          <a:lstStyle/>
          <a:p>
            <a:fld id="{6113E31D-E2AB-40D1-8B51-AFA5AFEF393A}" type="slidenum">
              <a:rPr lang="en-US" smtClean="0"/>
              <a:t>25</a:t>
            </a:fld>
            <a:endParaRPr lang="en-US" dirty="0"/>
          </a:p>
        </p:txBody>
      </p:sp>
    </p:spTree>
    <p:extLst>
      <p:ext uri="{BB962C8B-B14F-4D97-AF65-F5344CB8AC3E}">
        <p14:creationId xmlns:p14="http://schemas.microsoft.com/office/powerpoint/2010/main" val="36184670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תרגילים </a:t>
            </a:r>
          </a:p>
        </p:txBody>
      </p:sp>
      <p:sp>
        <p:nvSpPr>
          <p:cNvPr id="3" name="מציין מיקום תוכן 2"/>
          <p:cNvSpPr>
            <a:spLocks noGrp="1"/>
          </p:cNvSpPr>
          <p:nvPr>
            <p:ph idx="1"/>
          </p:nvPr>
        </p:nvSpPr>
        <p:spPr/>
        <p:txBody>
          <a:bodyPr>
            <a:noAutofit/>
          </a:bodyPr>
          <a:lstStyle/>
          <a:p>
            <a:r>
              <a:rPr lang="he-IL" dirty="0"/>
              <a:t>צרי על </a:t>
            </a:r>
            <a:r>
              <a:rPr lang="he-IL"/>
              <a:t>המסך 7 </a:t>
            </a:r>
            <a:r>
              <a:rPr lang="he-IL" dirty="0"/>
              <a:t>כפתורים, והפעילי את הפונקציות ע"י </a:t>
            </a:r>
            <a:r>
              <a:rPr lang="he-IL" dirty="0" err="1"/>
              <a:t>ארועים</a:t>
            </a:r>
            <a:r>
              <a:rPr lang="he-IL" dirty="0"/>
              <a:t>(כל כפתור פונק' אחת)</a:t>
            </a:r>
          </a:p>
          <a:p>
            <a:pPr marL="457200" indent="-457200">
              <a:buFont typeface="+mj-cs"/>
              <a:buAutoNum type="hebrew2Minus"/>
            </a:pPr>
            <a:r>
              <a:rPr lang="he-IL" dirty="0"/>
              <a:t>קלטי מייל עי </a:t>
            </a:r>
            <a:r>
              <a:rPr lang="en-US" dirty="0"/>
              <a:t>prompt</a:t>
            </a:r>
            <a:r>
              <a:rPr lang="he-IL" dirty="0"/>
              <a:t> ובדקי האם מכיל את הסיומת </a:t>
            </a:r>
            <a:r>
              <a:rPr lang="en-US" dirty="0"/>
              <a:t>@gmail.com</a:t>
            </a:r>
            <a:endParaRPr lang="he-IL" dirty="0"/>
          </a:p>
          <a:p>
            <a:pPr marL="457200" indent="-457200">
              <a:buFont typeface="+mj-cs"/>
              <a:buAutoNum type="hebrew2Minus"/>
            </a:pPr>
            <a:r>
              <a:rPr lang="he-IL" dirty="0"/>
              <a:t>הגרילי מספר בין 1-100, עגלי אותו, קלטי מספר מהמשתמש והציגי האם המספר גדול / קטן מהמספר שהוגרל, אפשרי עד 15 ניחושים, </a:t>
            </a:r>
            <a:r>
              <a:rPr lang="he-IL" dirty="0" err="1"/>
              <a:t>בנצחון</a:t>
            </a:r>
            <a:r>
              <a:rPr lang="he-IL" dirty="0"/>
              <a:t>/ </a:t>
            </a:r>
            <a:r>
              <a:rPr lang="he-IL" dirty="0" err="1"/>
              <a:t>כשלון</a:t>
            </a:r>
            <a:r>
              <a:rPr lang="he-IL" dirty="0"/>
              <a:t> כתבי על המסך הודעה מתאימה.</a:t>
            </a:r>
          </a:p>
          <a:p>
            <a:pPr marL="457200" indent="-457200">
              <a:buFont typeface="+mj-cs"/>
              <a:buAutoNum type="hebrew2Minus"/>
            </a:pPr>
            <a:r>
              <a:rPr lang="he-IL" dirty="0"/>
              <a:t>קלטי באמצעות </a:t>
            </a:r>
            <a:r>
              <a:rPr lang="en-US" dirty="0"/>
              <a:t>prompt</a:t>
            </a:r>
            <a:r>
              <a:rPr lang="he-IL" dirty="0"/>
              <a:t> מס' תלמידות, , קלטי שם וציון לכל תלמידה (במחרוזת אחת, לדוג' שרה 100 בין השם לציון רווח). את שמות התלמידות הכניסי למערך, ואת הציונים למערך מקביל (עליך לחתוך את הקלט ברווח), עברי על הציונים, הדפיסי את שם התלמידה שקבלה את הציון הגבוה ביותר, הנמוך ביותר, ואחר כך את ממוצע הציונים מעוגל כלפי מעלה.</a:t>
            </a:r>
          </a:p>
          <a:p>
            <a:pPr marL="457200" indent="-457200">
              <a:buFont typeface="+mj-cs"/>
              <a:buAutoNum type="hebrew2Minus"/>
            </a:pPr>
            <a:r>
              <a:rPr lang="he-IL" dirty="0"/>
              <a:t>הציגי ב</a:t>
            </a:r>
            <a:r>
              <a:rPr lang="en-US" dirty="0"/>
              <a:t>alert</a:t>
            </a:r>
            <a:r>
              <a:rPr lang="he-IL" dirty="0"/>
              <a:t> את היום בשבוע של היום, ואת השעה המדויקת.</a:t>
            </a:r>
            <a:endParaRPr lang="en-US" dirty="0"/>
          </a:p>
          <a:p>
            <a:pPr marL="457200" indent="-457200">
              <a:buFont typeface="+mj-cs"/>
              <a:buAutoNum type="hebrew2Minus"/>
            </a:pPr>
            <a:endParaRPr lang="he-IL"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78D6C0ED-775E-4FD5-869D-DCCB7AE12534}"/>
              </a:ext>
            </a:extLst>
          </p:cNvPr>
          <p:cNvSpPr>
            <a:spLocks noGrp="1"/>
          </p:cNvSpPr>
          <p:nvPr>
            <p:ph type="sldNum" sz="quarter" idx="12"/>
          </p:nvPr>
        </p:nvSpPr>
        <p:spPr/>
        <p:txBody>
          <a:bodyPr/>
          <a:lstStyle/>
          <a:p>
            <a:fld id="{6113E31D-E2AB-40D1-8B51-AFA5AFEF393A}" type="slidenum">
              <a:rPr lang="en-US" smtClean="0"/>
              <a:t>26</a:t>
            </a:fld>
            <a:endParaRPr lang="en-US" dirty="0"/>
          </a:p>
        </p:txBody>
      </p:sp>
    </p:spTree>
    <p:extLst>
      <p:ext uri="{BB962C8B-B14F-4D97-AF65-F5344CB8AC3E}">
        <p14:creationId xmlns:p14="http://schemas.microsoft.com/office/powerpoint/2010/main" val="2493032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המשך</a:t>
            </a:r>
          </a:p>
        </p:txBody>
      </p:sp>
      <p:sp>
        <p:nvSpPr>
          <p:cNvPr id="3" name="מציין מיקום תוכן 2"/>
          <p:cNvSpPr>
            <a:spLocks noGrp="1"/>
          </p:cNvSpPr>
          <p:nvPr>
            <p:ph idx="1"/>
          </p:nvPr>
        </p:nvSpPr>
        <p:spPr/>
        <p:txBody>
          <a:bodyPr>
            <a:normAutofit/>
          </a:bodyPr>
          <a:lstStyle/>
          <a:p>
            <a:pPr marL="457200" indent="-457200">
              <a:buFont typeface="+mj-cs"/>
              <a:buAutoNum type="hebrew2Minus" startAt="5"/>
            </a:pPr>
            <a:r>
              <a:rPr lang="he-IL" dirty="0"/>
              <a:t>קלטי מחרוזת באנגלית והציגי ב</a:t>
            </a:r>
            <a:r>
              <a:rPr lang="en-US" dirty="0"/>
              <a:t> confirm</a:t>
            </a:r>
            <a:r>
              <a:rPr lang="he-IL" dirty="0"/>
              <a:t> את המחרוזת באותיות גדולות. ב</a:t>
            </a:r>
            <a:r>
              <a:rPr lang="en-US" dirty="0"/>
              <a:t>alert</a:t>
            </a:r>
            <a:r>
              <a:rPr lang="he-IL" dirty="0"/>
              <a:t> כתבי האם לחצו אישור/ ביטול.</a:t>
            </a:r>
            <a:endParaRPr lang="en-US" dirty="0"/>
          </a:p>
          <a:p>
            <a:pPr marL="457200" indent="-457200">
              <a:buFont typeface="+mj-cs"/>
              <a:buAutoNum type="hebrew2Minus" startAt="5"/>
            </a:pPr>
            <a:r>
              <a:rPr lang="he-IL" dirty="0"/>
              <a:t>קלטי רשימת מחרוזת מספרים המופרדים ב',' המירי את הקלט למערך. והציגי ב</a:t>
            </a:r>
            <a:r>
              <a:rPr lang="en-US" dirty="0"/>
              <a:t> console</a:t>
            </a:r>
            <a:r>
              <a:rPr lang="he-IL" dirty="0"/>
              <a:t>.</a:t>
            </a:r>
          </a:p>
          <a:p>
            <a:pPr marL="457200" indent="-457200">
              <a:buFont typeface="+mj-cs"/>
              <a:buAutoNum type="hebrew2Minus" startAt="5"/>
            </a:pPr>
            <a:r>
              <a:rPr lang="he-IL" dirty="0"/>
              <a:t>קלטי 5 מילים למערך, מחקי את הראשון ואת האחרון. הפכי את המערך, הוסיפי מילה לתחילת המערך, והדפיסי ב</a:t>
            </a:r>
            <a:r>
              <a:rPr lang="en-US" dirty="0"/>
              <a:t> console</a:t>
            </a:r>
            <a:r>
              <a:rPr lang="he-IL" dirty="0"/>
              <a:t>.</a:t>
            </a:r>
          </a:p>
          <a:p>
            <a:pPr marL="0" indent="0">
              <a:buNone/>
            </a:pPr>
            <a:endParaRPr lang="he-IL" dirty="0"/>
          </a:p>
          <a:p>
            <a:r>
              <a:rPr lang="he-IL" dirty="0"/>
              <a:t> צרי תיבת קלט, כאשר יהיה פוקוס על הסמן הדפיסי בקונסול 'ברוך הבא', בכל הקשה הדפיסי בקונסול 'אני בפעולה', בעת יציאה הדפיסי 'סיימנו', בצעי את </a:t>
            </a:r>
            <a:r>
              <a:rPr lang="he-IL" dirty="0" err="1"/>
              <a:t>הכל</a:t>
            </a:r>
            <a:r>
              <a:rPr lang="he-IL" dirty="0"/>
              <a:t> עם פונקציה אחת.</a:t>
            </a:r>
          </a:p>
          <a:p>
            <a:pPr marL="0" indent="0" algn="l">
              <a:buNone/>
            </a:pPr>
            <a:r>
              <a:rPr lang="he-IL" sz="2800" dirty="0"/>
              <a:t>בהצלחה!!!!</a:t>
            </a:r>
          </a:p>
          <a:p>
            <a:pPr marL="457200" indent="-457200">
              <a:buFont typeface="+mj-cs"/>
              <a:buAutoNum type="hebrew2Minus" startAt="6"/>
            </a:pPr>
            <a:endParaRPr lang="he-IL"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8122A8B8-75DF-4BB5-92F4-31F5DF04989C}"/>
              </a:ext>
            </a:extLst>
          </p:cNvPr>
          <p:cNvSpPr>
            <a:spLocks noGrp="1"/>
          </p:cNvSpPr>
          <p:nvPr>
            <p:ph type="sldNum" sz="quarter" idx="12"/>
          </p:nvPr>
        </p:nvSpPr>
        <p:spPr/>
        <p:txBody>
          <a:bodyPr/>
          <a:lstStyle/>
          <a:p>
            <a:fld id="{6113E31D-E2AB-40D1-8B51-AFA5AFEF393A}" type="slidenum">
              <a:rPr lang="en-US" smtClean="0"/>
              <a:t>27</a:t>
            </a:fld>
            <a:endParaRPr lang="en-US" dirty="0"/>
          </a:p>
        </p:txBody>
      </p:sp>
    </p:spTree>
    <p:extLst>
      <p:ext uri="{BB962C8B-B14F-4D97-AF65-F5344CB8AC3E}">
        <p14:creationId xmlns:p14="http://schemas.microsoft.com/office/powerpoint/2010/main" val="3524037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אובייקטים</a:t>
            </a:r>
          </a:p>
        </p:txBody>
      </p:sp>
      <p:sp>
        <p:nvSpPr>
          <p:cNvPr id="3" name="מציין מיקום תוכן 2"/>
          <p:cNvSpPr>
            <a:spLocks noGrp="1"/>
          </p:cNvSpPr>
          <p:nvPr>
            <p:ph idx="1"/>
          </p:nvPr>
        </p:nvSpPr>
        <p:spPr/>
        <p:txBody>
          <a:bodyPr/>
          <a:lstStyle/>
          <a:p>
            <a:pPr>
              <a:buFont typeface="Wingdings" panose="05000000000000000000" pitchFamily="2" charset="2"/>
              <a:buChar char="§"/>
            </a:pPr>
            <a:r>
              <a:rPr lang="he-IL" dirty="0"/>
              <a:t> כדי ליצור אובייקט נגדיר משתנה שיכיל את האובייקט, ונציב בו את כל ערכי האובייקט בתוך סוגריים מסולסלות {}, יש לכתוב שם מאפיין : ערך, בין המאפיינים נציב פסיק.</a:t>
            </a:r>
          </a:p>
          <a:p>
            <a:r>
              <a:rPr lang="he-IL" dirty="0"/>
              <a:t>לדוג – </a:t>
            </a:r>
            <a:r>
              <a:rPr lang="en-US" dirty="0"/>
              <a:t>let person1={ id:1, name: ”Avraham”}</a:t>
            </a:r>
            <a:endParaRPr lang="he-IL" dirty="0"/>
          </a:p>
          <a:p>
            <a:pPr>
              <a:buFont typeface="Wingdings" panose="05000000000000000000" pitchFamily="2" charset="2"/>
              <a:buChar char="§"/>
            </a:pPr>
            <a:r>
              <a:rPr lang="he-IL" dirty="0"/>
              <a:t> גישה למאפייני האובייקט:</a:t>
            </a:r>
          </a:p>
          <a:p>
            <a:pPr lvl="3">
              <a:buFont typeface="Wingdings" panose="05000000000000000000" pitchFamily="2" charset="2"/>
              <a:buChar char="Ø"/>
            </a:pPr>
            <a:r>
              <a:rPr lang="he-IL" dirty="0"/>
              <a:t>או עי שם האובייקט נקודה שם המאפיין (כמו שאתן מכירות מ</a:t>
            </a:r>
            <a:r>
              <a:rPr lang="en-US" dirty="0"/>
              <a:t>JAVA</a:t>
            </a:r>
            <a:r>
              <a:rPr lang="he-IL" dirty="0"/>
              <a:t>) </a:t>
            </a:r>
            <a:r>
              <a:rPr lang="en-US" dirty="0"/>
              <a:t>p.name</a:t>
            </a:r>
            <a:endParaRPr lang="he-IL" dirty="0"/>
          </a:p>
          <a:p>
            <a:pPr lvl="3">
              <a:buFont typeface="Wingdings" panose="05000000000000000000" pitchFamily="2" charset="2"/>
              <a:buChar char="Ø"/>
            </a:pPr>
            <a:r>
              <a:rPr lang="he-IL" dirty="0"/>
              <a:t>אפשר גם עי סוגריים מרובעות – כמו מערך, יש לעטוף את שם המאפיין בגרשיים.</a:t>
            </a:r>
          </a:p>
          <a:p>
            <a:pPr marL="566928" lvl="3" indent="0">
              <a:buNone/>
            </a:pPr>
            <a:r>
              <a:rPr lang="he-IL" dirty="0"/>
              <a:t>     </a:t>
            </a:r>
            <a:r>
              <a:rPr lang="en-US" dirty="0"/>
              <a:t>P[“name”]</a:t>
            </a:r>
            <a:r>
              <a:rPr lang="he-IL" dirty="0"/>
              <a:t> – אפשרות זו שימושית כאשר שם המאפיין מגיע במשתנה. </a:t>
            </a:r>
          </a:p>
          <a:p>
            <a:pPr marL="0" indent="0">
              <a:buNone/>
            </a:pPr>
            <a:endParaRPr lang="he-IL" dirty="0"/>
          </a:p>
          <a:p>
            <a:endParaRPr lang="he-IL" dirty="0"/>
          </a:p>
        </p:txBody>
      </p:sp>
      <p:sp>
        <p:nvSpPr>
          <p:cNvPr id="4" name="מציין מיקום של כותרת תחתונה 3">
            <a:extLst>
              <a:ext uri="{FF2B5EF4-FFF2-40B4-BE49-F238E27FC236}">
                <a16:creationId xmlns:a16="http://schemas.microsoft.com/office/drawing/2014/main" id="{F01FC545-D25F-416A-B858-E276567383DE}"/>
              </a:ext>
            </a:extLst>
          </p:cNvPr>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C264E545-1663-4729-BF1D-72B26CADD02C}"/>
              </a:ext>
            </a:extLst>
          </p:cNvPr>
          <p:cNvSpPr>
            <a:spLocks noGrp="1"/>
          </p:cNvSpPr>
          <p:nvPr>
            <p:ph type="sldNum" sz="quarter" idx="12"/>
          </p:nvPr>
        </p:nvSpPr>
        <p:spPr/>
        <p:txBody>
          <a:bodyPr/>
          <a:lstStyle/>
          <a:p>
            <a:fld id="{6113E31D-E2AB-40D1-8B51-AFA5AFEF393A}" type="slidenum">
              <a:rPr lang="en-US" smtClean="0"/>
              <a:t>28</a:t>
            </a:fld>
            <a:endParaRPr lang="en-US" dirty="0"/>
          </a:p>
        </p:txBody>
      </p:sp>
    </p:spTree>
    <p:extLst>
      <p:ext uri="{BB962C8B-B14F-4D97-AF65-F5344CB8AC3E}">
        <p14:creationId xmlns:p14="http://schemas.microsoft.com/office/powerpoint/2010/main" val="1895424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מעבר בלולאה על תכונות האובייקט</a:t>
            </a:r>
          </a:p>
        </p:txBody>
      </p:sp>
      <p:sp>
        <p:nvSpPr>
          <p:cNvPr id="3" name="מציין מיקום תוכן 2"/>
          <p:cNvSpPr>
            <a:spLocks noGrp="1"/>
          </p:cNvSpPr>
          <p:nvPr>
            <p:ph idx="1"/>
          </p:nvPr>
        </p:nvSpPr>
        <p:spPr/>
        <p:txBody>
          <a:bodyPr/>
          <a:lstStyle/>
          <a:p>
            <a:r>
              <a:rPr lang="he-IL" dirty="0"/>
              <a:t>כשעברנו הלולאה על מערכים השתמשנו בתכונה </a:t>
            </a:r>
            <a:r>
              <a:rPr lang="en-US" dirty="0"/>
              <a:t>LENGTH</a:t>
            </a:r>
            <a:r>
              <a:rPr lang="he-IL" dirty="0"/>
              <a:t> כדי לדעת מתי לעצור את הלולאה.</a:t>
            </a:r>
          </a:p>
          <a:p>
            <a:r>
              <a:rPr lang="he-IL" dirty="0"/>
              <a:t> לאובייקטים אין את התכונה הזו ולכן משתמשים בתחביר קצת שונה – מבנה הלולאה הוא:</a:t>
            </a:r>
          </a:p>
          <a:p>
            <a:pPr marL="0" indent="0" algn="l">
              <a:buNone/>
            </a:pPr>
            <a:r>
              <a:rPr lang="he-IL" dirty="0"/>
              <a:t> </a:t>
            </a:r>
            <a:r>
              <a:rPr lang="en-US" dirty="0"/>
              <a:t>for( </a:t>
            </a:r>
            <a:r>
              <a:rPr lang="en-US" dirty="0" err="1"/>
              <a:t>var</a:t>
            </a:r>
            <a:r>
              <a:rPr lang="en-US" dirty="0"/>
              <a:t> prop in </a:t>
            </a:r>
            <a:r>
              <a:rPr lang="en-US" dirty="0" err="1"/>
              <a:t>obj</a:t>
            </a:r>
            <a:r>
              <a:rPr lang="en-US" dirty="0"/>
              <a:t>)</a:t>
            </a:r>
            <a:r>
              <a:rPr lang="he-IL" dirty="0"/>
              <a:t> .</a:t>
            </a:r>
          </a:p>
          <a:p>
            <a:r>
              <a:rPr lang="he-IL" dirty="0"/>
              <a:t>המשתנה המוגדר בלולאה (</a:t>
            </a:r>
            <a:r>
              <a:rPr lang="en-US" dirty="0"/>
              <a:t>prop</a:t>
            </a:r>
            <a:r>
              <a:rPr lang="he-IL" dirty="0"/>
              <a:t>) לא מכיל את האינדקס אלא את שם התכונה.</a:t>
            </a:r>
          </a:p>
          <a:p>
            <a:r>
              <a:rPr lang="he-IL" dirty="0"/>
              <a:t>אם נרצה לגשת לערך יש לגשת לאובייקט ובתוך סוגריים מרובעות לשים את שם התכונה – שם המשתנה. לדוג' </a:t>
            </a:r>
            <a:r>
              <a:rPr lang="en-US" dirty="0" err="1"/>
              <a:t>obj</a:t>
            </a:r>
            <a:r>
              <a:rPr lang="en-US" dirty="0"/>
              <a:t>[prop]</a:t>
            </a:r>
            <a:r>
              <a:rPr lang="he-IL" dirty="0"/>
              <a:t>.</a:t>
            </a:r>
          </a:p>
          <a:p>
            <a:r>
              <a:rPr lang="he-IL" dirty="0"/>
              <a:t>שימי לב – א"א להשתמש בתחביר עם הנקודה כי ה</a:t>
            </a:r>
            <a:r>
              <a:rPr lang="en-US" dirty="0"/>
              <a:t>PROP</a:t>
            </a:r>
            <a:r>
              <a:rPr lang="he-IL" dirty="0"/>
              <a:t> הוא משתנה ולא מחרוזת.</a:t>
            </a:r>
          </a:p>
        </p:txBody>
      </p:sp>
      <p:sp>
        <p:nvSpPr>
          <p:cNvPr id="4" name="מציין מיקום של כותרת תחתונה 3">
            <a:extLst>
              <a:ext uri="{FF2B5EF4-FFF2-40B4-BE49-F238E27FC236}">
                <a16:creationId xmlns:a16="http://schemas.microsoft.com/office/drawing/2014/main" id="{00C87579-18CA-48AC-8A15-696D34BC4C89}"/>
              </a:ext>
            </a:extLst>
          </p:cNvPr>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F2B32D6C-6DB9-4278-8B51-8B64D4797E1D}"/>
              </a:ext>
            </a:extLst>
          </p:cNvPr>
          <p:cNvSpPr>
            <a:spLocks noGrp="1"/>
          </p:cNvSpPr>
          <p:nvPr>
            <p:ph type="sldNum" sz="quarter" idx="12"/>
          </p:nvPr>
        </p:nvSpPr>
        <p:spPr/>
        <p:txBody>
          <a:bodyPr/>
          <a:lstStyle/>
          <a:p>
            <a:fld id="{6113E31D-E2AB-40D1-8B51-AFA5AFEF393A}" type="slidenum">
              <a:rPr lang="en-US" smtClean="0"/>
              <a:t>29</a:t>
            </a:fld>
            <a:endParaRPr lang="en-US" dirty="0"/>
          </a:p>
        </p:txBody>
      </p:sp>
    </p:spTree>
    <p:extLst>
      <p:ext uri="{BB962C8B-B14F-4D97-AF65-F5344CB8AC3E}">
        <p14:creationId xmlns:p14="http://schemas.microsoft.com/office/powerpoint/2010/main" val="22609211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מערכי אובייקטים</a:t>
            </a:r>
          </a:p>
        </p:txBody>
      </p:sp>
      <p:sp>
        <p:nvSpPr>
          <p:cNvPr id="3" name="מציין מיקום תוכן 2"/>
          <p:cNvSpPr>
            <a:spLocks noGrp="1"/>
          </p:cNvSpPr>
          <p:nvPr>
            <p:ph idx="1"/>
          </p:nvPr>
        </p:nvSpPr>
        <p:spPr/>
        <p:txBody>
          <a:bodyPr>
            <a:normAutofit fontScale="92500" lnSpcReduction="20000"/>
          </a:bodyPr>
          <a:lstStyle/>
          <a:p>
            <a:r>
              <a:rPr lang="he-IL" dirty="0"/>
              <a:t>ישנם הרבה פונקציות על מערכים, שכאשר המערך מכיל אובייקטים יש לשלוח לפונקציה כפרמטר פונקציה נוספת, נשלח פונקציה אנונימית – פונקציית חץ.</a:t>
            </a:r>
          </a:p>
          <a:p>
            <a:pPr lvl="0">
              <a:buFont typeface="Courier New" panose="02070309020205020404" pitchFamily="49" charset="0"/>
              <a:buChar char="o"/>
            </a:pPr>
            <a:r>
              <a:rPr lang="en-US" dirty="0"/>
              <a:t> - sort()</a:t>
            </a:r>
            <a:r>
              <a:rPr lang="he-IL" dirty="0"/>
              <a:t>מיון המערך, </a:t>
            </a:r>
            <a:r>
              <a:rPr lang="en-US" dirty="0" err="1"/>
              <a:t>arr.sort</a:t>
            </a:r>
            <a:r>
              <a:rPr lang="en-US" dirty="0"/>
              <a:t>((</a:t>
            </a:r>
            <a:r>
              <a:rPr lang="en-US" dirty="0" err="1"/>
              <a:t>x,y</a:t>
            </a:r>
            <a:r>
              <a:rPr lang="en-US" dirty="0"/>
              <a:t>)=&gt;{</a:t>
            </a:r>
            <a:r>
              <a:rPr lang="en-US" dirty="0" err="1"/>
              <a:t>returnx.age-y.age</a:t>
            </a:r>
            <a:r>
              <a:rPr lang="en-US" dirty="0"/>
              <a:t>})</a:t>
            </a:r>
            <a:endParaRPr lang="he-IL" dirty="0"/>
          </a:p>
          <a:p>
            <a:pPr marL="0" lvl="0" indent="0">
              <a:buNone/>
            </a:pPr>
            <a:r>
              <a:rPr lang="he-IL" dirty="0"/>
              <a:t>	</a:t>
            </a:r>
            <a:r>
              <a:rPr lang="en-US" dirty="0" err="1"/>
              <a:t>arr.sort</a:t>
            </a:r>
            <a:r>
              <a:rPr lang="en-US" dirty="0"/>
              <a:t>((</a:t>
            </a:r>
            <a:r>
              <a:rPr lang="en-US" dirty="0" err="1"/>
              <a:t>x,y</a:t>
            </a:r>
            <a:r>
              <a:rPr lang="en-US" dirty="0"/>
              <a:t>) =&gt;{return </a:t>
            </a:r>
            <a:r>
              <a:rPr lang="en-US" dirty="0" err="1"/>
              <a:t>x.a.localeCompare</a:t>
            </a:r>
            <a:r>
              <a:rPr lang="en-US" dirty="0"/>
              <a:t>(</a:t>
            </a:r>
            <a:r>
              <a:rPr lang="en-US" dirty="0" err="1"/>
              <a:t>y.a</a:t>
            </a:r>
            <a:r>
              <a:rPr lang="en-US" dirty="0"/>
              <a:t>)});</a:t>
            </a:r>
          </a:p>
          <a:p>
            <a:pPr lvl="0">
              <a:buFont typeface="Courier New" panose="02070309020205020404" pitchFamily="49" charset="0"/>
              <a:buChar char="o"/>
            </a:pPr>
            <a:r>
              <a:rPr lang="en-US" dirty="0"/>
              <a:t>find()</a:t>
            </a:r>
            <a:r>
              <a:rPr lang="he-IL" dirty="0"/>
              <a:t> – מחזירה את הערך הראשון שעונה על התנאי. </a:t>
            </a:r>
            <a:r>
              <a:rPr lang="en-US" dirty="0" err="1"/>
              <a:t>Arr.find</a:t>
            </a:r>
            <a:r>
              <a:rPr lang="en-US" dirty="0"/>
              <a:t>(x=&gt;</a:t>
            </a:r>
            <a:r>
              <a:rPr lang="en-US" dirty="0" err="1"/>
              <a:t>x.age</a:t>
            </a:r>
            <a:r>
              <a:rPr lang="en-US" dirty="0"/>
              <a:t>&gt;10)</a:t>
            </a:r>
            <a:endParaRPr lang="he-IL" dirty="0"/>
          </a:p>
          <a:p>
            <a:pPr lvl="0">
              <a:buFont typeface="Courier New" panose="02070309020205020404" pitchFamily="49" charset="0"/>
              <a:buChar char="o"/>
            </a:pPr>
            <a:r>
              <a:rPr lang="en-US" dirty="0" err="1"/>
              <a:t>findIndex</a:t>
            </a:r>
            <a:r>
              <a:rPr lang="en-US" dirty="0"/>
              <a:t>()</a:t>
            </a:r>
            <a:r>
              <a:rPr lang="he-IL" dirty="0"/>
              <a:t> – מחזירה את מיקום האיבר הראשון העונה על התנאי.</a:t>
            </a:r>
          </a:p>
          <a:p>
            <a:pPr lvl="0">
              <a:buFont typeface="Courier New" panose="02070309020205020404" pitchFamily="49" charset="0"/>
              <a:buChar char="o"/>
            </a:pPr>
            <a:r>
              <a:rPr lang="en-US" dirty="0"/>
              <a:t>every()</a:t>
            </a:r>
            <a:r>
              <a:rPr lang="he-IL" dirty="0"/>
              <a:t> – מחזיר אמת אם כל האיברים עונים על התנאי.</a:t>
            </a:r>
          </a:p>
          <a:p>
            <a:pPr>
              <a:buFont typeface="Courier New" panose="02070309020205020404" pitchFamily="49" charset="0"/>
              <a:buChar char="o"/>
            </a:pPr>
            <a:r>
              <a:rPr lang="en-US" dirty="0"/>
              <a:t>some()</a:t>
            </a:r>
            <a:r>
              <a:rPr lang="he-IL" dirty="0"/>
              <a:t> – מחזיר אמת אם לפחות אחד האיברים עונים על התנאי.</a:t>
            </a:r>
          </a:p>
          <a:p>
            <a:pPr lvl="0">
              <a:buFont typeface="Courier New" panose="02070309020205020404" pitchFamily="49" charset="0"/>
              <a:buChar char="o"/>
            </a:pPr>
            <a:r>
              <a:rPr lang="en-US" dirty="0"/>
              <a:t>Filter()</a:t>
            </a:r>
            <a:r>
              <a:rPr lang="he-IL" dirty="0"/>
              <a:t> – מחזיר מערך חדש עם האיברים העונים על התנאי.</a:t>
            </a:r>
          </a:p>
          <a:p>
            <a:pPr lvl="0">
              <a:buFont typeface="Courier New" panose="02070309020205020404" pitchFamily="49" charset="0"/>
              <a:buChar char="o"/>
            </a:pPr>
            <a:r>
              <a:rPr lang="en-US" dirty="0"/>
              <a:t>includes()</a:t>
            </a:r>
            <a:r>
              <a:rPr lang="he-IL" dirty="0"/>
              <a:t> – מחזיר אמת אם המערך מכיל את הערך שנשלח.</a:t>
            </a:r>
            <a:endParaRPr lang="en-US" dirty="0"/>
          </a:p>
          <a:p>
            <a:endParaRPr lang="he-IL" dirty="0"/>
          </a:p>
        </p:txBody>
      </p:sp>
      <p:sp>
        <p:nvSpPr>
          <p:cNvPr id="4" name="מציין מיקום של כותרת תחתונה 3">
            <a:extLst>
              <a:ext uri="{FF2B5EF4-FFF2-40B4-BE49-F238E27FC236}">
                <a16:creationId xmlns:a16="http://schemas.microsoft.com/office/drawing/2014/main" id="{CEFF5AC5-C161-4F48-90F8-4CE4C1125315}"/>
              </a:ext>
            </a:extLst>
          </p:cNvPr>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04269C93-2E36-42CA-872A-F830893949BE}"/>
              </a:ext>
            </a:extLst>
          </p:cNvPr>
          <p:cNvSpPr>
            <a:spLocks noGrp="1"/>
          </p:cNvSpPr>
          <p:nvPr>
            <p:ph type="sldNum" sz="quarter" idx="12"/>
          </p:nvPr>
        </p:nvSpPr>
        <p:spPr/>
        <p:txBody>
          <a:bodyPr/>
          <a:lstStyle/>
          <a:p>
            <a:fld id="{6113E31D-E2AB-40D1-8B51-AFA5AFEF393A}" type="slidenum">
              <a:rPr lang="en-US" smtClean="0"/>
              <a:t>30</a:t>
            </a:fld>
            <a:endParaRPr lang="en-US" dirty="0"/>
          </a:p>
        </p:txBody>
      </p:sp>
    </p:spTree>
    <p:extLst>
      <p:ext uri="{BB962C8B-B14F-4D97-AF65-F5344CB8AC3E}">
        <p14:creationId xmlns:p14="http://schemas.microsoft.com/office/powerpoint/2010/main" val="14067148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פונקציות מעבר על איברי המערך</a:t>
            </a:r>
          </a:p>
        </p:txBody>
      </p:sp>
      <p:sp>
        <p:nvSpPr>
          <p:cNvPr id="3" name="מציין מיקום תוכן 2"/>
          <p:cNvSpPr>
            <a:spLocks noGrp="1"/>
          </p:cNvSpPr>
          <p:nvPr>
            <p:ph idx="1"/>
          </p:nvPr>
        </p:nvSpPr>
        <p:spPr/>
        <p:txBody>
          <a:bodyPr>
            <a:normAutofit fontScale="92500" lnSpcReduction="10000"/>
          </a:bodyPr>
          <a:lstStyle/>
          <a:p>
            <a:pPr lvl="1">
              <a:lnSpc>
                <a:spcPct val="200000"/>
              </a:lnSpc>
              <a:buFont typeface="Wingdings" panose="05000000000000000000" pitchFamily="2" charset="2"/>
              <a:buChar char="§"/>
            </a:pPr>
            <a:r>
              <a:rPr lang="he-IL" dirty="0"/>
              <a:t> </a:t>
            </a:r>
            <a:r>
              <a:rPr lang="en-US" dirty="0" err="1"/>
              <a:t>forEeach</a:t>
            </a:r>
            <a:r>
              <a:rPr lang="en-US" dirty="0"/>
              <a:t>()</a:t>
            </a:r>
            <a:r>
              <a:rPr lang="he-IL" dirty="0"/>
              <a:t> – הפעלת פונקציה/ פעולה עבור כל אחד מאיברי המערך.</a:t>
            </a:r>
          </a:p>
          <a:p>
            <a:pPr marL="201168" lvl="1" indent="0">
              <a:lnSpc>
                <a:spcPct val="200000"/>
              </a:lnSpc>
              <a:buNone/>
            </a:pPr>
            <a:r>
              <a:rPr lang="he-IL" dirty="0"/>
              <a:t>	</a:t>
            </a:r>
            <a:r>
              <a:rPr lang="en-US" dirty="0" err="1"/>
              <a:t>arr.forEach</a:t>
            </a:r>
            <a:r>
              <a:rPr lang="en-US" dirty="0"/>
              <a:t>(x =&gt; console.log("my name is" + </a:t>
            </a:r>
            <a:r>
              <a:rPr lang="en-US" dirty="0" err="1"/>
              <a:t>x.nameP</a:t>
            </a:r>
            <a:r>
              <a:rPr lang="en-US" dirty="0"/>
              <a:t>))</a:t>
            </a:r>
            <a:endParaRPr lang="he-IL" dirty="0"/>
          </a:p>
          <a:p>
            <a:pPr lvl="1">
              <a:lnSpc>
                <a:spcPct val="200000"/>
              </a:lnSpc>
              <a:buFont typeface="Wingdings" panose="05000000000000000000" pitchFamily="2" charset="2"/>
              <a:buChar char="§"/>
            </a:pPr>
            <a:r>
              <a:rPr lang="en-US" dirty="0"/>
              <a:t>Map()</a:t>
            </a:r>
            <a:r>
              <a:rPr lang="he-IL" dirty="0"/>
              <a:t> – מחזיר מערך עם תוצאות כל הפונקציות שהופעלו על איברי המערך.</a:t>
            </a:r>
          </a:p>
          <a:p>
            <a:pPr marL="201168" lvl="1" indent="0">
              <a:lnSpc>
                <a:spcPct val="200000"/>
              </a:lnSpc>
              <a:buNone/>
            </a:pPr>
            <a:r>
              <a:rPr lang="en-US" dirty="0"/>
              <a:t>	let years=</a:t>
            </a:r>
            <a:r>
              <a:rPr lang="en-US" dirty="0" err="1"/>
              <a:t>arr.map</a:t>
            </a:r>
            <a:r>
              <a:rPr lang="en-US" dirty="0"/>
              <a:t>(a=&gt;2024-a.age)</a:t>
            </a:r>
          </a:p>
          <a:p>
            <a:pPr lvl="1">
              <a:lnSpc>
                <a:spcPct val="200000"/>
              </a:lnSpc>
              <a:buFont typeface="Wingdings" panose="05000000000000000000" pitchFamily="2" charset="2"/>
              <a:buChar char="§"/>
            </a:pPr>
            <a:r>
              <a:rPr lang="en-US" dirty="0"/>
              <a:t>Reduce()</a:t>
            </a:r>
            <a:r>
              <a:rPr lang="he-IL" dirty="0"/>
              <a:t> – מצמצם את ערכי המערך לערך בודד ע”י צמצום כל שני איברים.</a:t>
            </a:r>
          </a:p>
          <a:p>
            <a:pPr marL="201168" lvl="1" indent="0">
              <a:lnSpc>
                <a:spcPct val="200000"/>
              </a:lnSpc>
              <a:buNone/>
            </a:pPr>
            <a:r>
              <a:rPr lang="he-IL" dirty="0"/>
              <a:t>	</a:t>
            </a:r>
            <a:r>
              <a:rPr lang="en-US" dirty="0"/>
              <a:t> let </a:t>
            </a:r>
            <a:r>
              <a:rPr lang="en-US" dirty="0" err="1"/>
              <a:t>allPoints</a:t>
            </a:r>
            <a:r>
              <a:rPr lang="en-US" dirty="0"/>
              <a:t>= </a:t>
            </a:r>
            <a:r>
              <a:rPr lang="en-US" dirty="0" err="1"/>
              <a:t>arr.reduce</a:t>
            </a:r>
            <a:r>
              <a:rPr lang="en-US" dirty="0"/>
              <a:t>((</a:t>
            </a:r>
            <a:r>
              <a:rPr lang="en-US" dirty="0" err="1"/>
              <a:t>x,y</a:t>
            </a:r>
            <a:r>
              <a:rPr lang="en-US" dirty="0"/>
              <a:t>)=&gt;{return {point: </a:t>
            </a:r>
            <a:r>
              <a:rPr lang="en-US" dirty="0" err="1"/>
              <a:t>x.point+y.point</a:t>
            </a:r>
            <a:r>
              <a:rPr lang="en-US" dirty="0"/>
              <a:t>};{point:0}})</a:t>
            </a:r>
          </a:p>
          <a:p>
            <a:pPr>
              <a:lnSpc>
                <a:spcPct val="200000"/>
              </a:lnSpc>
            </a:pPr>
            <a:endParaRPr lang="he-IL" dirty="0"/>
          </a:p>
        </p:txBody>
      </p:sp>
      <p:sp>
        <p:nvSpPr>
          <p:cNvPr id="4" name="מציין מיקום של כותרת תחתונה 3">
            <a:extLst>
              <a:ext uri="{FF2B5EF4-FFF2-40B4-BE49-F238E27FC236}">
                <a16:creationId xmlns:a16="http://schemas.microsoft.com/office/drawing/2014/main" id="{9D5FEE86-E591-4C21-8D4B-86F2422F1845}"/>
              </a:ext>
            </a:extLst>
          </p:cNvPr>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5386CF5E-6329-46FF-92A7-ABA8E8F22494}"/>
              </a:ext>
            </a:extLst>
          </p:cNvPr>
          <p:cNvSpPr>
            <a:spLocks noGrp="1"/>
          </p:cNvSpPr>
          <p:nvPr>
            <p:ph type="sldNum" sz="quarter" idx="12"/>
          </p:nvPr>
        </p:nvSpPr>
        <p:spPr/>
        <p:txBody>
          <a:bodyPr/>
          <a:lstStyle/>
          <a:p>
            <a:fld id="{6113E31D-E2AB-40D1-8B51-AFA5AFEF393A}" type="slidenum">
              <a:rPr lang="en-US" smtClean="0"/>
              <a:t>31</a:t>
            </a:fld>
            <a:endParaRPr lang="en-US" dirty="0"/>
          </a:p>
        </p:txBody>
      </p:sp>
    </p:spTree>
    <p:extLst>
      <p:ext uri="{BB962C8B-B14F-4D97-AF65-F5344CB8AC3E}">
        <p14:creationId xmlns:p14="http://schemas.microsoft.com/office/powerpoint/2010/main" val="10368903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ש"ב</a:t>
            </a:r>
          </a:p>
        </p:txBody>
      </p:sp>
      <p:sp>
        <p:nvSpPr>
          <p:cNvPr id="3" name="מציין מיקום תוכן 2"/>
          <p:cNvSpPr>
            <a:spLocks noGrp="1"/>
          </p:cNvSpPr>
          <p:nvPr>
            <p:ph idx="1"/>
          </p:nvPr>
        </p:nvSpPr>
        <p:spPr>
          <a:xfrm>
            <a:off x="1154954" y="2290618"/>
            <a:ext cx="8825659" cy="4017818"/>
          </a:xfrm>
        </p:spPr>
        <p:txBody>
          <a:bodyPr>
            <a:normAutofit fontScale="77500" lnSpcReduction="20000"/>
          </a:bodyPr>
          <a:lstStyle/>
          <a:p>
            <a:pPr lvl="1">
              <a:lnSpc>
                <a:spcPct val="150000"/>
              </a:lnSpc>
              <a:buFont typeface="Wingdings" panose="05000000000000000000" pitchFamily="2" charset="2"/>
              <a:buChar char="v"/>
            </a:pPr>
            <a:r>
              <a:rPr lang="he-IL" dirty="0"/>
              <a:t> צרי רשימת תלמידות - שם, תאריך לידה, מספר נקודות.</a:t>
            </a:r>
          </a:p>
          <a:p>
            <a:pPr lvl="1">
              <a:lnSpc>
                <a:spcPct val="150000"/>
              </a:lnSpc>
              <a:buFont typeface="Wingdings" panose="05000000000000000000" pitchFamily="2" charset="2"/>
              <a:buChar char="v"/>
            </a:pPr>
            <a:r>
              <a:rPr lang="he-IL" dirty="0"/>
              <a:t>על המסך כתבי כותרת. וצרי </a:t>
            </a:r>
            <a:r>
              <a:rPr lang="he-IL" dirty="0" err="1"/>
              <a:t>דיב</a:t>
            </a:r>
            <a:r>
              <a:rPr lang="he-IL" dirty="0"/>
              <a:t> מוסתר</a:t>
            </a:r>
          </a:p>
          <a:p>
            <a:pPr lvl="1">
              <a:lnSpc>
                <a:spcPct val="150000"/>
              </a:lnSpc>
              <a:buFont typeface="Wingdings" panose="05000000000000000000" pitchFamily="2" charset="2"/>
              <a:buChar char="v"/>
            </a:pPr>
            <a:r>
              <a:rPr lang="he-IL" dirty="0"/>
              <a:t>בזמן ריצה צרי טבלה עם כל התלמידות. (השתמשי בלולאת </a:t>
            </a:r>
            <a:r>
              <a:rPr lang="en-US" dirty="0"/>
              <a:t>foreach</a:t>
            </a:r>
            <a:r>
              <a:rPr lang="he-IL" dirty="0"/>
              <a:t>)  הכותרות של הטבלה יהיו עם </a:t>
            </a:r>
            <a:r>
              <a:rPr lang="he-IL" dirty="0" err="1"/>
              <a:t>ארוע</a:t>
            </a:r>
            <a:r>
              <a:rPr lang="he-IL" dirty="0"/>
              <a:t>. </a:t>
            </a:r>
          </a:p>
          <a:p>
            <a:pPr lvl="1">
              <a:lnSpc>
                <a:spcPct val="150000"/>
              </a:lnSpc>
              <a:buFont typeface="Wingdings" panose="05000000000000000000" pitchFamily="2" charset="2"/>
              <a:buChar char="v"/>
            </a:pPr>
            <a:r>
              <a:rPr lang="he-IL" dirty="0"/>
              <a:t>בלחיצה על כותרת שלחי לפונקציה הממיינת את התלמידות לפי עמודה זו (רוקני את הטבלה, מייני את הרשימה וצרי את הטבלה מחדש)</a:t>
            </a:r>
          </a:p>
          <a:p>
            <a:pPr lvl="1">
              <a:lnSpc>
                <a:spcPct val="150000"/>
              </a:lnSpc>
              <a:buFont typeface="Wingdings" panose="05000000000000000000" pitchFamily="2" charset="2"/>
              <a:buChar char="v"/>
            </a:pPr>
            <a:r>
              <a:rPr lang="he-IL" dirty="0"/>
              <a:t>(ליד כל תלמידה הוסיפי כפתור מחיקה - ומחקי אותה מהרשימה</a:t>
            </a:r>
            <a:r>
              <a:rPr lang="en-US" dirty="0"/>
              <a:t>remove</a:t>
            </a:r>
            <a:r>
              <a:rPr lang="he-IL" dirty="0"/>
              <a:t>)</a:t>
            </a:r>
            <a:endParaRPr lang="en-US" dirty="0"/>
          </a:p>
          <a:p>
            <a:pPr lvl="1">
              <a:lnSpc>
                <a:spcPct val="150000"/>
              </a:lnSpc>
              <a:buFont typeface="Wingdings" panose="05000000000000000000" pitchFamily="2" charset="2"/>
              <a:buChar char="v"/>
            </a:pPr>
            <a:r>
              <a:rPr lang="he-IL" dirty="0"/>
              <a:t>(כאשר נמחקת תלמידה הציגי את </a:t>
            </a:r>
            <a:r>
              <a:rPr lang="he-IL" dirty="0" err="1"/>
              <a:t>הדיב</a:t>
            </a:r>
            <a:r>
              <a:rPr lang="he-IL" dirty="0"/>
              <a:t> למעלה עם הודעה התלמידה נמחקה. יש להסתיר את </a:t>
            </a:r>
            <a:r>
              <a:rPr lang="he-IL" dirty="0" err="1"/>
              <a:t>הדיב</a:t>
            </a:r>
            <a:r>
              <a:rPr lang="he-IL" dirty="0"/>
              <a:t> לאחר 2.5 שניות)</a:t>
            </a:r>
          </a:p>
          <a:p>
            <a:pPr lvl="1">
              <a:lnSpc>
                <a:spcPct val="150000"/>
              </a:lnSpc>
              <a:buFont typeface="Wingdings" panose="05000000000000000000" pitchFamily="2" charset="2"/>
              <a:buChar char="v"/>
            </a:pPr>
            <a:r>
              <a:rPr lang="he-IL" dirty="0"/>
              <a:t>הוסיפי תיבת חיפוש בה ניתן יהיה להקליד מספר נקודות, והציגי רק את התלמידות שעברו את מספר נקודות זה (שימי לב לא למחוק תלמידות אלו לגמרי אלא רק לא להציגם)</a:t>
            </a:r>
          </a:p>
          <a:p>
            <a:pPr lvl="1">
              <a:lnSpc>
                <a:spcPct val="150000"/>
              </a:lnSpc>
              <a:buFont typeface="Wingdings" panose="05000000000000000000" pitchFamily="2" charset="2"/>
              <a:buChar char="v"/>
            </a:pPr>
            <a:r>
              <a:rPr lang="he-IL" dirty="0"/>
              <a:t>הוסיפי כפתור איפוס המחזיר את כל התלמידות </a:t>
            </a:r>
          </a:p>
          <a:p>
            <a:pPr lvl="1">
              <a:lnSpc>
                <a:spcPct val="150000"/>
              </a:lnSpc>
              <a:buFont typeface="Wingdings" panose="05000000000000000000" pitchFamily="2" charset="2"/>
              <a:buChar char="v"/>
            </a:pPr>
            <a:r>
              <a:rPr lang="he-IL" dirty="0"/>
              <a:t>תיבת חיפוש נוספת - חיפוש לפי שם תלמידה, יש להציג את כל התלמידות שיש בשמם את הרצף שהתקבל.</a:t>
            </a:r>
          </a:p>
          <a:p>
            <a:pPr lvl="1">
              <a:lnSpc>
                <a:spcPct val="150000"/>
              </a:lnSpc>
              <a:buFont typeface="Wingdings" panose="05000000000000000000" pitchFamily="2" charset="2"/>
              <a:buChar char="v"/>
            </a:pPr>
            <a:endParaRPr lang="he-IL" dirty="0"/>
          </a:p>
          <a:p>
            <a:pPr lvl="1">
              <a:lnSpc>
                <a:spcPct val="150000"/>
              </a:lnSpc>
              <a:buFont typeface="Wingdings" panose="05000000000000000000" pitchFamily="2" charset="2"/>
              <a:buChar char="v"/>
            </a:pPr>
            <a:endParaRPr lang="he-IL"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
        <p:nvSpPr>
          <p:cNvPr id="5" name="מציין מיקום של מספר שקופית 4">
            <a:extLst>
              <a:ext uri="{FF2B5EF4-FFF2-40B4-BE49-F238E27FC236}">
                <a16:creationId xmlns:a16="http://schemas.microsoft.com/office/drawing/2014/main" id="{18EF79FA-E642-4F6B-A649-79BCCA6AB21B}"/>
              </a:ext>
            </a:extLst>
          </p:cNvPr>
          <p:cNvSpPr>
            <a:spLocks noGrp="1"/>
          </p:cNvSpPr>
          <p:nvPr>
            <p:ph type="sldNum" sz="quarter" idx="12"/>
          </p:nvPr>
        </p:nvSpPr>
        <p:spPr/>
        <p:txBody>
          <a:bodyPr/>
          <a:lstStyle/>
          <a:p>
            <a:fld id="{6113E31D-E2AB-40D1-8B51-AFA5AFEF393A}" type="slidenum">
              <a:rPr lang="en-US" smtClean="0"/>
              <a:t>32</a:t>
            </a:fld>
            <a:endParaRPr lang="en-US" dirty="0"/>
          </a:p>
        </p:txBody>
      </p:sp>
    </p:spTree>
    <p:extLst>
      <p:ext uri="{BB962C8B-B14F-4D97-AF65-F5344CB8AC3E}">
        <p14:creationId xmlns:p14="http://schemas.microsoft.com/office/powerpoint/2010/main" val="9960159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יונים - חדר ישיבות">
  <a:themeElements>
    <a:clrScheme name="יונים - חדר ישיבות">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יונים - חדר ישיבות">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יונים - חדר ישיבות">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529</TotalTime>
  <Words>3479</Words>
  <Application>Microsoft Office PowerPoint</Application>
  <PresentationFormat>מסך רחב</PresentationFormat>
  <Paragraphs>316</Paragraphs>
  <Slides>32</Slides>
  <Notes>0</Notes>
  <HiddenSlides>0</HiddenSlides>
  <MMClips>0</MMClips>
  <ScaleCrop>false</ScaleCrop>
  <HeadingPairs>
    <vt:vector size="6" baseType="variant">
      <vt:variant>
        <vt:lpstr>גופנים בשימוש</vt:lpstr>
      </vt:variant>
      <vt:variant>
        <vt:i4>9</vt:i4>
      </vt:variant>
      <vt:variant>
        <vt:lpstr>ערכת נושא</vt:lpstr>
      </vt:variant>
      <vt:variant>
        <vt:i4>1</vt:i4>
      </vt:variant>
      <vt:variant>
        <vt:lpstr>כותרות שקופיות</vt:lpstr>
      </vt:variant>
      <vt:variant>
        <vt:i4>32</vt:i4>
      </vt:variant>
    </vt:vector>
  </HeadingPairs>
  <TitlesOfParts>
    <vt:vector size="42" baseType="lpstr">
      <vt:lpstr>Arial</vt:lpstr>
      <vt:lpstr>Calibri</vt:lpstr>
      <vt:lpstr>Century Gothic</vt:lpstr>
      <vt:lpstr>Consolas</vt:lpstr>
      <vt:lpstr>Courier New</vt:lpstr>
      <vt:lpstr>EFT_Afarsek</vt:lpstr>
      <vt:lpstr>Times New Roman</vt:lpstr>
      <vt:lpstr>Wingdings</vt:lpstr>
      <vt:lpstr>Wingdings 3</vt:lpstr>
      <vt:lpstr>יונים - חדר ישיבות</vt:lpstr>
      <vt:lpstr>JAVA SCRIPT</vt:lpstr>
      <vt:lpstr>הקדמה</vt:lpstr>
      <vt:lpstr>שילוב JS בדף הHTML</vt:lpstr>
      <vt:lpstr>שילוב JS בדף הHTML - המשך</vt:lpstr>
      <vt:lpstr>שילוב JS בדף הHTML - המשך</vt:lpstr>
      <vt:lpstr>תחביר - Java Script Syntax</vt:lpstr>
      <vt:lpstr>משתנים -  Variables</vt:lpstr>
      <vt:lpstr>משתנים -  Variables המשך</vt:lpstr>
      <vt:lpstr>דוגמאות לאתחול נתונים</vt:lpstr>
      <vt:lpstr>הבדלים בין VAR, LET וCONST</vt:lpstr>
      <vt:lpstr>תקשורת עם המשתמש</vt:lpstr>
      <vt:lpstr>פונקציות Function - </vt:lpstr>
      <vt:lpstr>פונקציות חץ - Arrow function</vt:lpstr>
      <vt:lpstr>אירועים</vt:lpstr>
      <vt:lpstr>סוגי אירועים</vt:lpstr>
      <vt:lpstr>סוגי אירועים</vt:lpstr>
      <vt:lpstr>סוגי אירועים</vt:lpstr>
      <vt:lpstr>פונקציות מערכת</vt:lpstr>
      <vt:lpstr>פונקציות מערכת - המשך</vt:lpstr>
      <vt:lpstr>פונקציות מערכת - המשך</vt:lpstr>
      <vt:lpstr>פונקציות מערכת - המשך</vt:lpstr>
      <vt:lpstr>פונקציות מערכת - המשך</vt:lpstr>
      <vt:lpstr>פונקציות מערכת - המשך</vt:lpstr>
      <vt:lpstr>פונקציות מערכת - המשך</vt:lpstr>
      <vt:lpstr>תרגילים</vt:lpstr>
      <vt:lpstr>תרגילים </vt:lpstr>
      <vt:lpstr>המשך</vt:lpstr>
      <vt:lpstr>אובייקטים</vt:lpstr>
      <vt:lpstr>מעבר בלולאה על תכונות האובייקט</vt:lpstr>
      <vt:lpstr>מערכי אובייקטים</vt:lpstr>
      <vt:lpstr>פונקציות מעבר על איברי המערך</vt:lpstr>
      <vt:lpstr>ש"ב</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SCRIPT</dc:title>
  <dc:creator>‏‏משתמש Windows</dc:creator>
  <cp:lastModifiedBy>‏‏משתמש Windows</cp:lastModifiedBy>
  <cp:revision>46</cp:revision>
  <cp:lastPrinted>2025-01-14T10:36:48Z</cp:lastPrinted>
  <dcterms:created xsi:type="dcterms:W3CDTF">2022-01-16T10:16:14Z</dcterms:created>
  <dcterms:modified xsi:type="dcterms:W3CDTF">2025-12-22T10:02:01Z</dcterms:modified>
</cp:coreProperties>
</file>
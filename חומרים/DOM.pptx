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handoutMasterIdLst>
    <p:handoutMasterId r:id="rId24"/>
  </p:handoutMasterIdLst>
  <p:sldIdLst>
    <p:sldId id="256" r:id="rId2"/>
    <p:sldId id="257" r:id="rId3"/>
    <p:sldId id="258" r:id="rId4"/>
    <p:sldId id="261" r:id="rId5"/>
    <p:sldId id="263" r:id="rId6"/>
    <p:sldId id="264" r:id="rId7"/>
    <p:sldId id="266" r:id="rId8"/>
    <p:sldId id="267" r:id="rId9"/>
    <p:sldId id="262" r:id="rId10"/>
    <p:sldId id="273" r:id="rId11"/>
    <p:sldId id="274" r:id="rId12"/>
    <p:sldId id="265" r:id="rId13"/>
    <p:sldId id="276" r:id="rId14"/>
    <p:sldId id="268" r:id="rId15"/>
    <p:sldId id="269" r:id="rId16"/>
    <p:sldId id="270" r:id="rId17"/>
    <p:sldId id="275" r:id="rId18"/>
    <p:sldId id="278" r:id="rId19"/>
    <p:sldId id="271" r:id="rId20"/>
    <p:sldId id="272" r:id="rId21"/>
    <p:sldId id="277" r:id="rId22"/>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4181" autoAdjust="0"/>
    <p:restoredTop sz="94660"/>
  </p:normalViewPr>
  <p:slideViewPr>
    <p:cSldViewPr snapToGrid="0">
      <p:cViewPr varScale="1">
        <p:scale>
          <a:sx n="115" d="100"/>
          <a:sy n="115" d="100"/>
        </p:scale>
        <p:origin x="117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52016" y="0"/>
            <a:ext cx="2945659" cy="498056"/>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74" y="0"/>
            <a:ext cx="2945659" cy="498056"/>
          </a:xfrm>
          <a:prstGeom prst="rect">
            <a:avLst/>
          </a:prstGeom>
        </p:spPr>
        <p:txBody>
          <a:bodyPr vert="horz" lIns="91440" tIns="45720" rIns="91440" bIns="45720" rtlCol="1"/>
          <a:lstStyle>
            <a:lvl1pPr algn="l">
              <a:defRPr sz="1200"/>
            </a:lvl1pPr>
          </a:lstStyle>
          <a:p>
            <a:fld id="{63D4FA7C-AD9E-4588-8A74-2AE432AAAEBA}" type="datetimeFigureOut">
              <a:rPr lang="he-IL" smtClean="0"/>
              <a:t>ט'/אייר/תשפ"ה</a:t>
            </a:fld>
            <a:endParaRPr lang="he-IL"/>
          </a:p>
        </p:txBody>
      </p:sp>
      <p:sp>
        <p:nvSpPr>
          <p:cNvPr id="4" name="מציין מיקום של כותרת תחתונה 3"/>
          <p:cNvSpPr>
            <a:spLocks noGrp="1"/>
          </p:cNvSpPr>
          <p:nvPr>
            <p:ph type="ftr" sz="quarter" idx="2"/>
          </p:nvPr>
        </p:nvSpPr>
        <p:spPr>
          <a:xfrm>
            <a:off x="3852016" y="9428584"/>
            <a:ext cx="2945659" cy="498055"/>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74" y="9428584"/>
            <a:ext cx="2945659" cy="498055"/>
          </a:xfrm>
          <a:prstGeom prst="rect">
            <a:avLst/>
          </a:prstGeom>
        </p:spPr>
        <p:txBody>
          <a:bodyPr vert="horz" lIns="91440" tIns="45720" rIns="91440" bIns="45720" rtlCol="1" anchor="b"/>
          <a:lstStyle>
            <a:lvl1pPr algn="l">
              <a:defRPr sz="1200"/>
            </a:lvl1pPr>
          </a:lstStyle>
          <a:p>
            <a:fld id="{7249DB21-7C27-4040-AF95-9A0B8ED56B81}" type="slidenum">
              <a:rPr lang="he-IL" smtClean="0"/>
              <a:t>‹#›</a:t>
            </a:fld>
            <a:endParaRPr lang="he-IL"/>
          </a:p>
        </p:txBody>
      </p:sp>
    </p:spTree>
    <p:extLst>
      <p:ext uri="{BB962C8B-B14F-4D97-AF65-F5344CB8AC3E}">
        <p14:creationId xmlns:p14="http://schemas.microsoft.com/office/powerpoint/2010/main" val="31116679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52016" y="0"/>
            <a:ext cx="2945659" cy="498056"/>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74" y="0"/>
            <a:ext cx="2945659" cy="498056"/>
          </a:xfrm>
          <a:prstGeom prst="rect">
            <a:avLst/>
          </a:prstGeom>
        </p:spPr>
        <p:txBody>
          <a:bodyPr vert="horz" lIns="91440" tIns="45720" rIns="91440" bIns="45720" rtlCol="1"/>
          <a:lstStyle>
            <a:lvl1pPr algn="l">
              <a:defRPr sz="1200"/>
            </a:lvl1pPr>
          </a:lstStyle>
          <a:p>
            <a:fld id="{CE354C75-1508-4966-94AD-8617C27CC26E}" type="datetimeFigureOut">
              <a:rPr lang="he-IL" smtClean="0"/>
              <a:t>ט'/אייר/תשפ"ה</a:t>
            </a:fld>
            <a:endParaRPr lang="he-IL"/>
          </a:p>
        </p:txBody>
      </p:sp>
      <p:sp>
        <p:nvSpPr>
          <p:cNvPr id="4" name="מציין מיקום של תמונת שקופית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79768" y="4777194"/>
            <a:ext cx="5438140" cy="3908614"/>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52016" y="9428584"/>
            <a:ext cx="2945659" cy="498055"/>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74" y="9428584"/>
            <a:ext cx="2945659" cy="498055"/>
          </a:xfrm>
          <a:prstGeom prst="rect">
            <a:avLst/>
          </a:prstGeom>
        </p:spPr>
        <p:txBody>
          <a:bodyPr vert="horz" lIns="91440" tIns="45720" rIns="91440" bIns="45720" rtlCol="1" anchor="b"/>
          <a:lstStyle>
            <a:lvl1pPr algn="l">
              <a:defRPr sz="1200"/>
            </a:lvl1pPr>
          </a:lstStyle>
          <a:p>
            <a:fld id="{A137B6EF-9AB3-4258-A355-89A5BD3F9EFA}" type="slidenum">
              <a:rPr lang="he-IL" smtClean="0"/>
              <a:t>‹#›</a:t>
            </a:fld>
            <a:endParaRPr lang="he-IL"/>
          </a:p>
        </p:txBody>
      </p:sp>
    </p:spTree>
    <p:extLst>
      <p:ext uri="{BB962C8B-B14F-4D97-AF65-F5344CB8AC3E}">
        <p14:creationId xmlns:p14="http://schemas.microsoft.com/office/powerpoint/2010/main" val="179752784"/>
      </p:ext>
    </p:extLst>
  </p:cSld>
  <p:clrMap bg1="lt1" tx1="dk1" bg2="lt2" tx2="dk2" accent1="accent1" accent2="accent2" accent3="accent3" accent4="accent4" accent5="accent5" accent6="accent6" hlink="hlink" folHlink="folHlink"/>
  <p:hf hdr="0" ftr="0" dt="0"/>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74C1A8E0-8BA7-43CA-A127-66AD00148F22}" type="datetime1">
              <a:rPr lang="en-US" smtClean="0"/>
              <a:t>5/7/2025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50609A57-B8E2-4C23-A2D4-2F8447F8E312}" type="datetime1">
              <a:rPr lang="en-US" smtClean="0"/>
              <a:t>5/7/2025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ערוך סגנונות טקסט של תבנית בסיס</a:t>
            </a:r>
          </a:p>
        </p:txBody>
      </p:sp>
      <p:sp>
        <p:nvSpPr>
          <p:cNvPr id="4" name="Date Placeholder 3"/>
          <p:cNvSpPr>
            <a:spLocks noGrp="1"/>
          </p:cNvSpPr>
          <p:nvPr>
            <p:ph type="dt" sz="half" idx="10"/>
          </p:nvPr>
        </p:nvSpPr>
        <p:spPr/>
        <p:txBody>
          <a:bodyPr/>
          <a:lstStyle/>
          <a:p>
            <a:fld id="{CC865F6F-BED1-452C-95BF-BFE1137F43E1}" type="datetime1">
              <a:rPr lang="en-US" smtClean="0"/>
              <a:t>5/7/2025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5C3781C3-3247-435D-9A59-B1291DB0CAAB}" type="datetime1">
              <a:rPr lang="en-US" smtClean="0"/>
              <a:t>5/7/2025</a:t>
            </a:fld>
            <a:endParaRPr lang="en-US" dirty="0"/>
          </a:p>
        </p:txBody>
      </p:sp>
      <p:sp>
        <p:nvSpPr>
          <p:cNvPr id="6" name="Footer Placeholder 5"/>
          <p:cNvSpPr>
            <a:spLocks noGrp="1"/>
          </p:cNvSpPr>
          <p:nvPr>
            <p:ph type="ftr" sz="quarter" idx="11"/>
          </p:nvPr>
        </p:nvSpPr>
        <p:spPr/>
        <p:txBody>
          <a:bodyPr/>
          <a:lstStyle/>
          <a:p>
            <a:r>
              <a:rPr lang="en-US"/>
              <a:t>©n.c. 0527129330</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Content Placeholder 3"/>
          <p:cNvSpPr>
            <a:spLocks noGrp="1"/>
          </p:cNvSpPr>
          <p:nvPr>
            <p:ph sz="half" idx="2"/>
          </p:nvPr>
        </p:nvSpPr>
        <p:spPr>
          <a:xfrm>
            <a:off x="1097280" y="2582334"/>
            <a:ext cx="4937760" cy="3378200"/>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Content Placeholder 5"/>
          <p:cNvSpPr>
            <a:spLocks noGrp="1"/>
          </p:cNvSpPr>
          <p:nvPr>
            <p:ph sz="quarter" idx="4"/>
          </p:nvPr>
        </p:nvSpPr>
        <p:spPr>
          <a:xfrm>
            <a:off x="6217920" y="2582334"/>
            <a:ext cx="4937760" cy="3378200"/>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6875C294-4EA1-407A-8A21-5605443F16C6}" type="datetime1">
              <a:rPr lang="en-US" smtClean="0"/>
              <a:t>5/7/2025</a:t>
            </a:fld>
            <a:endParaRPr lang="en-US" dirty="0"/>
          </a:p>
        </p:txBody>
      </p:sp>
      <p:sp>
        <p:nvSpPr>
          <p:cNvPr id="8" name="Footer Placeholder 7"/>
          <p:cNvSpPr>
            <a:spLocks noGrp="1"/>
          </p:cNvSpPr>
          <p:nvPr>
            <p:ph type="ftr" sz="quarter" idx="11"/>
          </p:nvPr>
        </p:nvSpPr>
        <p:spPr/>
        <p:txBody>
          <a:bodyPr/>
          <a:lstStyle/>
          <a:p>
            <a:r>
              <a:rPr lang="en-US"/>
              <a:t>©n.c. 0527129330</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9A173C6F-B7E3-486C-B74A-2275FC02B42F}" type="datetime1">
              <a:rPr lang="en-US" smtClean="0"/>
              <a:t>5/7/2025</a:t>
            </a:fld>
            <a:endParaRPr lang="en-US" dirty="0"/>
          </a:p>
        </p:txBody>
      </p:sp>
      <p:sp>
        <p:nvSpPr>
          <p:cNvPr id="4" name="Footer Placeholder 3"/>
          <p:cNvSpPr>
            <a:spLocks noGrp="1"/>
          </p:cNvSpPr>
          <p:nvPr>
            <p:ph type="ftr" sz="quarter" idx="11"/>
          </p:nvPr>
        </p:nvSpPr>
        <p:spPr/>
        <p:txBody>
          <a:bodyPr/>
          <a:lstStyle/>
          <a:p>
            <a:r>
              <a:rPr lang="en-US"/>
              <a:t>©n.c. 0527129330</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ריק">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98E5174-B801-449E-AFDB-14F7E8D30EE6}" type="datetime1">
              <a:rPr lang="en-US" smtClean="0"/>
              <a:t>5/7/2025</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©n.c. 0527129330</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8C746D6-46BF-4B75-9982-C8F4E28F7D9A}" type="datetime1">
              <a:rPr lang="en-US" smtClean="0"/>
              <a:t>5/7/2025</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©n.c. 0527129330</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ערוך סגנונות טקסט של תבנית בסיס</a:t>
            </a:r>
          </a:p>
        </p:txBody>
      </p:sp>
      <p:sp>
        <p:nvSpPr>
          <p:cNvPr id="5" name="Date Placeholder 4"/>
          <p:cNvSpPr>
            <a:spLocks noGrp="1"/>
          </p:cNvSpPr>
          <p:nvPr>
            <p:ph type="dt" sz="half" idx="10"/>
          </p:nvPr>
        </p:nvSpPr>
        <p:spPr/>
        <p:txBody>
          <a:bodyPr/>
          <a:lstStyle/>
          <a:p>
            <a:fld id="{B13B8E79-100C-404C-B968-406D95F9B04E}" type="datetime1">
              <a:rPr lang="en-US" smtClean="0"/>
              <a:t>5/7/2025</a:t>
            </a:fld>
            <a:endParaRPr lang="en-US" dirty="0"/>
          </a:p>
        </p:txBody>
      </p:sp>
      <p:sp>
        <p:nvSpPr>
          <p:cNvPr id="6" name="Footer Placeholder 5"/>
          <p:cNvSpPr>
            <a:spLocks noGrp="1"/>
          </p:cNvSpPr>
          <p:nvPr>
            <p:ph type="ftr" sz="quarter" idx="11"/>
          </p:nvPr>
        </p:nvSpPr>
        <p:spPr/>
        <p:txBody>
          <a:bodyPr/>
          <a:lstStyle/>
          <a:p>
            <a:r>
              <a:rPr lang="en-US"/>
              <a:t>©n.c. 0527129330</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86781B6E-5715-4449-894D-0D5E55816045}" type="datetime1">
              <a:rPr lang="en-US" smtClean="0"/>
              <a:t>5/7/2025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כותרת אנכית וטקסט">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C9B56DB6-1B7A-4599-9010-A1016E0D2E01}" type="datetime1">
              <a:rPr lang="en-US" smtClean="0"/>
              <a:t>5/7/2025</a:t>
            </a:fld>
            <a:endParaRPr lang="en-US" dirty="0"/>
          </a:p>
        </p:txBody>
      </p:sp>
      <p:sp>
        <p:nvSpPr>
          <p:cNvPr id="5" name="Footer Placeholder 4"/>
          <p:cNvSpPr>
            <a:spLocks noGrp="1"/>
          </p:cNvSpPr>
          <p:nvPr>
            <p:ph type="ftr" sz="quarter" idx="11"/>
          </p:nvPr>
        </p:nvSpPr>
        <p:spPr/>
        <p:txBody>
          <a:bodyPr/>
          <a:lstStyle/>
          <a:p>
            <a:r>
              <a:rPr lang="en-US"/>
              <a:t>©n.c. 0527129330</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8B142ACD-4536-4C8E-A9D7-7818F7E4A6CC}" type="datetime1">
              <a:rPr lang="en-US" smtClean="0"/>
              <a:t>5/7/2025</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a:t>©n.c. 0527129330</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1"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r" defTabSz="914400" rtl="1"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r" defTabSz="914400" rtl="1"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r" defTabSz="914400" rtl="1"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r>
              <a:rPr lang="en-US" dirty="0"/>
              <a:t>JAVA SCRIPT</a:t>
            </a:r>
            <a:endParaRPr lang="he-IL" dirty="0"/>
          </a:p>
        </p:txBody>
      </p:sp>
      <p:sp>
        <p:nvSpPr>
          <p:cNvPr id="5" name="TextBox 4"/>
          <p:cNvSpPr txBox="1"/>
          <p:nvPr/>
        </p:nvSpPr>
        <p:spPr>
          <a:xfrm>
            <a:off x="1097280" y="4476205"/>
            <a:ext cx="7820297" cy="646331"/>
          </a:xfrm>
          <a:prstGeom prst="rect">
            <a:avLst/>
          </a:prstGeom>
          <a:noFill/>
        </p:spPr>
        <p:txBody>
          <a:bodyPr wrap="square" rtlCol="1">
            <a:spAutoFit/>
          </a:bodyPr>
          <a:lstStyle/>
          <a:p>
            <a:r>
              <a:rPr lang="en-US" sz="3600" dirty="0"/>
              <a:t>DOM –</a:t>
            </a:r>
            <a:r>
              <a:rPr lang="en-US" sz="3600" b="1" u="sng" dirty="0"/>
              <a:t>D</a:t>
            </a:r>
            <a:r>
              <a:rPr lang="en-US" sz="3600" dirty="0"/>
              <a:t>ocument </a:t>
            </a:r>
            <a:r>
              <a:rPr lang="en-US" sz="3600" b="1" u="sng" dirty="0"/>
              <a:t>O</a:t>
            </a:r>
            <a:r>
              <a:rPr lang="en-US" sz="3600" dirty="0"/>
              <a:t>bject </a:t>
            </a:r>
            <a:r>
              <a:rPr lang="en-US" sz="3600" b="1" u="sng" dirty="0"/>
              <a:t>M</a:t>
            </a:r>
            <a:r>
              <a:rPr lang="en-US" sz="3600" dirty="0"/>
              <a:t>odel</a:t>
            </a:r>
            <a:endParaRPr lang="he-IL" sz="3600" dirty="0"/>
          </a:p>
        </p:txBody>
      </p:sp>
      <p:sp>
        <p:nvSpPr>
          <p:cNvPr id="3" name="מציין מיקום של כותרת תחתונה 2"/>
          <p:cNvSpPr>
            <a:spLocks noGrp="1"/>
          </p:cNvSpPr>
          <p:nvPr>
            <p:ph type="ftr" sz="quarter" idx="11"/>
          </p:nvPr>
        </p:nvSpPr>
        <p:spPr/>
        <p:txBody>
          <a:bodyPr/>
          <a:lstStyle/>
          <a:p>
            <a:r>
              <a:rPr lang="en-US" dirty="0"/>
              <a:t>©</a:t>
            </a:r>
            <a:r>
              <a:rPr lang="en-US" dirty="0" err="1"/>
              <a:t>n.c.</a:t>
            </a:r>
            <a:r>
              <a:rPr lang="en-US" dirty="0"/>
              <a:t> 0527129330</a:t>
            </a:r>
          </a:p>
        </p:txBody>
      </p:sp>
    </p:spTree>
    <p:extLst>
      <p:ext uri="{BB962C8B-B14F-4D97-AF65-F5344CB8AC3E}">
        <p14:creationId xmlns:p14="http://schemas.microsoft.com/office/powerpoint/2010/main" val="3837675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DOM</a:t>
            </a:r>
            <a:endParaRPr lang="he-IL" dirty="0"/>
          </a:p>
        </p:txBody>
      </p:sp>
      <p:sp>
        <p:nvSpPr>
          <p:cNvPr id="3" name="מציין מיקום תוכן 2"/>
          <p:cNvSpPr>
            <a:spLocks noGrp="1"/>
          </p:cNvSpPr>
          <p:nvPr>
            <p:ph sz="half" idx="1"/>
          </p:nvPr>
        </p:nvSpPr>
        <p:spPr/>
        <p:txBody>
          <a:bodyPr/>
          <a:lstStyle/>
          <a:p>
            <a:r>
              <a:rPr lang="he-IL" dirty="0"/>
              <a:t>מהו ה</a:t>
            </a:r>
            <a:r>
              <a:rPr lang="en-US" dirty="0"/>
              <a:t>DOM</a:t>
            </a:r>
            <a:r>
              <a:rPr lang="he-IL" dirty="0"/>
              <a:t>? מה תפקידו?</a:t>
            </a:r>
          </a:p>
          <a:p>
            <a:r>
              <a:rPr lang="he-IL" dirty="0"/>
              <a:t>תצוגת ה</a:t>
            </a:r>
            <a:r>
              <a:rPr lang="en-US" dirty="0"/>
              <a:t>HTML</a:t>
            </a:r>
            <a:r>
              <a:rPr lang="he-IL" dirty="0"/>
              <a:t> בנויה מתגיות, ואין לנו דרך לגשת לתגיות, לשנות, להוסיף </a:t>
            </a:r>
            <a:r>
              <a:rPr lang="he-IL" dirty="0" err="1"/>
              <a:t>וכו</a:t>
            </a:r>
            <a:r>
              <a:rPr lang="he-IL" dirty="0"/>
              <a:t>.</a:t>
            </a:r>
          </a:p>
          <a:p>
            <a:r>
              <a:rPr lang="he-IL" dirty="0"/>
              <a:t>ה</a:t>
            </a:r>
            <a:r>
              <a:rPr lang="en-US" dirty="0"/>
              <a:t>DOM</a:t>
            </a:r>
            <a:r>
              <a:rPr lang="he-IL" dirty="0"/>
              <a:t> – הופך את כל דף התגיות לעץ אובייקטים, תוך שמירה על היררכיה, שמירה על מאפיינים ותכונות.</a:t>
            </a:r>
          </a:p>
          <a:p>
            <a:r>
              <a:rPr lang="he-IL" dirty="0"/>
              <a:t>הגישה תהיה תמיד ל</a:t>
            </a:r>
            <a:r>
              <a:rPr lang="en-US" dirty="0"/>
              <a:t>DOM</a:t>
            </a:r>
            <a:r>
              <a:rPr lang="he-IL" dirty="0"/>
              <a:t> וכל שינוי שיעשה ב</a:t>
            </a:r>
            <a:r>
              <a:rPr lang="en-US" dirty="0"/>
              <a:t>DOM</a:t>
            </a:r>
            <a:r>
              <a:rPr lang="he-IL" dirty="0"/>
              <a:t> ישפיע על ה</a:t>
            </a:r>
            <a:r>
              <a:rPr lang="en-US" dirty="0"/>
              <a:t>HTML</a:t>
            </a:r>
            <a:r>
              <a:rPr lang="he-IL" dirty="0"/>
              <a:t>.</a:t>
            </a:r>
          </a:p>
          <a:p>
            <a:r>
              <a:rPr lang="he-IL" dirty="0"/>
              <a:t>ניתן לגשת, לקחת, לשנות, להוסיף ולמחוק נתונים.</a:t>
            </a:r>
          </a:p>
          <a:p>
            <a:endParaRPr lang="he-IL" dirty="0"/>
          </a:p>
        </p:txBody>
      </p:sp>
      <p:sp>
        <p:nvSpPr>
          <p:cNvPr id="4" name="מציין מיקום תוכן 3"/>
          <p:cNvSpPr>
            <a:spLocks noGrp="1"/>
          </p:cNvSpPr>
          <p:nvPr>
            <p:ph sz="half" idx="2"/>
          </p:nvPr>
        </p:nvSpPr>
        <p:spPr/>
        <p:txBody>
          <a:bodyPr/>
          <a:lstStyle/>
          <a:p>
            <a:r>
              <a:rPr lang="he-IL" dirty="0"/>
              <a:t>בידע שיש לנו כרגע ניתן ליצור דפי </a:t>
            </a:r>
            <a:r>
              <a:rPr lang="en-US" dirty="0"/>
              <a:t>HTML</a:t>
            </a:r>
            <a:r>
              <a:rPr lang="he-IL" dirty="0"/>
              <a:t> </a:t>
            </a:r>
            <a:r>
              <a:rPr lang="he-IL" dirty="0" err="1"/>
              <a:t>סטטים</a:t>
            </a:r>
            <a:r>
              <a:rPr lang="he-IL" dirty="0"/>
              <a:t> בלבד. (הדבר היחיד הדינאמי הוא קישור ומעבר בין דפים). דבר זה גרם להרבה קוד כפול, מספר רב של דפים וממילא קריאות שרת רבות, האתר נהיה כבד, וכל זה כי לא ניתן היה לגשת לתגיות ה</a:t>
            </a:r>
            <a:r>
              <a:rPr lang="en-US" dirty="0"/>
              <a:t>HTML</a:t>
            </a:r>
            <a:r>
              <a:rPr lang="he-IL" dirty="0"/>
              <a:t> ולשנות אותם.</a:t>
            </a:r>
          </a:p>
          <a:p>
            <a:r>
              <a:rPr lang="en-US" dirty="0"/>
              <a:t>JS</a:t>
            </a:r>
            <a:r>
              <a:rPr lang="he-IL" dirty="0"/>
              <a:t> בא לאפשר דינאמיות, לוגיקה ואינטראקציה עם המשתמש.</a:t>
            </a:r>
          </a:p>
          <a:p>
            <a:r>
              <a:rPr lang="he-IL" dirty="0"/>
              <a:t>כיצד? בעזרת ה</a:t>
            </a:r>
            <a:r>
              <a:rPr lang="en-US" dirty="0"/>
              <a:t>DOM</a:t>
            </a:r>
            <a:r>
              <a:rPr lang="he-IL" dirty="0"/>
              <a:t>.</a:t>
            </a:r>
          </a:p>
        </p:txBody>
      </p:sp>
      <p:sp>
        <p:nvSpPr>
          <p:cNvPr id="6" name="מציין מיקום של כותרת תחתונה 5"/>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2246508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DOM</a:t>
            </a:r>
            <a:endParaRPr lang="he-IL" dirty="0"/>
          </a:p>
        </p:txBody>
      </p:sp>
      <p:pic>
        <p:nvPicPr>
          <p:cNvPr id="5" name="מציין מיקום תוכן 4"/>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05297" y="2363965"/>
            <a:ext cx="4629150" cy="2533650"/>
          </a:xfrm>
        </p:spPr>
      </p:pic>
      <p:sp>
        <p:nvSpPr>
          <p:cNvPr id="4" name="מציין מיקום תוכן 3"/>
          <p:cNvSpPr>
            <a:spLocks noGrp="1"/>
          </p:cNvSpPr>
          <p:nvPr>
            <p:ph sz="half" idx="2"/>
          </p:nvPr>
        </p:nvSpPr>
        <p:spPr>
          <a:xfrm>
            <a:off x="6557554" y="1845735"/>
            <a:ext cx="4598126" cy="4023360"/>
          </a:xfrm>
        </p:spPr>
        <p:txBody>
          <a:bodyPr/>
          <a:lstStyle/>
          <a:p>
            <a:r>
              <a:rPr lang="he-IL" dirty="0"/>
              <a:t>ה</a:t>
            </a:r>
            <a:r>
              <a:rPr lang="en-US" dirty="0"/>
              <a:t>DOM</a:t>
            </a:r>
            <a:r>
              <a:rPr lang="he-IL" dirty="0"/>
              <a:t> – הוא מודל המייצג את עמוד ה</a:t>
            </a:r>
            <a:r>
              <a:rPr lang="en-US" dirty="0"/>
              <a:t>HTML</a:t>
            </a:r>
            <a:r>
              <a:rPr lang="he-IL" dirty="0"/>
              <a:t>,</a:t>
            </a:r>
          </a:p>
          <a:p>
            <a:r>
              <a:rPr lang="he-IL" dirty="0"/>
              <a:t>ישנם מספר אובייקטים ב</a:t>
            </a:r>
            <a:r>
              <a:rPr lang="en-US" dirty="0"/>
              <a:t>DOM</a:t>
            </a:r>
            <a:r>
              <a:rPr lang="he-IL" dirty="0"/>
              <a:t>:</a:t>
            </a:r>
          </a:p>
          <a:p>
            <a:r>
              <a:rPr lang="he-IL" dirty="0"/>
              <a:t>1. </a:t>
            </a:r>
            <a:r>
              <a:rPr lang="en-US" dirty="0"/>
              <a:t>Document</a:t>
            </a:r>
            <a:r>
              <a:rPr lang="he-IL" dirty="0"/>
              <a:t> – מייצג את כל עמוד ה</a:t>
            </a:r>
            <a:r>
              <a:rPr lang="en-US" dirty="0"/>
              <a:t>HTML</a:t>
            </a:r>
            <a:r>
              <a:rPr lang="he-IL" dirty="0"/>
              <a:t>.</a:t>
            </a:r>
          </a:p>
          <a:p>
            <a:r>
              <a:rPr lang="he-IL" dirty="0"/>
              <a:t>2. </a:t>
            </a:r>
            <a:r>
              <a:rPr lang="en-US" dirty="0"/>
              <a:t>Element</a:t>
            </a:r>
            <a:r>
              <a:rPr lang="he-IL" dirty="0"/>
              <a:t> – מייצג תגית בדך ה</a:t>
            </a:r>
            <a:r>
              <a:rPr lang="en-US" dirty="0"/>
              <a:t>HTML</a:t>
            </a:r>
            <a:r>
              <a:rPr lang="he-IL" dirty="0"/>
              <a:t>.</a:t>
            </a:r>
          </a:p>
          <a:p>
            <a:r>
              <a:rPr lang="he-IL" dirty="0"/>
              <a:t>3.</a:t>
            </a:r>
            <a:r>
              <a:rPr lang="en-US" dirty="0"/>
              <a:t>Attribute </a:t>
            </a:r>
            <a:r>
              <a:rPr lang="he-IL" dirty="0"/>
              <a:t> - מאפיין של תגית.</a:t>
            </a:r>
          </a:p>
          <a:p>
            <a:r>
              <a:rPr lang="he-IL" dirty="0"/>
              <a:t>4. </a:t>
            </a:r>
            <a:r>
              <a:rPr lang="en-US" dirty="0"/>
              <a:t>Style</a:t>
            </a:r>
            <a:r>
              <a:rPr lang="he-IL" dirty="0"/>
              <a:t> – מייצג עיצוב של אלמנט ב</a:t>
            </a:r>
            <a:r>
              <a:rPr lang="en-US" dirty="0"/>
              <a:t>HTML</a:t>
            </a:r>
            <a:r>
              <a:rPr lang="he-IL" dirty="0"/>
              <a:t>.</a:t>
            </a:r>
          </a:p>
          <a:p>
            <a:pPr marL="0" indent="0" algn="l">
              <a:buNone/>
            </a:pPr>
            <a:r>
              <a:rPr lang="he-IL" dirty="0"/>
              <a:t>ועוד...   </a:t>
            </a:r>
            <a:endParaRPr lang="en-US" dirty="0"/>
          </a:p>
        </p:txBody>
      </p:sp>
      <p:sp>
        <p:nvSpPr>
          <p:cNvPr id="3" name="מציין מיקום של כותרת תחתונה 2"/>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108979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Document</a:t>
            </a:r>
            <a:endParaRPr lang="he-IL" dirty="0"/>
          </a:p>
        </p:txBody>
      </p:sp>
      <p:sp>
        <p:nvSpPr>
          <p:cNvPr id="3" name="מציין מיקום תוכן 2"/>
          <p:cNvSpPr>
            <a:spLocks noGrp="1"/>
          </p:cNvSpPr>
          <p:nvPr>
            <p:ph idx="1"/>
          </p:nvPr>
        </p:nvSpPr>
        <p:spPr/>
        <p:txBody>
          <a:bodyPr/>
          <a:lstStyle/>
          <a:p>
            <a:r>
              <a:rPr lang="he-IL" dirty="0"/>
              <a:t>לאובייקט זה ישנם תכונות רבות כמו מערך טפסים, מערך קישורים (</a:t>
            </a:r>
            <a:r>
              <a:rPr lang="en-US" dirty="0"/>
              <a:t>Hyper links</a:t>
            </a:r>
            <a:r>
              <a:rPr lang="he-IL" dirty="0"/>
              <a:t>), עוגיות (</a:t>
            </a:r>
            <a:r>
              <a:rPr lang="en-US" dirty="0"/>
              <a:t>cookies</a:t>
            </a:r>
            <a:r>
              <a:rPr lang="he-IL" dirty="0"/>
              <a:t>),</a:t>
            </a:r>
          </a:p>
          <a:p>
            <a:r>
              <a:rPr lang="he-IL" dirty="0"/>
              <a:t>בנוסף, יש לאובייקט גם פונקציות רבות:</a:t>
            </a:r>
          </a:p>
          <a:p>
            <a:pPr>
              <a:buFont typeface="Arial" panose="020B0604020202020204" pitchFamily="34" charset="0"/>
              <a:buChar char="•"/>
            </a:pPr>
            <a:r>
              <a:rPr lang="he-IL" dirty="0"/>
              <a:t> פונקציות לתפיסת אלמנטים -</a:t>
            </a:r>
          </a:p>
          <a:p>
            <a:endParaRPr lang="he-IL" dirty="0"/>
          </a:p>
        </p:txBody>
      </p:sp>
      <p:pic>
        <p:nvPicPr>
          <p:cNvPr id="4" name="תמונה 3"/>
          <p:cNvPicPr>
            <a:picLocks noChangeAspect="1"/>
          </p:cNvPicPr>
          <p:nvPr/>
        </p:nvPicPr>
        <p:blipFill>
          <a:blip r:embed="rId2"/>
          <a:stretch>
            <a:fillRect/>
          </a:stretch>
        </p:blipFill>
        <p:spPr>
          <a:xfrm>
            <a:off x="1402081" y="3288323"/>
            <a:ext cx="9180564" cy="2433209"/>
          </a:xfrm>
          <a:prstGeom prst="rect">
            <a:avLst/>
          </a:prstGeom>
        </p:spPr>
      </p:pic>
      <p:sp>
        <p:nvSpPr>
          <p:cNvPr id="6" name="מציין מיקום של כותרת תחתונה 5"/>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2042615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Document</a:t>
            </a:r>
            <a:endParaRPr lang="he-IL" dirty="0"/>
          </a:p>
        </p:txBody>
      </p:sp>
      <p:sp>
        <p:nvSpPr>
          <p:cNvPr id="3" name="מציין מיקום תוכן 2"/>
          <p:cNvSpPr>
            <a:spLocks noGrp="1"/>
          </p:cNvSpPr>
          <p:nvPr>
            <p:ph idx="1"/>
          </p:nvPr>
        </p:nvSpPr>
        <p:spPr/>
        <p:txBody>
          <a:bodyPr>
            <a:normAutofit/>
          </a:bodyPr>
          <a:lstStyle/>
          <a:p>
            <a:r>
              <a:rPr lang="he-IL" dirty="0"/>
              <a:t>כאשר נרצה לגשת לאלמנטים, לבדוק את תכולתם או לשנות אותם, תחילה נצטרך לתפוס את האלמנט, את האובייקט, ואחר כך נוכל לעבוד עליו, לגשת לכל המאפיינים שלו, ולשנות אותם בעת הצורך.</a:t>
            </a:r>
          </a:p>
          <a:p>
            <a:r>
              <a:rPr lang="he-IL" dirty="0"/>
              <a:t>כיצד נתפוס את האלמנט? בעזרת אחת מהפונקציות הנ"ל (</a:t>
            </a:r>
            <a:r>
              <a:rPr lang="he-IL" dirty="0" err="1"/>
              <a:t>שיקופית</a:t>
            </a:r>
            <a:r>
              <a:rPr lang="he-IL" dirty="0"/>
              <a:t> קודמת)</a:t>
            </a:r>
          </a:p>
          <a:p>
            <a:r>
              <a:rPr lang="he-IL" dirty="0"/>
              <a:t>דוגמאות:</a:t>
            </a:r>
          </a:p>
          <a:p>
            <a:pPr marL="0" indent="0" algn="l">
              <a:buNone/>
            </a:pPr>
            <a:r>
              <a:rPr lang="he-IL" dirty="0">
                <a:solidFill>
                  <a:schemeClr val="tx1"/>
                </a:solidFill>
              </a:rPr>
              <a:t>תפיסת אובייקט שה</a:t>
            </a:r>
            <a:r>
              <a:rPr lang="en-US" dirty="0">
                <a:solidFill>
                  <a:schemeClr val="tx1"/>
                </a:solidFill>
              </a:rPr>
              <a:t>ID</a:t>
            </a:r>
            <a:r>
              <a:rPr lang="he-IL" dirty="0">
                <a:solidFill>
                  <a:schemeClr val="tx1"/>
                </a:solidFill>
              </a:rPr>
              <a:t> שלו הוא </a:t>
            </a:r>
            <a:r>
              <a:rPr lang="en-US" dirty="0" err="1">
                <a:solidFill>
                  <a:schemeClr val="tx1"/>
                </a:solidFill>
              </a:rPr>
              <a:t>tbl</a:t>
            </a:r>
            <a:r>
              <a:rPr lang="he-IL" dirty="0">
                <a:solidFill>
                  <a:schemeClr val="tx1"/>
                </a:solidFill>
              </a:rPr>
              <a:t>.                     </a:t>
            </a:r>
            <a:r>
              <a:rPr lang="en-US" dirty="0">
                <a:solidFill>
                  <a:schemeClr val="accent1">
                    <a:lumMod val="60000"/>
                    <a:lumOff val="40000"/>
                  </a:schemeClr>
                </a:solidFill>
              </a:rPr>
              <a:t>*</a:t>
            </a:r>
            <a:r>
              <a:rPr lang="en-US" dirty="0"/>
              <a:t> Let </a:t>
            </a:r>
            <a:r>
              <a:rPr lang="en-US" dirty="0" err="1"/>
              <a:t>myTable</a:t>
            </a:r>
            <a:r>
              <a:rPr lang="en-US" dirty="0"/>
              <a:t> = </a:t>
            </a:r>
            <a:r>
              <a:rPr lang="en-US" dirty="0" err="1"/>
              <a:t>document.getElementById</a:t>
            </a:r>
            <a:r>
              <a:rPr lang="en-US" dirty="0"/>
              <a:t>(“</a:t>
            </a:r>
            <a:r>
              <a:rPr lang="en-US" dirty="0" err="1"/>
              <a:t>tbl</a:t>
            </a:r>
            <a:r>
              <a:rPr lang="en-US" dirty="0"/>
              <a:t>");</a:t>
            </a:r>
            <a:endParaRPr lang="he-IL" dirty="0"/>
          </a:p>
          <a:p>
            <a:pPr marL="0" indent="0" algn="l">
              <a:buNone/>
            </a:pPr>
            <a:r>
              <a:rPr lang="he-IL" dirty="0">
                <a:solidFill>
                  <a:schemeClr val="tx1"/>
                </a:solidFill>
              </a:rPr>
              <a:t>תפיסת כל האובייקטים מסוג </a:t>
            </a:r>
            <a:r>
              <a:rPr lang="en-US" dirty="0" err="1">
                <a:solidFill>
                  <a:schemeClr val="tx1"/>
                </a:solidFill>
              </a:rPr>
              <a:t>tr</a:t>
            </a:r>
            <a:r>
              <a:rPr lang="he-IL" dirty="0">
                <a:solidFill>
                  <a:schemeClr val="tx1"/>
                </a:solidFill>
              </a:rPr>
              <a:t>.               </a:t>
            </a:r>
            <a:r>
              <a:rPr lang="en-US" dirty="0">
                <a:solidFill>
                  <a:schemeClr val="accent1">
                    <a:lumMod val="60000"/>
                    <a:lumOff val="40000"/>
                  </a:schemeClr>
                </a:solidFill>
              </a:rPr>
              <a:t>* </a:t>
            </a:r>
            <a:r>
              <a:rPr lang="en-US" dirty="0"/>
              <a:t>Let </a:t>
            </a:r>
            <a:r>
              <a:rPr lang="en-US" dirty="0" err="1"/>
              <a:t>myTrows</a:t>
            </a:r>
            <a:r>
              <a:rPr lang="en-US" dirty="0"/>
              <a:t> = </a:t>
            </a:r>
            <a:r>
              <a:rPr lang="en-US" dirty="0" err="1"/>
              <a:t>document.getElementsByTagName</a:t>
            </a:r>
            <a:r>
              <a:rPr lang="en-US" dirty="0"/>
              <a:t>(“</a:t>
            </a:r>
            <a:r>
              <a:rPr lang="en-US" dirty="0" err="1"/>
              <a:t>tr</a:t>
            </a:r>
            <a:r>
              <a:rPr lang="en-US" dirty="0"/>
              <a:t>");</a:t>
            </a:r>
          </a:p>
          <a:p>
            <a:pPr marL="0" indent="0">
              <a:buNone/>
            </a:pPr>
            <a:r>
              <a:rPr lang="he-IL" dirty="0">
                <a:solidFill>
                  <a:schemeClr val="tx1"/>
                </a:solidFill>
              </a:rPr>
              <a:t>  תפיסת כל האובייקטים המעוצבים ע"י </a:t>
            </a:r>
            <a:r>
              <a:rPr lang="en-US" dirty="0">
                <a:solidFill>
                  <a:schemeClr val="tx1"/>
                </a:solidFill>
              </a:rPr>
              <a:t>class</a:t>
            </a:r>
            <a:r>
              <a:rPr lang="he-IL" dirty="0">
                <a:solidFill>
                  <a:schemeClr val="tx1"/>
                </a:solidFill>
              </a:rPr>
              <a:t> בשם </a:t>
            </a:r>
            <a:r>
              <a:rPr lang="en-US" dirty="0" err="1">
                <a:solidFill>
                  <a:schemeClr val="tx1"/>
                </a:solidFill>
              </a:rPr>
              <a:t>rowRed</a:t>
            </a:r>
            <a:r>
              <a:rPr lang="he-IL" dirty="0">
                <a:solidFill>
                  <a:schemeClr val="tx1"/>
                </a:solidFill>
              </a:rPr>
              <a:t>.</a:t>
            </a:r>
          </a:p>
          <a:p>
            <a:pPr marL="0" indent="0" algn="l">
              <a:buNone/>
            </a:pPr>
            <a:r>
              <a:rPr lang="en-US" dirty="0">
                <a:solidFill>
                  <a:schemeClr val="accent1">
                    <a:lumMod val="60000"/>
                    <a:lumOff val="40000"/>
                  </a:schemeClr>
                </a:solidFill>
              </a:rPr>
              <a:t>* </a:t>
            </a:r>
            <a:r>
              <a:rPr lang="en-US" dirty="0"/>
              <a:t>Let </a:t>
            </a:r>
            <a:r>
              <a:rPr lang="en-US" dirty="0" err="1"/>
              <a:t>myTrows</a:t>
            </a:r>
            <a:r>
              <a:rPr lang="en-US" dirty="0"/>
              <a:t> = document. </a:t>
            </a:r>
            <a:r>
              <a:rPr lang="en-US" dirty="0" err="1"/>
              <a:t>getElementsByClassName</a:t>
            </a:r>
            <a:r>
              <a:rPr lang="en-US" dirty="0"/>
              <a:t>(“</a:t>
            </a:r>
            <a:r>
              <a:rPr lang="en-US" dirty="0" err="1"/>
              <a:t>rowRed</a:t>
            </a:r>
            <a:r>
              <a:rPr lang="en-US" dirty="0"/>
              <a:t>");</a:t>
            </a:r>
          </a:p>
          <a:p>
            <a:pPr marL="0" indent="0">
              <a:buNone/>
            </a:pPr>
            <a:r>
              <a:rPr lang="he-IL" dirty="0"/>
              <a:t>פונקציות אלו ניתן להפעיל גם על אלמנטים – כדי למצוא ילדים שלהם.</a:t>
            </a:r>
            <a:endParaRPr lang="en-US"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3027112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Element</a:t>
            </a:r>
            <a:endParaRPr lang="he-IL" dirty="0"/>
          </a:p>
        </p:txBody>
      </p:sp>
      <p:sp>
        <p:nvSpPr>
          <p:cNvPr id="3" name="מציין מיקום תוכן 2"/>
          <p:cNvSpPr>
            <a:spLocks noGrp="1"/>
          </p:cNvSpPr>
          <p:nvPr>
            <p:ph idx="1"/>
          </p:nvPr>
        </p:nvSpPr>
        <p:spPr/>
        <p:txBody>
          <a:bodyPr/>
          <a:lstStyle/>
          <a:p>
            <a:r>
              <a:rPr lang="he-IL" dirty="0"/>
              <a:t>לאלמנט – המייצג תגית ב</a:t>
            </a:r>
            <a:r>
              <a:rPr lang="en-US" dirty="0"/>
              <a:t>HTML</a:t>
            </a:r>
            <a:r>
              <a:rPr lang="he-IL" dirty="0"/>
              <a:t> ישנם תכונות רבות, ניתן לגשת לתכונות אלו, וכמובן גם לשנות אותם:</a:t>
            </a:r>
          </a:p>
          <a:p>
            <a:r>
              <a:rPr lang="he-IL" dirty="0"/>
              <a:t>(ישנם תכונות המשמשות לתפיסת האלמנט כמו </a:t>
            </a:r>
            <a:r>
              <a:rPr lang="en-US" dirty="0"/>
              <a:t>id, class…</a:t>
            </a:r>
            <a:r>
              <a:rPr lang="he-IL" dirty="0"/>
              <a:t> )</a:t>
            </a:r>
          </a:p>
          <a:p>
            <a:r>
              <a:rPr lang="he-IL" dirty="0"/>
              <a:t>מאפיין ה</a:t>
            </a:r>
            <a:r>
              <a:rPr lang="en-US" dirty="0"/>
              <a:t>style</a:t>
            </a:r>
            <a:r>
              <a:rPr lang="he-IL" dirty="0"/>
              <a:t> הוא אובייקט שלם המכיל את כל תכונות העיצוב, ניתן לגשת לכל אחד ממאפייני העיצוב.</a:t>
            </a:r>
          </a:p>
        </p:txBody>
      </p:sp>
      <p:pic>
        <p:nvPicPr>
          <p:cNvPr id="5" name="תמונה 4"/>
          <p:cNvPicPr>
            <a:picLocks noChangeAspect="1"/>
          </p:cNvPicPr>
          <p:nvPr/>
        </p:nvPicPr>
        <p:blipFill>
          <a:blip r:embed="rId2"/>
          <a:stretch>
            <a:fillRect/>
          </a:stretch>
        </p:blipFill>
        <p:spPr>
          <a:xfrm>
            <a:off x="1166948" y="3115761"/>
            <a:ext cx="7410995" cy="2677479"/>
          </a:xfrm>
          <a:prstGeom prst="rect">
            <a:avLst/>
          </a:prstGeom>
        </p:spPr>
      </p:pic>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3589530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תרגילי כיתה</a:t>
            </a:r>
          </a:p>
        </p:txBody>
      </p:sp>
      <p:sp>
        <p:nvSpPr>
          <p:cNvPr id="3" name="מציין מיקום תוכן 2"/>
          <p:cNvSpPr>
            <a:spLocks noGrp="1"/>
          </p:cNvSpPr>
          <p:nvPr>
            <p:ph idx="1"/>
          </p:nvPr>
        </p:nvSpPr>
        <p:spPr>
          <a:xfrm>
            <a:off x="1097280" y="1845734"/>
            <a:ext cx="10058400" cy="4204084"/>
          </a:xfrm>
        </p:spPr>
        <p:txBody>
          <a:bodyPr>
            <a:normAutofit lnSpcReduction="10000"/>
          </a:bodyPr>
          <a:lstStyle/>
          <a:p>
            <a:pPr>
              <a:buFont typeface="Courier New" panose="02070309020205020404" pitchFamily="49" charset="0"/>
              <a:buChar char="o"/>
            </a:pPr>
            <a:r>
              <a:rPr lang="he-IL" dirty="0"/>
              <a:t> צרי כפתור הסופר כמה פעמים לחצו עלי – בעת לחיצה ישתנה הטקסט שעל הכפתור.</a:t>
            </a:r>
          </a:p>
          <a:p>
            <a:pPr>
              <a:buFont typeface="Courier New" panose="02070309020205020404" pitchFamily="49" charset="0"/>
              <a:buChar char="o"/>
            </a:pPr>
            <a:r>
              <a:rPr lang="he-IL" dirty="0"/>
              <a:t> צרי על המסך 10 תמונות, תיבת קלט מספרית וכפתור אישור, בלחיצה על הכפתור בדקי האם הערך שהוכנס קטן מכמות התמונות על המסך אם כן הסתירי כמות זו של תמונות, אחרת הציגי </a:t>
            </a:r>
            <a:r>
              <a:rPr lang="he-IL"/>
              <a:t>שגיאה.</a:t>
            </a:r>
            <a:endParaRPr lang="he-IL" dirty="0"/>
          </a:p>
          <a:p>
            <a:pPr marL="0">
              <a:spcAft>
                <a:spcPts val="0"/>
              </a:spcAft>
              <a:buFont typeface="Courier New" panose="02070309020205020404" pitchFamily="49" charset="0"/>
              <a:buChar char="o"/>
            </a:pPr>
            <a:r>
              <a:rPr lang="he-IL" b="1" dirty="0"/>
              <a:t>רמזור- </a:t>
            </a:r>
            <a:r>
              <a:rPr lang="he-IL" dirty="0"/>
              <a:t>צרי </a:t>
            </a:r>
            <a:r>
              <a:rPr lang="he-IL" dirty="0" err="1"/>
              <a:t>דיב</a:t>
            </a:r>
            <a:r>
              <a:rPr lang="he-IL" dirty="0"/>
              <a:t> מלבני שחור המייצג רמזור. בתוכו העמידי בטור שלושה </a:t>
            </a:r>
            <a:r>
              <a:rPr lang="he-IL" dirty="0" err="1"/>
              <a:t>דיבים</a:t>
            </a:r>
            <a:r>
              <a:rPr lang="he-IL" dirty="0"/>
              <a:t>. עצבי אותם כעיגולים בצבע אפור.</a:t>
            </a:r>
            <a:br>
              <a:rPr lang="he-IL" dirty="0"/>
            </a:br>
            <a:r>
              <a:rPr lang="he-IL" dirty="0"/>
              <a:t>מתחת לרמזור צרי </a:t>
            </a:r>
            <a:r>
              <a:rPr lang="he-IL" dirty="0" err="1"/>
              <a:t>דיב</a:t>
            </a:r>
            <a:r>
              <a:rPr lang="he-IL" dirty="0"/>
              <a:t> נוסף (שהוא השלט) ובו 4 כפתורים:</a:t>
            </a:r>
            <a:br>
              <a:rPr lang="he-IL" dirty="0"/>
            </a:br>
            <a:r>
              <a:rPr lang="he-IL" sz="2100" b="1" u="sng" dirty="0"/>
              <a:t>עצור</a:t>
            </a:r>
            <a:r>
              <a:rPr lang="he-IL" sz="2100" dirty="0"/>
              <a:t> – בעת לחיצה </a:t>
            </a:r>
            <a:r>
              <a:rPr lang="he-IL" sz="2100" dirty="0" err="1"/>
              <a:t>ידלק</a:t>
            </a:r>
            <a:r>
              <a:rPr lang="he-IL" sz="2100" dirty="0"/>
              <a:t> האור האדום. אם יש אור אחר יש לכבותו.</a:t>
            </a:r>
          </a:p>
          <a:p>
            <a:pPr marL="0" indent="0">
              <a:spcAft>
                <a:spcPts val="0"/>
              </a:spcAft>
              <a:buNone/>
            </a:pPr>
            <a:r>
              <a:rPr lang="he-IL" sz="2100" b="1" u="sng" dirty="0"/>
              <a:t>התכונן</a:t>
            </a:r>
            <a:r>
              <a:rPr lang="he-IL" sz="2100" dirty="0"/>
              <a:t> – בעת לחיצה </a:t>
            </a:r>
            <a:r>
              <a:rPr lang="he-IL" sz="2100" dirty="0" err="1"/>
              <a:t>ידלק</a:t>
            </a:r>
            <a:r>
              <a:rPr lang="he-IL" sz="2100" dirty="0"/>
              <a:t> האור הצהוב, אם האדום דולק, יש להשאירו דלוק, אם הירוק דולק יש לכבותו.</a:t>
            </a:r>
          </a:p>
          <a:p>
            <a:pPr marL="0" indent="0">
              <a:spcAft>
                <a:spcPts val="0"/>
              </a:spcAft>
              <a:buNone/>
            </a:pPr>
            <a:r>
              <a:rPr lang="he-IL" sz="2100" b="1" u="sng" dirty="0"/>
              <a:t>סע</a:t>
            </a:r>
            <a:r>
              <a:rPr lang="he-IL" sz="2100" dirty="0"/>
              <a:t> – בעת לחיצה </a:t>
            </a:r>
            <a:r>
              <a:rPr lang="he-IL" sz="2100" dirty="0" err="1"/>
              <a:t>ידלק</a:t>
            </a:r>
            <a:r>
              <a:rPr lang="he-IL" sz="2100" dirty="0"/>
              <a:t> האור הירוק, ושני האורות האחרים יכבו.</a:t>
            </a:r>
          </a:p>
          <a:p>
            <a:pPr marL="0" indent="0">
              <a:spcAft>
                <a:spcPts val="0"/>
              </a:spcAft>
              <a:buNone/>
            </a:pPr>
            <a:r>
              <a:rPr lang="he-IL" sz="2100" b="1" u="sng" dirty="0"/>
              <a:t>כבה רמזור </a:t>
            </a:r>
            <a:r>
              <a:rPr lang="he-IL" sz="2100" dirty="0"/>
              <a:t>– בעת לחיצה יכבו אורות הרמזור.</a:t>
            </a:r>
          </a:p>
          <a:p>
            <a:pPr marL="0">
              <a:spcAft>
                <a:spcPts val="0"/>
              </a:spcAft>
            </a:pPr>
            <a:r>
              <a:rPr lang="he-IL" sz="2100" dirty="0"/>
              <a:t>שימי לב, יש ליצור פונקציה אחת שמקבלת מחרוזת המתארת צבע "</a:t>
            </a:r>
            <a:r>
              <a:rPr lang="en-US" sz="2100" dirty="0"/>
              <a:t>grey"/"yellow/"Green"/"red"</a:t>
            </a:r>
            <a:endParaRPr lang="he-IL" sz="2100" dirty="0"/>
          </a:p>
          <a:p>
            <a:pPr marL="0">
              <a:spcAft>
                <a:spcPts val="0"/>
              </a:spcAft>
              <a:buFont typeface="Courier New" panose="02070309020205020404" pitchFamily="49" charset="0"/>
              <a:buChar char="o"/>
            </a:pPr>
            <a:endParaRPr lang="he-IL"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1863747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ש"ב – תרגיל משימות</a:t>
            </a:r>
          </a:p>
        </p:txBody>
      </p:sp>
      <p:sp>
        <p:nvSpPr>
          <p:cNvPr id="3" name="מציין מיקום תוכן 2"/>
          <p:cNvSpPr>
            <a:spLocks noGrp="1"/>
          </p:cNvSpPr>
          <p:nvPr>
            <p:ph idx="1"/>
          </p:nvPr>
        </p:nvSpPr>
        <p:spPr/>
        <p:txBody>
          <a:bodyPr>
            <a:normAutofit fontScale="92500" lnSpcReduction="10000"/>
          </a:bodyPr>
          <a:lstStyle/>
          <a:p>
            <a:pPr>
              <a:buFont typeface="Wingdings" panose="05000000000000000000" pitchFamily="2" charset="2"/>
              <a:buChar char="q"/>
            </a:pPr>
            <a:r>
              <a:rPr lang="he-IL" dirty="0"/>
              <a:t> בחרי נושא למשימות (מבחנים, הכנות לשבת, מעשי חסד...) צרי כמה </a:t>
            </a:r>
            <a:r>
              <a:rPr lang="he-IL" dirty="0" err="1"/>
              <a:t>דיבים</a:t>
            </a:r>
            <a:r>
              <a:rPr lang="he-IL" dirty="0"/>
              <a:t> על המסך, בכל </a:t>
            </a:r>
            <a:r>
              <a:rPr lang="he-IL" dirty="0" err="1"/>
              <a:t>דיב</a:t>
            </a:r>
            <a:r>
              <a:rPr lang="he-IL" dirty="0"/>
              <a:t> כותרת עם שם המשימה תאריך ביצוע </a:t>
            </a:r>
            <a:r>
              <a:rPr lang="he-IL" dirty="0" err="1"/>
              <a:t>וכו</a:t>
            </a:r>
            <a:r>
              <a:rPr lang="he-IL" dirty="0"/>
              <a:t>'.</a:t>
            </a:r>
          </a:p>
          <a:p>
            <a:pPr>
              <a:buFont typeface="Wingdings" panose="05000000000000000000" pitchFamily="2" charset="2"/>
              <a:buChar char="q"/>
            </a:pPr>
            <a:r>
              <a:rPr lang="he-IL" dirty="0"/>
              <a:t>בנוסף בכל </a:t>
            </a:r>
            <a:r>
              <a:rPr lang="he-IL" dirty="0" err="1"/>
              <a:t>דיב</a:t>
            </a:r>
            <a:r>
              <a:rPr lang="he-IL" dirty="0"/>
              <a:t> יהיו שלוש תגיות מוסתרות: *תיבת טקסט למילוי שם מבצע המשימה, *כפתור אישור, *תגית פסקה או </a:t>
            </a:r>
            <a:r>
              <a:rPr lang="en-US" dirty="0"/>
              <a:t>label</a:t>
            </a:r>
            <a:r>
              <a:rPr lang="he-IL" dirty="0"/>
              <a:t>, בנוסף יהיה כפתור עריכה – בלחיצה על עריכה, כפתור זה יעלם ויוצגו תיבת הטקסט וכפתור האישור.</a:t>
            </a:r>
          </a:p>
          <a:p>
            <a:pPr>
              <a:buFont typeface="Wingdings" panose="05000000000000000000" pitchFamily="2" charset="2"/>
              <a:buChar char="q"/>
            </a:pPr>
            <a:r>
              <a:rPr lang="he-IL" dirty="0"/>
              <a:t> כאשר יהיה פוקוס על תיבת הטקסט הדגישי אותה בעזרת מסגרת או רקע. לאחר שיוכנס שם מבצע המשימה, בלחיצה על אישור, יוסתרו בחזרה תיבת הטקסט וכפתור האישור והפסקה תוצג עם שם מבצע המשימה.</a:t>
            </a:r>
          </a:p>
          <a:p>
            <a:pPr>
              <a:buFont typeface="Wingdings" panose="05000000000000000000" pitchFamily="2" charset="2"/>
              <a:buChar char="q"/>
            </a:pPr>
            <a:r>
              <a:rPr lang="he-IL" dirty="0"/>
              <a:t> אתגר – במקום לעשות 2 כפתורים, יהיה כפתור אחד – עריכה, בלחיצה עליו יוצג תיבת הטקסט וערך הכפתור ישתנה לאישור. (שימי לב לבדוק בפונקציה האם כרגע הלחיצה היא על עריכה או על אישור).</a:t>
            </a:r>
          </a:p>
          <a:p>
            <a:pPr>
              <a:buFont typeface="Wingdings" panose="05000000000000000000" pitchFamily="2" charset="2"/>
              <a:buChar char="q"/>
            </a:pPr>
            <a:r>
              <a:rPr lang="he-IL" dirty="0"/>
              <a:t> בתחתית הדף הוסיפי כפתור, בלחיצה עליו ישתנה צבע רקע כל </a:t>
            </a:r>
            <a:r>
              <a:rPr lang="he-IL" dirty="0" err="1"/>
              <a:t>הדיבים</a:t>
            </a:r>
            <a:r>
              <a:rPr lang="he-IL" dirty="0"/>
              <a:t>. (או לרקע מסוים, ניתן גם לעשות מערך צבעים, להגריל מספר, ולשנות לצבע במקום זה במערך).</a:t>
            </a:r>
          </a:p>
          <a:p>
            <a:pPr marL="0" indent="0" algn="l">
              <a:buNone/>
            </a:pPr>
            <a:r>
              <a:rPr lang="he-IL" dirty="0"/>
              <a:t>בהצלחה רבה!</a:t>
            </a:r>
          </a:p>
          <a:p>
            <a:pPr>
              <a:buFont typeface="Wingdings" panose="05000000000000000000" pitchFamily="2" charset="2"/>
              <a:buChar char="q"/>
            </a:pPr>
            <a:endParaRPr lang="he-IL"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2512665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Document</a:t>
            </a:r>
            <a:endParaRPr lang="he-IL" dirty="0"/>
          </a:p>
        </p:txBody>
      </p:sp>
      <p:sp>
        <p:nvSpPr>
          <p:cNvPr id="3" name="מציין מיקום תוכן 2"/>
          <p:cNvSpPr>
            <a:spLocks noGrp="1"/>
          </p:cNvSpPr>
          <p:nvPr>
            <p:ph idx="1"/>
          </p:nvPr>
        </p:nvSpPr>
        <p:spPr/>
        <p:txBody>
          <a:bodyPr/>
          <a:lstStyle/>
          <a:p>
            <a:pPr>
              <a:buFont typeface="Arial" panose="020B0604020202020204" pitchFamily="34" charset="0"/>
              <a:buChar char="•"/>
            </a:pPr>
            <a:r>
              <a:rPr lang="he-IL" dirty="0"/>
              <a:t> פונקציות להוספה ומחיקת אלמנטים - </a:t>
            </a:r>
          </a:p>
        </p:txBody>
      </p:sp>
      <p:pic>
        <p:nvPicPr>
          <p:cNvPr id="6" name="מציין מיקום תוכן 4"/>
          <p:cNvPicPr>
            <a:picLocks noChangeAspect="1"/>
          </p:cNvPicPr>
          <p:nvPr/>
        </p:nvPicPr>
        <p:blipFill>
          <a:blip r:embed="rId2"/>
          <a:stretch>
            <a:fillRect/>
          </a:stretch>
        </p:blipFill>
        <p:spPr>
          <a:xfrm>
            <a:off x="1210491" y="2345922"/>
            <a:ext cx="8142197" cy="3022983"/>
          </a:xfrm>
          <a:prstGeom prst="rect">
            <a:avLst/>
          </a:prstGeom>
        </p:spPr>
      </p:pic>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37256063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7280" y="233850"/>
            <a:ext cx="10058400" cy="1450757"/>
          </a:xfrm>
        </p:spPr>
        <p:txBody>
          <a:bodyPr/>
          <a:lstStyle/>
          <a:p>
            <a:r>
              <a:rPr lang="en-US" dirty="0"/>
              <a:t>Document</a:t>
            </a:r>
            <a:endParaRPr lang="he-IL" dirty="0"/>
          </a:p>
        </p:txBody>
      </p:sp>
      <p:sp>
        <p:nvSpPr>
          <p:cNvPr id="3" name="מציין מיקום תוכן 2"/>
          <p:cNvSpPr>
            <a:spLocks noGrp="1"/>
          </p:cNvSpPr>
          <p:nvPr>
            <p:ph idx="1"/>
          </p:nvPr>
        </p:nvSpPr>
        <p:spPr>
          <a:xfrm>
            <a:off x="1219200" y="1872111"/>
            <a:ext cx="9698182" cy="4023360"/>
          </a:xfrm>
        </p:spPr>
        <p:txBody>
          <a:bodyPr>
            <a:normAutofit fontScale="92500" lnSpcReduction="10000"/>
          </a:bodyPr>
          <a:lstStyle/>
          <a:p>
            <a:r>
              <a:rPr lang="he-IL" dirty="0"/>
              <a:t>דוג' להוספת אלמנטים למסך:</a:t>
            </a:r>
          </a:p>
          <a:p>
            <a:r>
              <a:rPr lang="he-IL" dirty="0"/>
              <a:t>* תחילה ניצור את האלמנט</a:t>
            </a:r>
          </a:p>
          <a:p>
            <a:pPr algn="l"/>
            <a:r>
              <a:rPr lang="en-US" dirty="0"/>
              <a:t>Let </a:t>
            </a:r>
            <a:r>
              <a:rPr lang="en-US" dirty="0" err="1"/>
              <a:t>newBtn</a:t>
            </a:r>
            <a:r>
              <a:rPr lang="en-US" dirty="0"/>
              <a:t>=</a:t>
            </a:r>
            <a:r>
              <a:rPr lang="en-US" dirty="0" err="1"/>
              <a:t>document.createElement</a:t>
            </a:r>
            <a:r>
              <a:rPr lang="en-US" dirty="0"/>
              <a:t>(“button”)</a:t>
            </a:r>
          </a:p>
          <a:p>
            <a:r>
              <a:rPr lang="he-IL" dirty="0"/>
              <a:t>* נגדיר מאפיינים על האלמנט</a:t>
            </a:r>
            <a:endParaRPr lang="en-US" dirty="0"/>
          </a:p>
          <a:p>
            <a:pPr algn="l"/>
            <a:r>
              <a:rPr lang="en-US" dirty="0" err="1"/>
              <a:t>newBtn</a:t>
            </a:r>
            <a:r>
              <a:rPr lang="en-US" dirty="0"/>
              <a:t>. </a:t>
            </a:r>
            <a:r>
              <a:rPr lang="en-US" dirty="0" err="1"/>
              <a:t>setAttribute</a:t>
            </a:r>
            <a:r>
              <a:rPr lang="en-US" dirty="0"/>
              <a:t>(“</a:t>
            </a:r>
            <a:r>
              <a:rPr lang="en-US" dirty="0" err="1"/>
              <a:t>value”,”red</a:t>
            </a:r>
            <a:r>
              <a:rPr lang="en-US" dirty="0"/>
              <a:t> button”)</a:t>
            </a:r>
          </a:p>
          <a:p>
            <a:pPr algn="l"/>
            <a:r>
              <a:rPr lang="en-US" dirty="0" err="1"/>
              <a:t>newBtn</a:t>
            </a:r>
            <a:r>
              <a:rPr lang="en-US" dirty="0"/>
              <a:t>. </a:t>
            </a:r>
            <a:r>
              <a:rPr lang="en-US" dirty="0" err="1"/>
              <a:t>setAttribute</a:t>
            </a:r>
            <a:r>
              <a:rPr lang="en-US" dirty="0"/>
              <a:t>(“class”,”</a:t>
            </a:r>
            <a:r>
              <a:rPr lang="en-US" dirty="0" err="1"/>
              <a:t>redB</a:t>
            </a:r>
            <a:r>
              <a:rPr lang="en-US" dirty="0"/>
              <a:t>”)</a:t>
            </a:r>
            <a:endParaRPr lang="he-IL" dirty="0"/>
          </a:p>
          <a:p>
            <a:r>
              <a:rPr lang="he-IL" dirty="0"/>
              <a:t>* נתפוס את אלמנט האב</a:t>
            </a:r>
          </a:p>
          <a:p>
            <a:pPr algn="l"/>
            <a:r>
              <a:rPr lang="en-US" dirty="0"/>
              <a:t>Let f= </a:t>
            </a:r>
            <a:r>
              <a:rPr lang="en-US" dirty="0" err="1"/>
              <a:t>document.getElementById</a:t>
            </a:r>
            <a:r>
              <a:rPr lang="en-US" dirty="0"/>
              <a:t>(“</a:t>
            </a:r>
            <a:r>
              <a:rPr lang="en-US" dirty="0" err="1"/>
              <a:t>allButtons</a:t>
            </a:r>
            <a:r>
              <a:rPr lang="en-US" dirty="0"/>
              <a:t>”)</a:t>
            </a:r>
            <a:endParaRPr lang="he-IL" dirty="0"/>
          </a:p>
          <a:p>
            <a:r>
              <a:rPr lang="he-IL" dirty="0"/>
              <a:t>* נוסיף את האלמנט החדש ל</a:t>
            </a:r>
            <a:r>
              <a:rPr lang="en-US" dirty="0"/>
              <a:t>DOM</a:t>
            </a:r>
            <a:endParaRPr lang="he-IL" dirty="0"/>
          </a:p>
          <a:p>
            <a:pPr algn="l"/>
            <a:r>
              <a:rPr lang="en-US" dirty="0" err="1"/>
              <a:t>F.appendChild</a:t>
            </a:r>
            <a:r>
              <a:rPr lang="en-US" dirty="0"/>
              <a:t>(</a:t>
            </a:r>
            <a:r>
              <a:rPr lang="en-US" dirty="0" err="1"/>
              <a:t>newBtn</a:t>
            </a:r>
            <a:r>
              <a:rPr lang="en-US" dirty="0"/>
              <a:t>)</a:t>
            </a:r>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188533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7280" y="233850"/>
            <a:ext cx="10058400" cy="1450757"/>
          </a:xfrm>
        </p:spPr>
        <p:txBody>
          <a:bodyPr/>
          <a:lstStyle/>
          <a:p>
            <a:r>
              <a:rPr lang="he-IL" dirty="0"/>
              <a:t>ש"ב – תגיות דינאמיות</a:t>
            </a:r>
          </a:p>
        </p:txBody>
      </p:sp>
      <p:sp>
        <p:nvSpPr>
          <p:cNvPr id="3" name="מציין מיקום תוכן 2"/>
          <p:cNvSpPr>
            <a:spLocks noGrp="1"/>
          </p:cNvSpPr>
          <p:nvPr>
            <p:ph idx="1"/>
          </p:nvPr>
        </p:nvSpPr>
        <p:spPr>
          <a:xfrm>
            <a:off x="1265382" y="1872111"/>
            <a:ext cx="8712129" cy="3183466"/>
          </a:xfrm>
        </p:spPr>
        <p:txBody>
          <a:bodyPr>
            <a:normAutofit fontScale="70000" lnSpcReduction="20000"/>
          </a:bodyPr>
          <a:lstStyle/>
          <a:p>
            <a:pPr>
              <a:buFont typeface="Courier New" panose="02070309020205020404" pitchFamily="49" charset="0"/>
              <a:buChar char="o"/>
            </a:pPr>
            <a:r>
              <a:rPr lang="he-IL" dirty="0"/>
              <a:t> צרי עמוד עם כותרת הרשימה שלי.</a:t>
            </a:r>
          </a:p>
          <a:p>
            <a:pPr marL="0" indent="0">
              <a:buNone/>
            </a:pPr>
            <a:r>
              <a:rPr lang="he-IL" dirty="0"/>
              <a:t>	בנוסף יהיה תיבת קלט וכפתור הוסף, וכן תגית רשימה ריקה (</a:t>
            </a:r>
            <a:r>
              <a:rPr lang="en-US" dirty="0" err="1"/>
              <a:t>ul</a:t>
            </a:r>
            <a:r>
              <a:rPr lang="en-US" dirty="0"/>
              <a:t>/ </a:t>
            </a:r>
            <a:r>
              <a:rPr lang="en-US" dirty="0" err="1"/>
              <a:t>ol</a:t>
            </a:r>
            <a:r>
              <a:rPr lang="he-IL" dirty="0"/>
              <a:t>)</a:t>
            </a:r>
          </a:p>
          <a:p>
            <a:pPr marL="0" indent="0">
              <a:buNone/>
            </a:pPr>
            <a:r>
              <a:rPr lang="he-IL" dirty="0"/>
              <a:t>	בלחיצה על 'הוסף' יש לבדוק האם תיבת הקלט מלאה, אם כן יש להוסיף את הערך (שהוזן 	בתיבת הקלט) לרשימה (</a:t>
            </a:r>
            <a:r>
              <a:rPr lang="en-US" dirty="0"/>
              <a:t>li</a:t>
            </a:r>
            <a:r>
              <a:rPr lang="he-IL" dirty="0"/>
              <a:t>), ולרוקן את תיבת הקלט, אחרת יש להציג הודעת </a:t>
            </a:r>
            <a:r>
              <a:rPr lang="en-US" dirty="0"/>
              <a:t>alert</a:t>
            </a:r>
            <a:r>
              <a:rPr lang="he-IL" dirty="0"/>
              <a:t> שלא ניתן 	להוסיף ערך ריק.</a:t>
            </a:r>
          </a:p>
          <a:p>
            <a:pPr marL="0" indent="0">
              <a:buNone/>
            </a:pPr>
            <a:r>
              <a:rPr lang="he-IL" dirty="0"/>
              <a:t>	שדרגי מעט, ומחקי את תגית הרשימה (</a:t>
            </a:r>
            <a:r>
              <a:rPr lang="en-US" dirty="0" err="1"/>
              <a:t>ol</a:t>
            </a:r>
            <a:r>
              <a:rPr lang="en-US" dirty="0"/>
              <a:t>/</a:t>
            </a:r>
            <a:r>
              <a:rPr lang="en-US" dirty="0" err="1"/>
              <a:t>ul</a:t>
            </a:r>
            <a:r>
              <a:rPr lang="he-IL" dirty="0"/>
              <a:t>) מדף התצוגה, מה עליך לשנות בקוד?</a:t>
            </a:r>
          </a:p>
          <a:p>
            <a:pPr>
              <a:buFont typeface="Courier New" panose="02070309020205020404" pitchFamily="49" charset="0"/>
              <a:buChar char="o"/>
            </a:pPr>
            <a:r>
              <a:rPr lang="he-IL" dirty="0"/>
              <a:t> בעמוד נוסף הכיני טופס למילוי פרטי הילדים, מראש יהיה בטופס אפשרות למלא נתונים של ילד אחד,  וכפתור +, בלחיצה על הכפתור יתווספו שדות קלט לפרטי ילד נוסף. </a:t>
            </a:r>
          </a:p>
          <a:p>
            <a:pPr marL="0" indent="0">
              <a:buNone/>
            </a:pPr>
            <a:r>
              <a:rPr lang="he-IL" dirty="0"/>
              <a:t>פרטי ילד: שם, צבע אהוב, גיל. </a:t>
            </a:r>
          </a:p>
          <a:p>
            <a:pPr marL="0" indent="0">
              <a:buNone/>
            </a:pPr>
            <a:r>
              <a:rPr lang="he-IL" dirty="0"/>
              <a:t>כאשר יבחרו צבע יש לצבוע את הרקע של התגיות של ילד זה בהתאם לצבע שנבחר.</a:t>
            </a:r>
          </a:p>
          <a:p>
            <a:pPr marL="0" indent="0">
              <a:buNone/>
            </a:pPr>
            <a:r>
              <a:rPr lang="he-IL" dirty="0"/>
              <a:t>יש ליצור בתחתית הטופס חיוכים בהתאם למספר הילדים.</a:t>
            </a:r>
          </a:p>
          <a:p>
            <a:endParaRPr lang="he-IL"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3638988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Document</a:t>
            </a:r>
            <a:endParaRPr lang="he-IL" dirty="0"/>
          </a:p>
        </p:txBody>
      </p:sp>
      <p:sp>
        <p:nvSpPr>
          <p:cNvPr id="3" name="מציין מיקום תוכן 2"/>
          <p:cNvSpPr>
            <a:spLocks noGrp="1"/>
          </p:cNvSpPr>
          <p:nvPr>
            <p:ph idx="1"/>
          </p:nvPr>
        </p:nvSpPr>
        <p:spPr>
          <a:xfrm>
            <a:off x="1538654" y="1872111"/>
            <a:ext cx="8746588" cy="4023360"/>
          </a:xfrm>
        </p:spPr>
        <p:txBody>
          <a:bodyPr>
            <a:normAutofit fontScale="70000" lnSpcReduction="20000"/>
          </a:bodyPr>
          <a:lstStyle/>
          <a:p>
            <a:pPr>
              <a:buFont typeface="Arial" panose="020B0604020202020204" pitchFamily="34" charset="0"/>
              <a:buChar char="•"/>
            </a:pPr>
            <a:r>
              <a:rPr lang="he-IL" dirty="0"/>
              <a:t> פונקציה להוספת </a:t>
            </a:r>
            <a:r>
              <a:rPr lang="he-IL" dirty="0" err="1"/>
              <a:t>ארוע</a:t>
            </a:r>
            <a:r>
              <a:rPr lang="he-IL" dirty="0"/>
              <a:t> – כאשר יוצרים אלמנטים בקובץ ה</a:t>
            </a:r>
            <a:r>
              <a:rPr lang="en-US" dirty="0"/>
              <a:t>JS</a:t>
            </a:r>
            <a:r>
              <a:rPr lang="he-IL" dirty="0"/>
              <a:t> , ניתן להוסיף להם ג"כ </a:t>
            </a:r>
            <a:r>
              <a:rPr lang="he-IL" dirty="0" err="1"/>
              <a:t>ארועים</a:t>
            </a:r>
            <a:r>
              <a:rPr lang="he-IL" dirty="0"/>
              <a:t>. </a:t>
            </a:r>
          </a:p>
          <a:p>
            <a:pPr>
              <a:buFont typeface="Arial" panose="020B0604020202020204" pitchFamily="34" charset="0"/>
              <a:buChar char="•"/>
            </a:pPr>
            <a:r>
              <a:rPr lang="he-IL" dirty="0"/>
              <a:t> שני דרכים להוספת </a:t>
            </a:r>
            <a:r>
              <a:rPr lang="he-IL" dirty="0" err="1"/>
              <a:t>ארוע</a:t>
            </a:r>
            <a:r>
              <a:rPr lang="he-IL" dirty="0"/>
              <a:t>: * שם </a:t>
            </a:r>
            <a:r>
              <a:rPr lang="he-IL" dirty="0" err="1"/>
              <a:t>המשתנה.שם</a:t>
            </a:r>
            <a:r>
              <a:rPr lang="he-IL" dirty="0"/>
              <a:t> </a:t>
            </a:r>
            <a:r>
              <a:rPr lang="he-IL" dirty="0" err="1"/>
              <a:t>הארוע</a:t>
            </a:r>
            <a:r>
              <a:rPr lang="he-IL" dirty="0"/>
              <a:t>=שם הפונקציה:</a:t>
            </a:r>
          </a:p>
          <a:p>
            <a:pPr marL="0" indent="0" algn="l">
              <a:buNone/>
            </a:pPr>
            <a:r>
              <a:rPr lang="en-US" dirty="0"/>
              <a:t>let s=</a:t>
            </a:r>
            <a:r>
              <a:rPr lang="en-US" dirty="0" err="1"/>
              <a:t>document.getElementById</a:t>
            </a:r>
            <a:r>
              <a:rPr lang="en-US" dirty="0"/>
              <a:t>('start')</a:t>
            </a:r>
          </a:p>
          <a:p>
            <a:pPr marL="0" indent="0" algn="l">
              <a:buNone/>
            </a:pPr>
            <a:r>
              <a:rPr lang="en-US" dirty="0" err="1"/>
              <a:t>s.onclick</a:t>
            </a:r>
            <a:r>
              <a:rPr lang="en-US" dirty="0"/>
              <a:t> = start</a:t>
            </a:r>
            <a:endParaRPr lang="he-IL" dirty="0"/>
          </a:p>
          <a:p>
            <a:pPr marL="0" indent="0">
              <a:buNone/>
            </a:pPr>
            <a:r>
              <a:rPr lang="he-IL" dirty="0"/>
              <a:t>		 *שם המשתנה.</a:t>
            </a:r>
            <a:r>
              <a:rPr lang="en-US" dirty="0"/>
              <a:t> </a:t>
            </a:r>
            <a:r>
              <a:rPr lang="en-US" dirty="0" err="1"/>
              <a:t>addEventListener</a:t>
            </a:r>
            <a:r>
              <a:rPr lang="he-IL" dirty="0"/>
              <a:t>(שם הפונקציה, שם </a:t>
            </a:r>
            <a:r>
              <a:rPr lang="he-IL" dirty="0" err="1"/>
              <a:t>הארוע</a:t>
            </a:r>
            <a:r>
              <a:rPr lang="en-US" dirty="0"/>
              <a:t> (</a:t>
            </a:r>
            <a:r>
              <a:rPr lang="he-IL" dirty="0"/>
              <a:t>:</a:t>
            </a:r>
          </a:p>
          <a:p>
            <a:pPr marL="0" indent="0" algn="l">
              <a:buNone/>
            </a:pPr>
            <a:r>
              <a:rPr lang="en-US" dirty="0"/>
              <a:t>let s=</a:t>
            </a:r>
            <a:r>
              <a:rPr lang="en-US" dirty="0" err="1"/>
              <a:t>document.getElementById</a:t>
            </a:r>
            <a:r>
              <a:rPr lang="en-US" dirty="0"/>
              <a:t>('start')</a:t>
            </a:r>
          </a:p>
          <a:p>
            <a:pPr marL="0" indent="0" algn="l">
              <a:buNone/>
            </a:pPr>
            <a:r>
              <a:rPr lang="en-US" dirty="0" err="1"/>
              <a:t>s.addEventListener</a:t>
            </a:r>
            <a:r>
              <a:rPr lang="en-US" dirty="0"/>
              <a:t>('click', start)</a:t>
            </a:r>
          </a:p>
          <a:p>
            <a:pPr marL="0" indent="0">
              <a:buNone/>
            </a:pPr>
            <a:r>
              <a:rPr lang="he-IL" b="1" u="sng" dirty="0"/>
              <a:t>שימי לב </a:t>
            </a:r>
            <a:r>
              <a:rPr lang="he-IL" dirty="0"/>
              <a:t>– אין לכתוב אחרי שם </a:t>
            </a:r>
            <a:r>
              <a:rPr lang="he-IL" dirty="0" err="1"/>
              <a:t>הארוע</a:t>
            </a:r>
            <a:r>
              <a:rPr lang="he-IL" dirty="0"/>
              <a:t> סוגריים עגולות. (אם ניתן זה יפעיל את </a:t>
            </a:r>
            <a:r>
              <a:rPr lang="he-IL" dirty="0" err="1"/>
              <a:t>הארוע</a:t>
            </a:r>
            <a:r>
              <a:rPr lang="he-IL" dirty="0"/>
              <a:t> בזמן היצירה).</a:t>
            </a:r>
          </a:p>
          <a:p>
            <a:pPr marL="0" indent="0">
              <a:buNone/>
            </a:pPr>
            <a:r>
              <a:rPr lang="he-IL" b="1" dirty="0"/>
              <a:t>הערה</a:t>
            </a:r>
            <a:r>
              <a:rPr lang="he-IL" dirty="0"/>
              <a:t>: </a:t>
            </a:r>
            <a:r>
              <a:rPr lang="en-US" dirty="0" err="1"/>
              <a:t>innerHTML</a:t>
            </a:r>
            <a:r>
              <a:rPr lang="he-IL" dirty="0"/>
              <a:t> – יכול לקבל מחרוזת של תגיות ולהמיר אותה ל</a:t>
            </a:r>
            <a:r>
              <a:rPr lang="en-US" dirty="0"/>
              <a:t>HTML</a:t>
            </a:r>
            <a:r>
              <a:rPr lang="he-IL" dirty="0"/>
              <a:t>, לדוג' – </a:t>
            </a:r>
          </a:p>
          <a:p>
            <a:pPr algn="l"/>
            <a:r>
              <a:rPr lang="en-US" dirty="0"/>
              <a:t>let d = </a:t>
            </a:r>
            <a:r>
              <a:rPr lang="en-US" dirty="0" err="1"/>
              <a:t>document.createElement</a:t>
            </a:r>
            <a:r>
              <a:rPr lang="en-US" dirty="0"/>
              <a:t>('div')</a:t>
            </a:r>
          </a:p>
          <a:p>
            <a:pPr algn="l"/>
            <a:r>
              <a:rPr lang="en-US" dirty="0"/>
              <a:t>    </a:t>
            </a:r>
            <a:r>
              <a:rPr lang="en-US" dirty="0" err="1"/>
              <a:t>d.innerHTML</a:t>
            </a:r>
            <a:r>
              <a:rPr lang="en-US" dirty="0"/>
              <a:t> = "&lt;h1&gt;&lt;button&gt;start&lt;/button&gt;&lt;/h1&gt;</a:t>
            </a:r>
          </a:p>
          <a:p>
            <a:pPr algn="l"/>
            <a:r>
              <a:rPr lang="en-US" dirty="0"/>
              <a:t>    </a:t>
            </a:r>
            <a:r>
              <a:rPr lang="en-US" dirty="0" err="1"/>
              <a:t>document.body.appendChild</a:t>
            </a:r>
            <a:r>
              <a:rPr lang="en-US" dirty="0"/>
              <a:t>(d)</a:t>
            </a:r>
            <a:endParaRPr lang="he-IL"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2113712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משחק – זהה את התמונה</a:t>
            </a:r>
          </a:p>
        </p:txBody>
      </p:sp>
      <p:sp>
        <p:nvSpPr>
          <p:cNvPr id="3" name="מציין מיקום תוכן 2"/>
          <p:cNvSpPr>
            <a:spLocks noGrp="1"/>
          </p:cNvSpPr>
          <p:nvPr>
            <p:ph idx="1"/>
          </p:nvPr>
        </p:nvSpPr>
        <p:spPr>
          <a:xfrm>
            <a:off x="1538654" y="1872111"/>
            <a:ext cx="8746588" cy="4023360"/>
          </a:xfrm>
        </p:spPr>
        <p:txBody>
          <a:bodyPr>
            <a:normAutofit lnSpcReduction="10000"/>
          </a:bodyPr>
          <a:lstStyle/>
          <a:p>
            <a:pPr>
              <a:buFont typeface="Arial" panose="020B0604020202020204" pitchFamily="34" charset="0"/>
              <a:buChar char="•"/>
            </a:pPr>
            <a:r>
              <a:rPr lang="he-IL" dirty="0"/>
              <a:t> הגדירי מערך עם ניתובים לתמונות.</a:t>
            </a:r>
          </a:p>
          <a:p>
            <a:pPr>
              <a:buFont typeface="Arial" panose="020B0604020202020204" pitchFamily="34" charset="0"/>
              <a:buChar char="•"/>
            </a:pPr>
            <a:r>
              <a:rPr lang="he-IL" dirty="0"/>
              <a:t> על המסך יוצג כפתור התחל משחק הצלחות וכישלונות.</a:t>
            </a:r>
          </a:p>
          <a:p>
            <a:pPr>
              <a:buFont typeface="Arial" panose="020B0604020202020204" pitchFamily="34" charset="0"/>
              <a:buChar char="•"/>
            </a:pPr>
            <a:r>
              <a:rPr lang="he-IL" dirty="0"/>
              <a:t>בלחיצה על הכפתור: - תוגרל תמונה ותוצג על המסך למעלה.</a:t>
            </a:r>
          </a:p>
          <a:p>
            <a:pPr marL="0" indent="0">
              <a:buNone/>
            </a:pPr>
            <a:r>
              <a:rPr lang="he-IL" dirty="0"/>
              <a:t>		    - מתחת יוצגו על המסך 50 תמונות מעורבבות – </a:t>
            </a:r>
            <a:r>
              <a:rPr lang="he-IL" sz="1600" dirty="0"/>
              <a:t>(כל תמונה כמה פעמים)</a:t>
            </a:r>
            <a:endParaRPr lang="he-IL" dirty="0"/>
          </a:p>
          <a:p>
            <a:pPr>
              <a:buFont typeface="Arial" panose="020B0604020202020204" pitchFamily="34" charset="0"/>
              <a:buChar char="•"/>
            </a:pPr>
            <a:r>
              <a:rPr lang="he-IL" dirty="0"/>
              <a:t>המשחק – על המשתמש ללחוץ על התמונות שזהות לתמונה למעלה, בכל לחיצה על תמונה נבדוק האם התמונה זהה, אם כן נוסיף לכמות ההצלחות ואם לא לכמות הכישלונות.</a:t>
            </a:r>
          </a:p>
          <a:p>
            <a:pPr>
              <a:buFont typeface="Arial" panose="020B0604020202020204" pitchFamily="34" charset="0"/>
              <a:buChar char="•"/>
            </a:pPr>
            <a:r>
              <a:rPr lang="he-IL" dirty="0">
                <a:solidFill>
                  <a:srgbClr val="FF0000"/>
                </a:solidFill>
              </a:rPr>
              <a:t>כל תמונה שלוחצים עליה, </a:t>
            </a:r>
            <a:r>
              <a:rPr lang="he-IL" dirty="0" err="1">
                <a:solidFill>
                  <a:srgbClr val="FF0000"/>
                </a:solidFill>
              </a:rPr>
              <a:t>תהפך</a:t>
            </a:r>
            <a:r>
              <a:rPr lang="he-IL" dirty="0">
                <a:solidFill>
                  <a:srgbClr val="FF0000"/>
                </a:solidFill>
              </a:rPr>
              <a:t> ללא מאופשרת (</a:t>
            </a:r>
            <a:r>
              <a:rPr lang="en-US" dirty="0">
                <a:solidFill>
                  <a:srgbClr val="FF0000"/>
                </a:solidFill>
              </a:rPr>
              <a:t>disabled</a:t>
            </a:r>
            <a:r>
              <a:rPr lang="he-IL" dirty="0">
                <a:solidFill>
                  <a:srgbClr val="FF0000"/>
                </a:solidFill>
              </a:rPr>
              <a:t>).</a:t>
            </a:r>
          </a:p>
          <a:p>
            <a:pPr>
              <a:buFont typeface="Arial" panose="020B0604020202020204" pitchFamily="34" charset="0"/>
              <a:buChar char="•"/>
            </a:pPr>
            <a:r>
              <a:rPr lang="he-IL" dirty="0">
                <a:solidFill>
                  <a:srgbClr val="FF0000"/>
                </a:solidFill>
              </a:rPr>
              <a:t> </a:t>
            </a:r>
            <a:r>
              <a:rPr lang="he-IL" dirty="0">
                <a:solidFill>
                  <a:schemeClr val="tx1"/>
                </a:solidFill>
              </a:rPr>
              <a:t>כאשר המשתמש לחץ על כל התמונות הזהות – מספר ההצלחות זהה למספר התמונות הזהות לתמונה למעלה – תוצג הודעה מתאימה</a:t>
            </a:r>
          </a:p>
          <a:p>
            <a:pPr>
              <a:buFont typeface="Arial" panose="020B0604020202020204" pitchFamily="34" charset="0"/>
              <a:buChar char="•"/>
            </a:pPr>
            <a:r>
              <a:rPr lang="he-IL" dirty="0">
                <a:solidFill>
                  <a:schemeClr val="tx1"/>
                </a:solidFill>
              </a:rPr>
              <a:t> מעל 10 כישלונות תוצג הודעה על כישלון.</a:t>
            </a:r>
          </a:p>
          <a:p>
            <a:pPr>
              <a:buFont typeface="Arial" panose="020B0604020202020204" pitchFamily="34" charset="0"/>
              <a:buChar char="•"/>
            </a:pPr>
            <a:endParaRPr lang="he-IL" dirty="0"/>
          </a:p>
          <a:p>
            <a:pPr>
              <a:buFont typeface="Arial" panose="020B0604020202020204" pitchFamily="34" charset="0"/>
              <a:buChar char="•"/>
            </a:pPr>
            <a:endParaRPr lang="he-IL" dirty="0"/>
          </a:p>
          <a:p>
            <a:pPr>
              <a:buFont typeface="Arial" panose="020B0604020202020204" pitchFamily="34" charset="0"/>
              <a:buChar char="•"/>
            </a:pPr>
            <a:endParaRPr lang="en-US" dirty="0"/>
          </a:p>
          <a:p>
            <a:pPr>
              <a:buFont typeface="Arial" panose="020B0604020202020204" pitchFamily="34" charset="0"/>
              <a:buChar char="•"/>
            </a:pPr>
            <a:endParaRPr lang="he-IL"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17362417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err="1"/>
              <a:t>ארועים</a:t>
            </a:r>
            <a:endParaRPr lang="he-IL" dirty="0"/>
          </a:p>
        </p:txBody>
      </p:sp>
      <p:sp>
        <p:nvSpPr>
          <p:cNvPr id="3" name="מציין מיקום תוכן 2"/>
          <p:cNvSpPr>
            <a:spLocks noGrp="1"/>
          </p:cNvSpPr>
          <p:nvPr>
            <p:ph idx="1"/>
          </p:nvPr>
        </p:nvSpPr>
        <p:spPr/>
        <p:txBody>
          <a:bodyPr>
            <a:normAutofit fontScale="92500" lnSpcReduction="10000"/>
          </a:bodyPr>
          <a:lstStyle/>
          <a:p>
            <a:r>
              <a:rPr lang="he-IL" dirty="0"/>
              <a:t>בכל הפעלת </a:t>
            </a:r>
            <a:r>
              <a:rPr lang="he-IL" dirty="0" err="1"/>
              <a:t>ארוע</a:t>
            </a:r>
            <a:r>
              <a:rPr lang="he-IL" dirty="0"/>
              <a:t> – ניתן לקבל אובייקט המכיל את המאפיינים הקשורים </a:t>
            </a:r>
            <a:r>
              <a:rPr lang="he-IL" dirty="0" err="1"/>
              <a:t>לארוע</a:t>
            </a:r>
            <a:r>
              <a:rPr lang="he-IL" dirty="0"/>
              <a:t>,</a:t>
            </a:r>
          </a:p>
          <a:p>
            <a:r>
              <a:rPr lang="he-IL" dirty="0"/>
              <a:t>זהו אובייקט מובנה במערכת בשם –</a:t>
            </a:r>
            <a:r>
              <a:rPr lang="en-US" dirty="0"/>
              <a:t>event</a:t>
            </a:r>
            <a:r>
              <a:rPr lang="he-IL" dirty="0"/>
              <a:t>.</a:t>
            </a:r>
          </a:p>
          <a:p>
            <a:r>
              <a:rPr lang="he-IL" dirty="0"/>
              <a:t>ניתן לגשת לפקד ששלח את </a:t>
            </a:r>
            <a:r>
              <a:rPr lang="he-IL" dirty="0" err="1"/>
              <a:t>הארוע</a:t>
            </a:r>
            <a:r>
              <a:rPr lang="he-IL" dirty="0"/>
              <a:t> - </a:t>
            </a:r>
            <a:r>
              <a:rPr lang="en-US" dirty="0" err="1"/>
              <a:t>Event.currentTarget</a:t>
            </a:r>
            <a:r>
              <a:rPr lang="en-US" dirty="0"/>
              <a:t> / </a:t>
            </a:r>
            <a:r>
              <a:rPr lang="en-US" dirty="0" err="1"/>
              <a:t>event.srcElement</a:t>
            </a:r>
            <a:r>
              <a:rPr lang="he-IL" dirty="0"/>
              <a:t>, מאפיין זה מכיל את כל שורת התגית כמו שהיא מופיע בהגדרה שלה ב</a:t>
            </a:r>
            <a:r>
              <a:rPr lang="en-US" dirty="0"/>
              <a:t>HTML</a:t>
            </a:r>
            <a:r>
              <a:rPr lang="he-IL" dirty="0"/>
              <a:t>.</a:t>
            </a:r>
          </a:p>
          <a:p>
            <a:pPr lvl="0"/>
            <a:r>
              <a:rPr lang="he-IL" dirty="0"/>
              <a:t>אירועי עכבר: </a:t>
            </a:r>
            <a:r>
              <a:rPr lang="en-US" dirty="0" err="1"/>
              <a:t>event.offsetX</a:t>
            </a:r>
            <a:r>
              <a:rPr lang="en-US" dirty="0"/>
              <a:t> , </a:t>
            </a:r>
            <a:r>
              <a:rPr lang="en-US" dirty="0" err="1"/>
              <a:t>event.offsetY</a:t>
            </a:r>
            <a:r>
              <a:rPr lang="he-IL" dirty="0"/>
              <a:t> הסט העכבר מהנקודה העליונה והשמאלית (ראשית הצירים של המסך)</a:t>
            </a:r>
            <a:endParaRPr lang="en-US" dirty="0"/>
          </a:p>
          <a:p>
            <a:pPr lvl="0"/>
            <a:r>
              <a:rPr lang="he-IL" dirty="0"/>
              <a:t>אירועי מקלדת: </a:t>
            </a:r>
            <a:r>
              <a:rPr lang="en-US" dirty="0" err="1"/>
              <a:t>event.keyCode</a:t>
            </a:r>
            <a:r>
              <a:rPr lang="he-IL" dirty="0"/>
              <a:t> מכיל את קוד </a:t>
            </a:r>
            <a:r>
              <a:rPr lang="he-IL" dirty="0" err="1"/>
              <a:t>האסקיי</a:t>
            </a:r>
            <a:r>
              <a:rPr lang="he-IL" dirty="0"/>
              <a:t> של התו הנלחץ במקלדת,</a:t>
            </a:r>
          </a:p>
          <a:p>
            <a:pPr lvl="0"/>
            <a:r>
              <a:rPr lang="he-IL" dirty="0"/>
              <a:t> כדי להמיר קוד </a:t>
            </a:r>
            <a:r>
              <a:rPr lang="he-IL" dirty="0" err="1"/>
              <a:t>אסקי</a:t>
            </a:r>
            <a:r>
              <a:rPr lang="he-IL" dirty="0"/>
              <a:t> לתו: </a:t>
            </a:r>
            <a:r>
              <a:rPr lang="en-US" dirty="0" err="1"/>
              <a:t>String.fromCharCode</a:t>
            </a:r>
            <a:r>
              <a:rPr lang="en-US" dirty="0"/>
              <a:t>(</a:t>
            </a:r>
            <a:r>
              <a:rPr lang="en-US" dirty="0" err="1"/>
              <a:t>ascii</a:t>
            </a:r>
            <a:r>
              <a:rPr lang="en-US" dirty="0"/>
              <a:t>)</a:t>
            </a:r>
            <a:endParaRPr lang="he-IL" dirty="0"/>
          </a:p>
          <a:p>
            <a:pPr lvl="0"/>
            <a:r>
              <a:rPr lang="he-IL" dirty="0"/>
              <a:t>כדי להמיר תו לקוד </a:t>
            </a:r>
            <a:r>
              <a:rPr lang="he-IL" dirty="0" err="1"/>
              <a:t>אסקי</a:t>
            </a:r>
            <a:r>
              <a:rPr lang="he-IL" dirty="0"/>
              <a:t>: </a:t>
            </a:r>
            <a:r>
              <a:rPr lang="en-US" dirty="0" err="1"/>
              <a:t>text.charCodeAt</a:t>
            </a:r>
            <a:r>
              <a:rPr lang="en-US" dirty="0"/>
              <a:t>(index)</a:t>
            </a:r>
            <a:endParaRPr lang="he-IL" dirty="0"/>
          </a:p>
          <a:p>
            <a:r>
              <a:rPr lang="he-IL" dirty="0"/>
              <a:t>לפעמים נרצה לקבל מידע נוסף על התגית שבצעה את </a:t>
            </a:r>
            <a:r>
              <a:rPr lang="he-IL" dirty="0" err="1"/>
              <a:t>הארוע</a:t>
            </a:r>
            <a:r>
              <a:rPr lang="he-IL" dirty="0"/>
              <a:t>, ניתן להוסיף מאפיין משלנו, שם המאפיין יתחיל ב</a:t>
            </a:r>
            <a:r>
              <a:rPr lang="en-US" dirty="0"/>
              <a:t>data-[</a:t>
            </a:r>
            <a:r>
              <a:rPr lang="en-US" dirty="0" err="1"/>
              <a:t>myAttribute</a:t>
            </a:r>
            <a:r>
              <a:rPr lang="en-US" dirty="0"/>
              <a:t>]  </a:t>
            </a:r>
          </a:p>
          <a:p>
            <a:pPr lvl="0"/>
            <a:endParaRPr lang="en-US" dirty="0"/>
          </a:p>
          <a:p>
            <a:endParaRPr lang="he-IL"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4135604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טפסים</a:t>
            </a:r>
          </a:p>
        </p:txBody>
      </p:sp>
      <p:sp>
        <p:nvSpPr>
          <p:cNvPr id="3" name="מציין מיקום תוכן 2"/>
          <p:cNvSpPr>
            <a:spLocks noGrp="1"/>
          </p:cNvSpPr>
          <p:nvPr>
            <p:ph idx="1"/>
          </p:nvPr>
        </p:nvSpPr>
        <p:spPr/>
        <p:txBody>
          <a:bodyPr>
            <a:normAutofit fontScale="85000" lnSpcReduction="20000"/>
          </a:bodyPr>
          <a:lstStyle/>
          <a:p>
            <a:r>
              <a:rPr lang="he-IL" dirty="0"/>
              <a:t>ישנה מטרה חשובה בתכנות צד לקוח והיא בדיקת תקינות בטפסים, וזאת כדי למנוע קריאות שרת מיותרות.</a:t>
            </a:r>
          </a:p>
          <a:p>
            <a:r>
              <a:rPr lang="he-IL" dirty="0"/>
              <a:t>ניגש לפקדים בעזרת הדרכים שלמדנו ונבדוק את תקינות הקלט.</a:t>
            </a:r>
          </a:p>
          <a:p>
            <a:r>
              <a:rPr lang="he-IL" dirty="0"/>
              <a:t>ישנם כמה פונקציות שימושיות לדוג' - </a:t>
            </a:r>
            <a:endParaRPr lang="en-US" dirty="0"/>
          </a:p>
          <a:p>
            <a:pPr lvl="0"/>
            <a:r>
              <a:rPr lang="en-US" dirty="0"/>
              <a:t>-focus()</a:t>
            </a:r>
            <a:r>
              <a:rPr lang="he-IL" dirty="0"/>
              <a:t>שם את הפוקוס על הפקד ללא יכולת לעזוב אותו.</a:t>
            </a:r>
            <a:endParaRPr lang="en-US" dirty="0"/>
          </a:p>
          <a:p>
            <a:pPr lvl="0"/>
            <a:r>
              <a:rPr lang="en-US" dirty="0" err="1"/>
              <a:t>event.preventDefault</a:t>
            </a:r>
            <a:r>
              <a:rPr lang="en-US" dirty="0"/>
              <a:t>()</a:t>
            </a:r>
            <a:r>
              <a:rPr lang="he-IL" dirty="0"/>
              <a:t>- מבטל את </a:t>
            </a:r>
            <a:r>
              <a:rPr lang="he-IL" dirty="0" err="1"/>
              <a:t>ארוע</a:t>
            </a:r>
            <a:r>
              <a:rPr lang="he-IL" dirty="0"/>
              <a:t> ברירת המחדל.</a:t>
            </a:r>
          </a:p>
          <a:p>
            <a:r>
              <a:rPr lang="he-IL" dirty="0"/>
              <a:t>בדיקה האם הקלט תקין - </a:t>
            </a:r>
            <a:r>
              <a:rPr lang="en-US" dirty="0" err="1"/>
              <a:t>validity.valid</a:t>
            </a:r>
            <a:r>
              <a:rPr lang="he-IL" dirty="0"/>
              <a:t>.</a:t>
            </a:r>
          </a:p>
          <a:p>
            <a:pPr marL="0" indent="0">
              <a:buNone/>
            </a:pPr>
            <a:r>
              <a:rPr lang="he-IL" dirty="0"/>
              <a:t>לכל שדה סוג הטיפול שלו:</a:t>
            </a:r>
          </a:p>
          <a:p>
            <a:pPr marL="0" indent="0">
              <a:buNone/>
            </a:pPr>
            <a:r>
              <a:rPr lang="he-IL" dirty="0"/>
              <a:t>לטקסט ניגש ע"י – </a:t>
            </a:r>
            <a:r>
              <a:rPr lang="en-US" dirty="0"/>
              <a:t>value</a:t>
            </a:r>
            <a:endParaRPr lang="he-IL" dirty="0"/>
          </a:p>
          <a:p>
            <a:pPr marL="0" indent="0">
              <a:buNone/>
            </a:pPr>
            <a:r>
              <a:rPr lang="he-IL" dirty="0"/>
              <a:t>לתיבת רדיו – </a:t>
            </a:r>
            <a:r>
              <a:rPr lang="en-US" dirty="0"/>
              <a:t>checked</a:t>
            </a:r>
            <a:endParaRPr lang="he-IL" dirty="0"/>
          </a:p>
          <a:p>
            <a:pPr marL="0" indent="0">
              <a:buNone/>
            </a:pPr>
            <a:r>
              <a:rPr lang="he-IL" dirty="0"/>
              <a:t>לתיבת בחירה – </a:t>
            </a:r>
            <a:r>
              <a:rPr lang="en-US" dirty="0"/>
              <a:t>select</a:t>
            </a:r>
            <a:r>
              <a:rPr lang="he-IL" dirty="0"/>
              <a:t> ניתן לגשת לאינדקס הנבחר – </a:t>
            </a:r>
            <a:r>
              <a:rPr lang="en-US" dirty="0" err="1"/>
              <a:t>selectedIndex</a:t>
            </a:r>
            <a:r>
              <a:rPr lang="he-IL" dirty="0"/>
              <a:t>, ואחר כך לכל האופציות במקום זה, </a:t>
            </a:r>
            <a:r>
              <a:rPr lang="en-US" dirty="0"/>
              <a:t>options[index]</a:t>
            </a:r>
            <a:endParaRPr lang="he-IL" dirty="0"/>
          </a:p>
          <a:p>
            <a:pPr marL="0" indent="0">
              <a:buNone/>
            </a:pPr>
            <a:r>
              <a:rPr lang="he-IL" dirty="0"/>
              <a:t>ועוד </a:t>
            </a:r>
            <a:r>
              <a:rPr lang="he-IL" dirty="0" err="1"/>
              <a:t>ועוד</a:t>
            </a:r>
            <a:r>
              <a:rPr lang="he-IL" dirty="0"/>
              <a:t>...</a:t>
            </a:r>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3747405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טפסים - המשך</a:t>
            </a:r>
          </a:p>
        </p:txBody>
      </p:sp>
      <p:sp>
        <p:nvSpPr>
          <p:cNvPr id="3" name="מציין מיקום תוכן 2"/>
          <p:cNvSpPr>
            <a:spLocks noGrp="1"/>
          </p:cNvSpPr>
          <p:nvPr>
            <p:ph idx="1"/>
          </p:nvPr>
        </p:nvSpPr>
        <p:spPr/>
        <p:txBody>
          <a:bodyPr/>
          <a:lstStyle/>
          <a:p>
            <a:pPr marL="0" indent="0">
              <a:buNone/>
            </a:pPr>
            <a:r>
              <a:rPr lang="he-IL" dirty="0"/>
              <a:t>ניתן לגשת לטופס ע"י </a:t>
            </a:r>
            <a:r>
              <a:rPr lang="en-US" dirty="0"/>
              <a:t>ID</a:t>
            </a:r>
            <a:r>
              <a:rPr lang="he-IL" dirty="0"/>
              <a:t>,</a:t>
            </a:r>
          </a:p>
          <a:p>
            <a:pPr marL="0" indent="0">
              <a:buNone/>
            </a:pPr>
            <a:r>
              <a:rPr lang="he-IL" dirty="0"/>
              <a:t>ניתן גם לגשת בעזרת שם הטופס, </a:t>
            </a:r>
            <a:r>
              <a:rPr lang="he-IL" dirty="0" err="1"/>
              <a:t>לאוביקט</a:t>
            </a:r>
            <a:r>
              <a:rPr lang="he-IL" dirty="0"/>
              <a:t> ה</a:t>
            </a:r>
            <a:r>
              <a:rPr lang="en-US" dirty="0"/>
              <a:t>document</a:t>
            </a:r>
            <a:r>
              <a:rPr lang="he-IL" dirty="0"/>
              <a:t> יש מערך טפסים, וכך ניתן לגשת לטופס הרצוי,</a:t>
            </a:r>
          </a:p>
          <a:p>
            <a:pPr marL="0" indent="0">
              <a:buNone/>
            </a:pPr>
            <a:r>
              <a:rPr lang="he-IL" dirty="0"/>
              <a:t>בתוך הטופס יש מערך שדות הטופס וגם אליהם ניתן לגשת ע"י שמם</a:t>
            </a:r>
          </a:p>
          <a:p>
            <a:pPr marL="0" indent="0">
              <a:buNone/>
            </a:pPr>
            <a:r>
              <a:rPr lang="he-IL" dirty="0"/>
              <a:t>לדוג  - </a:t>
            </a:r>
          </a:p>
          <a:p>
            <a:pPr marL="0" indent="0" algn="l">
              <a:buNone/>
            </a:pPr>
            <a:r>
              <a:rPr lang="en-US" dirty="0"/>
              <a:t>function </a:t>
            </a:r>
            <a:r>
              <a:rPr lang="en-US" dirty="0" err="1"/>
              <a:t>validateForm</a:t>
            </a:r>
            <a:r>
              <a:rPr lang="en-US" dirty="0"/>
              <a:t>() {</a:t>
            </a:r>
            <a:br>
              <a:rPr lang="en-US" dirty="0"/>
            </a:br>
            <a:r>
              <a:rPr lang="en-US" dirty="0"/>
              <a:t>  let x = </a:t>
            </a:r>
            <a:r>
              <a:rPr lang="en-US" dirty="0" err="1"/>
              <a:t>document.forms</a:t>
            </a:r>
            <a:r>
              <a:rPr lang="en-US" dirty="0"/>
              <a:t>["</a:t>
            </a:r>
            <a:r>
              <a:rPr lang="en-US" dirty="0" err="1"/>
              <a:t>myForm</a:t>
            </a:r>
            <a:r>
              <a:rPr lang="en-US" dirty="0"/>
              <a:t>"]["</a:t>
            </a:r>
            <a:r>
              <a:rPr lang="en-US" dirty="0" err="1"/>
              <a:t>fname</a:t>
            </a:r>
            <a:r>
              <a:rPr lang="en-US" dirty="0"/>
              <a:t>"].value;</a:t>
            </a:r>
            <a:br>
              <a:rPr lang="en-US" dirty="0"/>
            </a:br>
            <a:r>
              <a:rPr lang="en-US" dirty="0"/>
              <a:t>  if (x == "") {</a:t>
            </a:r>
            <a:br>
              <a:rPr lang="en-US" dirty="0"/>
            </a:br>
            <a:r>
              <a:rPr lang="en-US" dirty="0"/>
              <a:t>    alert("Name must be filled out");</a:t>
            </a:r>
            <a:br>
              <a:rPr lang="en-US" dirty="0"/>
            </a:br>
            <a:r>
              <a:rPr lang="en-US" dirty="0"/>
              <a:t>    return false;</a:t>
            </a:r>
            <a:br>
              <a:rPr lang="en-US" dirty="0"/>
            </a:br>
            <a:r>
              <a:rPr lang="en-US" dirty="0"/>
              <a:t>  }</a:t>
            </a:r>
            <a:endParaRPr lang="he-IL"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15627935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טפסים –ש"ב</a:t>
            </a:r>
          </a:p>
        </p:txBody>
      </p:sp>
      <p:sp>
        <p:nvSpPr>
          <p:cNvPr id="3" name="מציין מיקום תוכן 2"/>
          <p:cNvSpPr>
            <a:spLocks noGrp="1"/>
          </p:cNvSpPr>
          <p:nvPr>
            <p:ph idx="1"/>
          </p:nvPr>
        </p:nvSpPr>
        <p:spPr>
          <a:xfrm>
            <a:off x="184638" y="1737360"/>
            <a:ext cx="10971042" cy="4023360"/>
          </a:xfrm>
        </p:spPr>
        <p:txBody>
          <a:bodyPr>
            <a:normAutofit lnSpcReduction="10000"/>
          </a:bodyPr>
          <a:lstStyle/>
          <a:p>
            <a:pPr>
              <a:buFont typeface="Courier New" panose="02070309020205020404" pitchFamily="49" charset="0"/>
              <a:buChar char="o"/>
            </a:pPr>
            <a:r>
              <a:rPr lang="he-IL" dirty="0"/>
              <a:t> צרי טופס על המסך עם השדות הבאים:</a:t>
            </a:r>
          </a:p>
          <a:p>
            <a:pPr lvl="8">
              <a:buFont typeface="Arial" panose="020B0604020202020204" pitchFamily="34" charset="0"/>
              <a:buChar char="•"/>
            </a:pPr>
            <a:r>
              <a:rPr lang="he-IL" dirty="0"/>
              <a:t>שם – שדה חובה.</a:t>
            </a:r>
          </a:p>
          <a:p>
            <a:pPr lvl="8">
              <a:buFont typeface="Arial" panose="020B0604020202020204" pitchFamily="34" charset="0"/>
              <a:buChar char="•"/>
            </a:pPr>
            <a:r>
              <a:rPr lang="he-IL" dirty="0"/>
              <a:t>משפחה – שדה חובה.</a:t>
            </a:r>
          </a:p>
          <a:p>
            <a:pPr lvl="8">
              <a:buFont typeface="Arial" panose="020B0604020202020204" pitchFamily="34" charset="0"/>
              <a:buChar char="•"/>
            </a:pPr>
            <a:r>
              <a:rPr lang="he-IL" dirty="0"/>
              <a:t>בחירת עיר מתוך רשימה.</a:t>
            </a:r>
          </a:p>
          <a:p>
            <a:pPr lvl="8">
              <a:buFont typeface="Arial" panose="020B0604020202020204" pitchFamily="34" charset="0"/>
              <a:buChar char="•"/>
            </a:pPr>
            <a:r>
              <a:rPr lang="he-IL" dirty="0"/>
              <a:t>זכר/ נקבה – ניתן לבחור רק אחד.</a:t>
            </a:r>
          </a:p>
          <a:p>
            <a:pPr lvl="8">
              <a:buFont typeface="Arial" panose="020B0604020202020204" pitchFamily="34" charset="0"/>
              <a:buChar char="•"/>
            </a:pPr>
            <a:r>
              <a:rPr lang="he-IL" dirty="0"/>
              <a:t>תחביבים – ניתן לבחור כמה.</a:t>
            </a:r>
          </a:p>
          <a:p>
            <a:pPr>
              <a:buFont typeface="Courier New" panose="02070309020205020404" pitchFamily="49" charset="0"/>
              <a:buChar char="o"/>
            </a:pPr>
            <a:r>
              <a:rPr lang="he-IL" dirty="0"/>
              <a:t> בעת הזנת שם או משפחה – יש לוודא שכותבים רק בעברית, אחרת יש לבטל את הפעולה.</a:t>
            </a:r>
          </a:p>
          <a:p>
            <a:pPr>
              <a:buFont typeface="Courier New" panose="02070309020205020404" pitchFamily="49" charset="0"/>
              <a:buChar char="o"/>
            </a:pPr>
            <a:r>
              <a:rPr lang="he-IL" dirty="0"/>
              <a:t> בעת יציאת הפוקוס מפקד השם או המשפחה יש לבדוק שאכן הזינו ערך, אחרת יש להשאיר את הפוקוס על הפקד.</a:t>
            </a:r>
          </a:p>
          <a:p>
            <a:pPr>
              <a:buFont typeface="Courier New" panose="02070309020205020404" pitchFamily="49" charset="0"/>
              <a:buChar char="o"/>
            </a:pPr>
            <a:r>
              <a:rPr lang="he-IL" dirty="0"/>
              <a:t> בלחיצה על סיום בדקי שכל השדות מלאים (בחרו לפחות תחביב אחד.) אם לא הוסיפי שגיאה בהתאם מתחת לפקד השגוי, והציבי עליו את הפוקוס.</a:t>
            </a:r>
          </a:p>
          <a:p>
            <a:pPr>
              <a:buFont typeface="Courier New" panose="02070309020205020404" pitchFamily="49" charset="0"/>
              <a:buChar char="o"/>
            </a:pPr>
            <a:r>
              <a:rPr lang="he-IL" dirty="0"/>
              <a:t> לאחר שהטופס תקין מחקי את הטופס מהמסך, והציגי </a:t>
            </a:r>
            <a:r>
              <a:rPr lang="he-IL" dirty="0" err="1"/>
              <a:t>בדיב</a:t>
            </a:r>
            <a:r>
              <a:rPr lang="he-IL" dirty="0"/>
              <a:t> עם פסקאות את כל התוכן שהוזן בטופס בצורה מסודרת.</a:t>
            </a:r>
          </a:p>
        </p:txBody>
      </p:sp>
      <p:sp>
        <p:nvSpPr>
          <p:cNvPr id="4" name="מלבן 3"/>
          <p:cNvSpPr/>
          <p:nvPr/>
        </p:nvSpPr>
        <p:spPr>
          <a:xfrm>
            <a:off x="4110182" y="5566666"/>
            <a:ext cx="1985818" cy="125824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r"/>
            <a:r>
              <a:rPr lang="he-IL" sz="1200" dirty="0">
                <a:ln>
                  <a:solidFill>
                    <a:sysClr val="windowText" lastClr="000000"/>
                  </a:solidFill>
                </a:ln>
              </a:rPr>
              <a:t>שם - __________</a:t>
            </a:r>
          </a:p>
          <a:p>
            <a:pPr algn="r"/>
            <a:r>
              <a:rPr lang="he-IL" sz="1200" dirty="0">
                <a:ln>
                  <a:solidFill>
                    <a:sysClr val="windowText" lastClr="000000"/>
                  </a:solidFill>
                </a:ln>
              </a:rPr>
              <a:t>משפחה - _______</a:t>
            </a:r>
            <a:endParaRPr lang="en-US" sz="1200" dirty="0">
              <a:ln>
                <a:solidFill>
                  <a:sysClr val="windowText" lastClr="000000"/>
                </a:solidFill>
              </a:ln>
            </a:endParaRPr>
          </a:p>
          <a:p>
            <a:pPr algn="r"/>
            <a:r>
              <a:rPr lang="he-IL" sz="1200" dirty="0">
                <a:ln>
                  <a:solidFill>
                    <a:sysClr val="windowText" lastClr="000000"/>
                  </a:solidFill>
                </a:ln>
              </a:rPr>
              <a:t>עיר - __________</a:t>
            </a:r>
          </a:p>
          <a:p>
            <a:pPr algn="r"/>
            <a:r>
              <a:rPr lang="he-IL" sz="1200" dirty="0">
                <a:ln>
                  <a:solidFill>
                    <a:sysClr val="windowText" lastClr="000000"/>
                  </a:solidFill>
                </a:ln>
              </a:rPr>
              <a:t>מין - ___________</a:t>
            </a:r>
          </a:p>
          <a:p>
            <a:pPr algn="r"/>
            <a:r>
              <a:rPr lang="he-IL" sz="1200" dirty="0">
                <a:ln>
                  <a:solidFill>
                    <a:sysClr val="windowText" lastClr="000000"/>
                  </a:solidFill>
                </a:ln>
              </a:rPr>
              <a:t>תחביבים – 1. ____</a:t>
            </a:r>
          </a:p>
          <a:p>
            <a:pPr algn="r"/>
            <a:r>
              <a:rPr lang="he-IL" sz="1200" dirty="0">
                <a:ln>
                  <a:solidFill>
                    <a:sysClr val="windowText" lastClr="000000"/>
                  </a:solidFill>
                </a:ln>
              </a:rPr>
              <a:t>	                2. ____</a:t>
            </a:r>
          </a:p>
          <a:p>
            <a:pPr algn="r"/>
            <a:endParaRPr lang="he-IL" sz="1200" dirty="0">
              <a:ln>
                <a:solidFill>
                  <a:sysClr val="windowText" lastClr="000000"/>
                </a:solidFill>
              </a:ln>
            </a:endParaRPr>
          </a:p>
        </p:txBody>
      </p:sp>
      <p:sp>
        <p:nvSpPr>
          <p:cNvPr id="6" name="מציין מיקום של כותרת תחתונה 5"/>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3426491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אתר המשחקים</a:t>
            </a:r>
          </a:p>
        </p:txBody>
      </p:sp>
      <p:sp>
        <p:nvSpPr>
          <p:cNvPr id="3" name="מציין מיקום תוכן 2"/>
          <p:cNvSpPr>
            <a:spLocks noGrp="1"/>
          </p:cNvSpPr>
          <p:nvPr>
            <p:ph idx="1"/>
          </p:nvPr>
        </p:nvSpPr>
        <p:spPr/>
        <p:txBody>
          <a:bodyPr>
            <a:normAutofit/>
          </a:bodyPr>
          <a:lstStyle/>
          <a:p>
            <a:pPr>
              <a:buFont typeface="Courier New" panose="02070309020205020404" pitchFamily="49" charset="0"/>
              <a:buChar char="o"/>
            </a:pPr>
            <a:r>
              <a:rPr lang="he-IL" dirty="0"/>
              <a:t>תפריט – בכל אחד מהדפים הוסיפי תפריט עם ניתובים ל: *הרשמה, *כניסה, *דף הבית.</a:t>
            </a:r>
          </a:p>
          <a:p>
            <a:pPr>
              <a:buFont typeface="Courier New" panose="02070309020205020404" pitchFamily="49" charset="0"/>
              <a:buChar char="o"/>
            </a:pPr>
            <a:r>
              <a:rPr lang="he-IL" b="1" u="sng" dirty="0"/>
              <a:t>דף הרשמה </a:t>
            </a:r>
            <a:r>
              <a:rPr lang="he-IL" dirty="0"/>
              <a:t>– טופס למילוי שם, מייל, וסיסמה. באישור יש לבדוק האם קיים משתמש עם מייל זה, אם לא הוסיפי את המשתמש, ועברי למסך הבית, אם כן – הציגי הודעה מתאימה.</a:t>
            </a:r>
          </a:p>
          <a:p>
            <a:pPr>
              <a:buFont typeface="Courier New" panose="02070309020205020404" pitchFamily="49" charset="0"/>
              <a:buChar char="o"/>
            </a:pPr>
            <a:r>
              <a:rPr lang="he-IL" b="1" u="sng" dirty="0"/>
              <a:t>דף כניסה </a:t>
            </a:r>
            <a:r>
              <a:rPr lang="he-IL" dirty="0"/>
              <a:t> - טופס למילוי מייל וסיסמה, באישור יש לבדוק האם קיים משתמש עם מייל זה, והסיסמה נכונה, אם כן להעבירו לדף הבית, אחרת הציגי הודעה מתאימה.</a:t>
            </a:r>
          </a:p>
          <a:p>
            <a:pPr>
              <a:buFont typeface="Courier New" panose="02070309020205020404" pitchFamily="49" charset="0"/>
              <a:buChar char="o"/>
            </a:pPr>
            <a:r>
              <a:rPr lang="he-IL" dirty="0"/>
              <a:t> </a:t>
            </a:r>
            <a:r>
              <a:rPr lang="he-IL" b="1" u="sng" dirty="0"/>
              <a:t>דף הבית </a:t>
            </a:r>
            <a:r>
              <a:rPr lang="he-IL" dirty="0"/>
              <a:t>–  בראש הדף (בתפריט) הציגי את שם המשתמש.</a:t>
            </a:r>
          </a:p>
          <a:p>
            <a:pPr marL="0" indent="0">
              <a:buNone/>
            </a:pPr>
            <a:r>
              <a:rPr lang="he-IL" dirty="0"/>
              <a:t>	</a:t>
            </a:r>
            <a:r>
              <a:rPr lang="he-IL" sz="1600" dirty="0"/>
              <a:t>הציגי כפתורים עבור כל המשחקים שעשית עד כה (אפשר להעתיק קודים שעשינו בכיתה ולנתב גם אליהם).</a:t>
            </a:r>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1003799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המן תלוי על עץ</a:t>
            </a:r>
          </a:p>
        </p:txBody>
      </p:sp>
      <p:sp>
        <p:nvSpPr>
          <p:cNvPr id="3" name="מציין מיקום תוכן 2"/>
          <p:cNvSpPr>
            <a:spLocks noGrp="1"/>
          </p:cNvSpPr>
          <p:nvPr>
            <p:ph idx="1"/>
          </p:nvPr>
        </p:nvSpPr>
        <p:spPr>
          <a:xfrm>
            <a:off x="1097280" y="1845734"/>
            <a:ext cx="10058400" cy="4342630"/>
          </a:xfrm>
        </p:spPr>
        <p:txBody>
          <a:bodyPr>
            <a:normAutofit fontScale="92500" lnSpcReduction="10000"/>
          </a:bodyPr>
          <a:lstStyle/>
          <a:p>
            <a:pPr>
              <a:buFont typeface="Courier New" panose="02070309020205020404" pitchFamily="49" charset="0"/>
              <a:buChar char="o"/>
            </a:pPr>
            <a:r>
              <a:rPr lang="he-IL" dirty="0"/>
              <a:t> באתר המשחקים שעשית שיעור קודם הוסיפי ניתוב למשחק זה.</a:t>
            </a:r>
          </a:p>
          <a:p>
            <a:pPr>
              <a:buFont typeface="Courier New" panose="02070309020205020404" pitchFamily="49" charset="0"/>
              <a:buChar char="o"/>
            </a:pPr>
            <a:r>
              <a:rPr lang="he-IL" dirty="0"/>
              <a:t>כיצד יתנהל המשחק?</a:t>
            </a:r>
          </a:p>
          <a:p>
            <a:pPr lvl="1">
              <a:buFont typeface="Wingdings" panose="05000000000000000000" pitchFamily="2" charset="2"/>
              <a:buChar char="v"/>
            </a:pPr>
            <a:r>
              <a:rPr lang="he-IL" dirty="0"/>
              <a:t>הגדירי רשימה עם משפטים.</a:t>
            </a:r>
          </a:p>
          <a:p>
            <a:pPr lvl="1">
              <a:buFont typeface="Wingdings" panose="05000000000000000000" pitchFamily="2" charset="2"/>
              <a:buChar char="v"/>
            </a:pPr>
            <a:r>
              <a:rPr lang="he-IL" dirty="0"/>
              <a:t>המחשב יגריל משפט, על המסך יוצגו מקומות למילוי אותיות המשפט בהתאמה, (</a:t>
            </a:r>
            <a:r>
              <a:rPr lang="he-IL" dirty="0" err="1"/>
              <a:t>דיב</a:t>
            </a:r>
            <a:r>
              <a:rPr lang="he-IL" dirty="0"/>
              <a:t> עם מסגרת / </a:t>
            </a:r>
            <a:r>
              <a:rPr lang="he-IL" dirty="0" err="1"/>
              <a:t>דיב</a:t>
            </a:r>
            <a:r>
              <a:rPr lang="he-IL" dirty="0"/>
              <a:t> רק עם מסגרת למטה/ פסקה שכתוב בה קו תחתי ועוד) עבור כל אות תגית נפרדת.</a:t>
            </a:r>
          </a:p>
          <a:p>
            <a:pPr lvl="1">
              <a:buFont typeface="Wingdings" panose="05000000000000000000" pitchFamily="2" charset="2"/>
              <a:buChar char="v"/>
            </a:pPr>
            <a:r>
              <a:rPr lang="he-IL" dirty="0"/>
              <a:t>הכיני מקלדת בשפה הרצויה – כפתורים עם אותיות על המסך. </a:t>
            </a:r>
          </a:p>
          <a:p>
            <a:pPr lvl="1">
              <a:buFont typeface="Wingdings" panose="05000000000000000000" pitchFamily="2" charset="2"/>
              <a:buChar char="v"/>
            </a:pPr>
            <a:r>
              <a:rPr lang="he-IL" dirty="0"/>
              <a:t>בנוסף הכיני משטח המתגלה כאשר יש טעות: הכיני על המסך תמונה מוסתרת בכמה </a:t>
            </a:r>
            <a:r>
              <a:rPr lang="he-IL" dirty="0" err="1"/>
              <a:t>דיבים</a:t>
            </a:r>
            <a:r>
              <a:rPr lang="he-IL" dirty="0"/>
              <a:t>. (</a:t>
            </a:r>
            <a:r>
              <a:rPr lang="he-IL" dirty="0" err="1"/>
              <a:t>דיב</a:t>
            </a:r>
            <a:r>
              <a:rPr lang="he-IL" dirty="0"/>
              <a:t> עם תמונת רקע ובתוכו </a:t>
            </a:r>
            <a:r>
              <a:rPr lang="he-IL" dirty="0" err="1"/>
              <a:t>דיבים</a:t>
            </a:r>
            <a:r>
              <a:rPr lang="he-IL" dirty="0"/>
              <a:t> נוספים) או שטח לתמונה, ומערך תמונות רציפות שיתחלפו.</a:t>
            </a:r>
          </a:p>
          <a:p>
            <a:pPr lvl="1">
              <a:buFont typeface="Wingdings" panose="05000000000000000000" pitchFamily="2" charset="2"/>
              <a:buChar char="v"/>
            </a:pPr>
            <a:r>
              <a:rPr lang="he-IL" dirty="0"/>
              <a:t>  מהלך המשחק: השחקן יקיש תו במקלדת הפיזית או על זו שבמסך, בהתאם </a:t>
            </a:r>
            <a:r>
              <a:rPr lang="he-IL" dirty="0" err="1"/>
              <a:t>לארוע</a:t>
            </a:r>
            <a:r>
              <a:rPr lang="he-IL" dirty="0"/>
              <a:t> בדקי על מה הקיש, יש לבדוק האם האות נמצאת במשפט, אם כן להציג אותה בכל המקומות הנכונים במשפט, אם לא להתחיל להציג את התמונה. (אם התמונה מוסתרת עי </a:t>
            </a:r>
            <a:r>
              <a:rPr lang="he-IL" dirty="0" err="1"/>
              <a:t>דיבים</a:t>
            </a:r>
            <a:r>
              <a:rPr lang="he-IL" dirty="0"/>
              <a:t> – מחקי/ הסתירי </a:t>
            </a:r>
            <a:r>
              <a:rPr lang="he-IL" dirty="0" err="1"/>
              <a:t>דיב</a:t>
            </a:r>
            <a:r>
              <a:rPr lang="he-IL" dirty="0"/>
              <a:t>, אם יש רצף תמונות עברי לתמונה הבאה ברצף).</a:t>
            </a:r>
          </a:p>
          <a:p>
            <a:pPr lvl="1">
              <a:buFont typeface="Wingdings" panose="05000000000000000000" pitchFamily="2" charset="2"/>
              <a:buChar char="v"/>
            </a:pPr>
            <a:r>
              <a:rPr lang="he-IL" dirty="0"/>
              <a:t>בכל הקשה (בין במקלדת ובין על המסך) יש לדאוג שאות זו כבר </a:t>
            </a:r>
            <a:r>
              <a:rPr lang="he-IL"/>
              <a:t>לא תהיה מאופשרת </a:t>
            </a:r>
            <a:r>
              <a:rPr lang="he-IL" dirty="0"/>
              <a:t>במסך.</a:t>
            </a:r>
          </a:p>
          <a:p>
            <a:pPr lvl="1">
              <a:buFont typeface="Wingdings" panose="05000000000000000000" pitchFamily="2" charset="2"/>
              <a:buChar char="v"/>
            </a:pPr>
            <a:r>
              <a:rPr lang="he-IL" dirty="0"/>
              <a:t>בהקשה על המקלדת הפיזית – בדקי שכפתור זה מאופשר במסך (כלומר עדיין לא הקישו על תו זה).</a:t>
            </a:r>
          </a:p>
          <a:p>
            <a:pPr lvl="1">
              <a:buFont typeface="Wingdings" panose="05000000000000000000" pitchFamily="2" charset="2"/>
              <a:buChar char="v"/>
            </a:pPr>
            <a:r>
              <a:rPr lang="he-IL" dirty="0"/>
              <a:t>בכל הקשה נכונה יש לבדוק האם השחקן כבר גילה את כל המשפט – ואם כן להציג הודעת ניצחון.</a:t>
            </a:r>
          </a:p>
          <a:p>
            <a:pPr lvl="1">
              <a:buFont typeface="Wingdings" panose="05000000000000000000" pitchFamily="2" charset="2"/>
              <a:buChar char="v"/>
            </a:pPr>
            <a:r>
              <a:rPr lang="he-IL" dirty="0"/>
              <a:t>בהקשה שגויה יש לבדוק האם הגיעו לסך השגיאות, אם כן להציג הודעת כישלון, ולהשלים את המשפט באותיות בצבע אחר.</a:t>
            </a:r>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3257345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פונקציות נוספות</a:t>
            </a:r>
          </a:p>
        </p:txBody>
      </p:sp>
      <p:sp>
        <p:nvSpPr>
          <p:cNvPr id="3" name="מציין מיקום תוכן 2"/>
          <p:cNvSpPr>
            <a:spLocks noGrp="1"/>
          </p:cNvSpPr>
          <p:nvPr>
            <p:ph idx="1"/>
          </p:nvPr>
        </p:nvSpPr>
        <p:spPr/>
        <p:txBody>
          <a:bodyPr/>
          <a:lstStyle/>
          <a:p>
            <a:pPr marL="0" lvl="0" indent="0">
              <a:buNone/>
            </a:pPr>
            <a:r>
              <a:rPr lang="he-IL" dirty="0"/>
              <a:t> </a:t>
            </a:r>
            <a:r>
              <a:rPr lang="en-US" dirty="0"/>
              <a:t>- </a:t>
            </a:r>
            <a:r>
              <a:rPr lang="en-US" dirty="0" err="1"/>
              <a:t>div.removeChild</a:t>
            </a:r>
            <a:r>
              <a:rPr lang="en-US" dirty="0"/>
              <a:t>  * </a:t>
            </a:r>
            <a:r>
              <a:rPr lang="he-IL" dirty="0"/>
              <a:t>מחיקת אלמנט צאצא.</a:t>
            </a:r>
            <a:endParaRPr lang="en-US" dirty="0"/>
          </a:p>
          <a:p>
            <a:pPr lvl="0"/>
            <a:r>
              <a:rPr lang="he-IL" dirty="0"/>
              <a:t>*  </a:t>
            </a:r>
            <a:r>
              <a:rPr lang="en-US" dirty="0"/>
              <a:t>- </a:t>
            </a:r>
            <a:r>
              <a:rPr lang="en-US" dirty="0" err="1"/>
              <a:t>div.insertBefor</a:t>
            </a:r>
            <a:r>
              <a:rPr lang="he-IL" dirty="0"/>
              <a:t> הוספת אלמנט לפני האלמנט הנוכחי.</a:t>
            </a:r>
            <a:endParaRPr lang="en-US" dirty="0"/>
          </a:p>
          <a:p>
            <a:pPr lvl="0"/>
            <a:r>
              <a:rPr lang="en-US" dirty="0"/>
              <a:t> - </a:t>
            </a:r>
            <a:r>
              <a:rPr lang="en-US" dirty="0" err="1"/>
              <a:t>div.cloneChild</a:t>
            </a:r>
            <a:r>
              <a:rPr lang="en-US" dirty="0"/>
              <a:t> * </a:t>
            </a:r>
            <a:r>
              <a:rPr lang="he-IL" dirty="0"/>
              <a:t>העתקת אלמנט.</a:t>
            </a:r>
            <a:endParaRPr lang="en-US" dirty="0"/>
          </a:p>
          <a:p>
            <a:pPr lvl="0"/>
            <a:r>
              <a:rPr lang="he-IL" dirty="0"/>
              <a:t>* </a:t>
            </a:r>
            <a:r>
              <a:rPr lang="en-US" dirty="0" err="1"/>
              <a:t>removeAttribute</a:t>
            </a:r>
            <a:r>
              <a:rPr lang="en-US" dirty="0"/>
              <a:t>  </a:t>
            </a:r>
            <a:r>
              <a:rPr lang="he-IL" dirty="0"/>
              <a:t> - הסרת ערך של תכונה.</a:t>
            </a:r>
            <a:endParaRPr lang="en-US" dirty="0"/>
          </a:p>
        </p:txBody>
      </p:sp>
      <p:sp>
        <p:nvSpPr>
          <p:cNvPr id="5" name="מציין מיקום של כותרת תחתונה 4"/>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913328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תוספות</a:t>
            </a:r>
          </a:p>
        </p:txBody>
      </p:sp>
      <p:sp>
        <p:nvSpPr>
          <p:cNvPr id="3" name="מציין מיקום תוכן 2"/>
          <p:cNvSpPr>
            <a:spLocks noGrp="1"/>
          </p:cNvSpPr>
          <p:nvPr>
            <p:ph idx="1"/>
          </p:nvPr>
        </p:nvSpPr>
        <p:spPr/>
        <p:txBody>
          <a:bodyPr/>
          <a:lstStyle/>
          <a:p>
            <a:r>
              <a:rPr lang="he-IL" dirty="0"/>
              <a:t>* הכתבה של צבעים – תחילת </a:t>
            </a:r>
            <a:r>
              <a:rPr lang="en-US" dirty="0"/>
              <a:t>event</a:t>
            </a:r>
            <a:r>
              <a:rPr lang="he-IL" dirty="0"/>
              <a:t> עם </a:t>
            </a:r>
            <a:r>
              <a:rPr lang="en-US" dirty="0"/>
              <a:t>data</a:t>
            </a:r>
          </a:p>
          <a:p>
            <a:r>
              <a:rPr lang="he-IL" dirty="0"/>
              <a:t>* מכניסים אובייקטים בסוף המשחק זיכרון, שב תמונות עם קטגוריות – מוגרלת קטגוריה, יש ללחוץ על תמונה מתאימה</a:t>
            </a:r>
          </a:p>
          <a:p>
            <a:r>
              <a:rPr lang="he-IL" dirty="0"/>
              <a:t>* דאבל / בינגו / משחק התמונות (יש לשלב בו תזמון פונקציות)</a:t>
            </a:r>
          </a:p>
          <a:p>
            <a:r>
              <a:rPr lang="he-IL" dirty="0"/>
              <a:t>* הרחבה על אובייקטים</a:t>
            </a:r>
          </a:p>
          <a:p>
            <a:r>
              <a:rPr lang="he-IL" dirty="0"/>
              <a:t>* שגיאות</a:t>
            </a:r>
          </a:p>
          <a:p>
            <a:endParaRPr lang="he-IL" dirty="0"/>
          </a:p>
        </p:txBody>
      </p:sp>
      <p:sp>
        <p:nvSpPr>
          <p:cNvPr id="4" name="מציין מיקום של כותרת תחתונה 3"/>
          <p:cNvSpPr>
            <a:spLocks noGrp="1"/>
          </p:cNvSpPr>
          <p:nvPr>
            <p:ph type="ftr" sz="quarter" idx="11"/>
          </p:nvPr>
        </p:nvSpPr>
        <p:spPr/>
        <p:txBody>
          <a:bodyPr/>
          <a:lstStyle/>
          <a:p>
            <a:r>
              <a:rPr lang="en-US"/>
              <a:t>©n.c. 0527129330</a:t>
            </a:r>
            <a:endParaRPr lang="en-US" dirty="0"/>
          </a:p>
        </p:txBody>
      </p:sp>
    </p:spTree>
    <p:extLst>
      <p:ext uri="{BB962C8B-B14F-4D97-AF65-F5344CB8AC3E}">
        <p14:creationId xmlns:p14="http://schemas.microsoft.com/office/powerpoint/2010/main" val="950762127"/>
      </p:ext>
    </p:extLst>
  </p:cSld>
  <p:clrMapOvr>
    <a:masterClrMapping/>
  </p:clrMapOvr>
</p:sld>
</file>

<file path=ppt/theme/theme1.xml><?xml version="1.0" encoding="utf-8"?>
<a:theme xmlns:a="http://schemas.openxmlformats.org/drawingml/2006/main" name="מבט לאחור">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3051</TotalTime>
  <Words>2398</Words>
  <Application>Microsoft Office PowerPoint</Application>
  <PresentationFormat>מסך רחב</PresentationFormat>
  <Paragraphs>191</Paragraphs>
  <Slides>21</Slides>
  <Notes>0</Notes>
  <HiddenSlides>0</HiddenSlides>
  <MMClips>0</MMClips>
  <ScaleCrop>false</ScaleCrop>
  <HeadingPairs>
    <vt:vector size="6" baseType="variant">
      <vt:variant>
        <vt:lpstr>גופנים בשימוש</vt:lpstr>
      </vt:variant>
      <vt:variant>
        <vt:i4>6</vt:i4>
      </vt:variant>
      <vt:variant>
        <vt:lpstr>ערכת נושא</vt:lpstr>
      </vt:variant>
      <vt:variant>
        <vt:i4>1</vt:i4>
      </vt:variant>
      <vt:variant>
        <vt:lpstr>כותרות שקופיות</vt:lpstr>
      </vt:variant>
      <vt:variant>
        <vt:i4>21</vt:i4>
      </vt:variant>
    </vt:vector>
  </HeadingPairs>
  <TitlesOfParts>
    <vt:vector size="28" baseType="lpstr">
      <vt:lpstr>Arial</vt:lpstr>
      <vt:lpstr>Calibri</vt:lpstr>
      <vt:lpstr>Calibri Light</vt:lpstr>
      <vt:lpstr>Courier New</vt:lpstr>
      <vt:lpstr>Times New Roman</vt:lpstr>
      <vt:lpstr>Wingdings</vt:lpstr>
      <vt:lpstr>מבט לאחור</vt:lpstr>
      <vt:lpstr>JAVA SCRIPT</vt:lpstr>
      <vt:lpstr>DOM</vt:lpstr>
      <vt:lpstr>DOM</vt:lpstr>
      <vt:lpstr>Document</vt:lpstr>
      <vt:lpstr>Document</vt:lpstr>
      <vt:lpstr>Element</vt:lpstr>
      <vt:lpstr>תרגילי כיתה</vt:lpstr>
      <vt:lpstr>ש"ב – תרגיל משימות</vt:lpstr>
      <vt:lpstr>Document</vt:lpstr>
      <vt:lpstr>Document</vt:lpstr>
      <vt:lpstr>ש"ב – תגיות דינאמיות</vt:lpstr>
      <vt:lpstr>Document</vt:lpstr>
      <vt:lpstr>משחק – זהה את התמונה</vt:lpstr>
      <vt:lpstr>ארועים</vt:lpstr>
      <vt:lpstr>טפסים</vt:lpstr>
      <vt:lpstr>טפסים - המשך</vt:lpstr>
      <vt:lpstr>טפסים –ש"ב</vt:lpstr>
      <vt:lpstr>אתר המשחקים</vt:lpstr>
      <vt:lpstr>המן תלוי על עץ</vt:lpstr>
      <vt:lpstr>פונקציות נוספות</vt:lpstr>
      <vt:lpstr>תוספות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SCRIPT</dc:title>
  <dc:creator>‏‏משתמש Windows</dc:creator>
  <cp:lastModifiedBy>Nechami Cohen</cp:lastModifiedBy>
  <cp:revision>77</cp:revision>
  <cp:lastPrinted>2025-05-07T10:46:17Z</cp:lastPrinted>
  <dcterms:created xsi:type="dcterms:W3CDTF">2022-02-15T07:30:19Z</dcterms:created>
  <dcterms:modified xsi:type="dcterms:W3CDTF">2025-05-07T11:01:42Z</dcterms:modified>
</cp:coreProperties>
</file>